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iu1USoUFT4XXCCu5DFhbFe8QFn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642641-C170-4FCA-AD3C-C170F8097469}">
  <a:tblStyle styleId="{63642641-C170-4FCA-AD3C-C170F8097469}" styleName="Table_0">
    <a:wholeTbl>
      <a:tcTxStyle b="off" i="off">
        <a:font>
          <a:latin typeface="Sagona Book"/>
          <a:ea typeface="Sagona Book"/>
          <a:cs typeface="Sagona Book"/>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EF2F7"/>
          </a:solidFill>
        </a:fill>
      </a:tcStyle>
    </a:wholeTbl>
    <a:band1H>
      <a:tcTxStyle/>
      <a:tcStyle>
        <a:fill>
          <a:solidFill>
            <a:srgbClr val="DCE5EE"/>
          </a:solidFill>
        </a:fill>
      </a:tcStyle>
    </a:band1H>
    <a:band2H>
      <a:tcTxStyle/>
    </a:band2H>
    <a:band1V>
      <a:tcTxStyle/>
      <a:tcStyle>
        <a:fill>
          <a:solidFill>
            <a:srgbClr val="DCE5EE"/>
          </a:solidFill>
        </a:fill>
      </a:tcStyle>
    </a:band1V>
    <a:band2V>
      <a:tcTxStyle/>
    </a:band2V>
    <a:lastCol>
      <a:tcTxStyle b="on" i="off">
        <a:font>
          <a:latin typeface="Sagona Book"/>
          <a:ea typeface="Sagona Book"/>
          <a:cs typeface="Sagona Book"/>
        </a:font>
        <a:schemeClr val="lt1"/>
      </a:tcTxStyle>
      <a:tcStyle>
        <a:fill>
          <a:solidFill>
            <a:schemeClr val="accent1"/>
          </a:solidFill>
        </a:fill>
      </a:tcStyle>
    </a:lastCol>
    <a:firstCol>
      <a:tcTxStyle b="on" i="off">
        <a:font>
          <a:latin typeface="Sagona Book"/>
          <a:ea typeface="Sagona Book"/>
          <a:cs typeface="Sagona Book"/>
        </a:font>
        <a:schemeClr val="lt1"/>
      </a:tcTxStyle>
      <a:tcStyle>
        <a:fill>
          <a:solidFill>
            <a:schemeClr val="accent1"/>
          </a:solidFill>
        </a:fill>
      </a:tcStyle>
    </a:firstCol>
    <a:lastRow>
      <a:tcTxStyle b="on" i="off">
        <a:font>
          <a:latin typeface="Sagona Book"/>
          <a:ea typeface="Sagona Book"/>
          <a:cs typeface="Sagona Book"/>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Sagona Book"/>
          <a:ea typeface="Sagona Book"/>
          <a:cs typeface="Sagona Book"/>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a-I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a:t>
            </a:r>
            <a:r>
              <a:rPr b="1" lang="fa-IR"/>
              <a:t>Future Readiness</a:t>
            </a:r>
            <a:r>
              <a:rPr lang="fa-IR"/>
              <a:t> یا آمادگی برای آینده، به معنای داشتن توانایی برای پیش‌بینی تغییرات، درک آن‌ها و برنامه‌ریزی برای واکنش به این تغییرات است.</a:t>
            </a:r>
            <a:br>
              <a:rPr lang="fa-IR"/>
            </a:br>
            <a:r>
              <a:rPr lang="fa-IR"/>
              <a:t>این مفهوم شامل مدیریت عدم‌قطعیت‌ها است؛ به این معنی که ما بتوانیم ریسک‌ها را شناسایی کرده و به فرصت‌های موجود در دل این ریسک‌ها دست پیدا کنیم.</a:t>
            </a:r>
            <a:br>
              <a:rPr lang="fa-IR"/>
            </a:br>
            <a:r>
              <a:rPr lang="fa-IR"/>
              <a:t>برای مثال، تصور کنید دنیای امروز با تغییرات تکنولوژیکی بسیار سریع مواجه است، از هوش مصنوعی گرفته تا تحولات اقلیمی. سازمان‌ها و افرادی که آماده آینده باشند، این تغییرات را نه به‌عنوان تهدید بلکه به‌عنوان فرصت می‌بینند.</a:t>
            </a:r>
            <a:endParaRPr/>
          </a:p>
          <a:p>
            <a:pPr indent="0" lvl="0" marL="0" rtl="1" algn="r">
              <a:spcBef>
                <a:spcPts val="0"/>
              </a:spcBef>
              <a:spcAft>
                <a:spcPts val="0"/>
              </a:spcAft>
              <a:buNone/>
            </a:pPr>
            <a:r>
              <a:rPr lang="fa-IR"/>
              <a:t>به علاوه، آمادگی برای آینده می‌تواند به ایجاد </a:t>
            </a:r>
            <a:r>
              <a:rPr b="1" lang="fa-IR"/>
              <a:t>مزیت رقابتی</a:t>
            </a:r>
            <a:r>
              <a:rPr lang="fa-IR"/>
              <a:t> کمک کند.</a:t>
            </a:r>
            <a:br>
              <a:rPr lang="fa-IR"/>
            </a:br>
            <a:r>
              <a:rPr lang="fa-IR"/>
              <a:t>شرکت‌هایی مانند </a:t>
            </a:r>
            <a:r>
              <a:rPr b="1" lang="fa-IR">
                <a:latin typeface="Arial"/>
                <a:ea typeface="Arial"/>
                <a:cs typeface="Arial"/>
                <a:sym typeface="Arial"/>
              </a:rPr>
              <a:t>تسلا</a:t>
            </a:r>
            <a:r>
              <a:rPr lang="fa-IR"/>
              <a:t> یا </a:t>
            </a:r>
            <a:r>
              <a:rPr b="1" lang="fa-IR">
                <a:latin typeface="Arial"/>
                <a:ea typeface="Arial"/>
                <a:cs typeface="Arial"/>
                <a:sym typeface="Arial"/>
              </a:rPr>
              <a:t>آمازون</a:t>
            </a:r>
            <a:r>
              <a:rPr lang="fa-IR"/>
              <a:t> به‌خوبی نشان داده‌اند که چگونه پیش‌بینی روندهای بلندمدت، مانند تقاضای بالا برای خودروهای الکتریکی یا تجارت الکترونیک، می‌تواند به آن‌ها کمک کند تا نه‌تنها در بازار باقی بمانند، بلکه پیشرو شوند.</a:t>
            </a:r>
            <a:endParaRPr/>
          </a:p>
          <a:p>
            <a:pPr indent="0" lvl="0" marL="0" rtl="1" algn="r">
              <a:spcBef>
                <a:spcPts val="0"/>
              </a:spcBef>
              <a:spcAft>
                <a:spcPts val="0"/>
              </a:spcAft>
              <a:buNone/>
            </a:pPr>
            <a:r>
              <a:rPr lang="fa-IR"/>
              <a:t>در نهایت، آمادگی برای آینده تنها به معنای داشتن یک استراتژی نیست؛ بلکه به انعطاف‌پذیری و چابکی در تصمیم‌گیری نیز نیاز دارد.</a:t>
            </a:r>
            <a:br>
              <a:rPr lang="fa-IR"/>
            </a:br>
            <a:r>
              <a:rPr lang="fa-IR"/>
              <a:t>به نظر شما، آیا سازمان یا حتی خود شما برای تغییرات آینده آماده هستید؟ اگر بخواهید در زندگی یا کار خود تغییری ایجاد کنید که شما را برای آینده آماده کند، اولین قدم چیست؟"</a:t>
            </a:r>
            <a:endParaRPr/>
          </a:p>
        </p:txBody>
      </p:sp>
      <p:sp>
        <p:nvSpPr>
          <p:cNvPr id="129" name="Google Shape;1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"Future Readiness یا آمادگی برای آینده بر اساس چند عنصر کلیدی شکل می‌گیرد:</a:t>
            </a:r>
            <a:endParaRPr/>
          </a:p>
          <a:p>
            <a:pPr indent="-76200" lvl="0" marL="0" rtl="1" algn="r">
              <a:spcBef>
                <a:spcPts val="0"/>
              </a:spcBef>
              <a:spcAft>
                <a:spcPts val="0"/>
              </a:spcAft>
              <a:buClr>
                <a:schemeClr val="dk1"/>
              </a:buClr>
              <a:buSzPts val="1200"/>
              <a:buFont typeface="Calibri"/>
              <a:buAutoNum type="arabicPeriod"/>
            </a:pPr>
            <a:r>
              <a:rPr b="1" lang="fa-IR"/>
              <a:t>پیش‌بینی و تحلیل روندهای آینده:</a:t>
            </a:r>
            <a:br>
              <a:rPr lang="fa-IR"/>
            </a:br>
            <a:r>
              <a:rPr lang="fa-IR"/>
              <a:t>سازمان‌ها و افراد باید توانایی تحلیل روندهای کلیدی را داشته باشند. برای مثال، تغییرات جمعیتی یا فناوری‌های نوظهور می‌توانند بر صنایع تأثیر بگذارند.</a:t>
            </a:r>
            <a:endParaRPr/>
          </a:p>
          <a:p>
            <a:pPr indent="-76200" lvl="0" marL="0" rtl="1" algn="r">
              <a:spcBef>
                <a:spcPts val="0"/>
              </a:spcBef>
              <a:spcAft>
                <a:spcPts val="0"/>
              </a:spcAft>
              <a:buClr>
                <a:schemeClr val="dk1"/>
              </a:buClr>
              <a:buSzPts val="1200"/>
              <a:buFont typeface="Calibri"/>
              <a:buAutoNum type="arabicPeriod"/>
            </a:pPr>
            <a:r>
              <a:rPr b="1" lang="fa-IR"/>
              <a:t>انطباق سریع با تغییرات محیطی:</a:t>
            </a:r>
            <a:br>
              <a:rPr lang="fa-IR"/>
            </a:br>
            <a:r>
              <a:rPr lang="fa-IR"/>
              <a:t>چابکی سازمانی به معنای توانایی تصمیم‌گیری سریع و تغییر مسیر در زمان نیاز است.</a:t>
            </a:r>
            <a:br>
              <a:rPr lang="fa-IR"/>
            </a:br>
            <a:r>
              <a:rPr lang="fa-IR"/>
              <a:t>مثال: شرکت‌های فناوری که در دوران همه‌گیری زیرساخت‌های کار از راه دور را توسعه دادند.</a:t>
            </a:r>
            <a:endParaRPr/>
          </a:p>
          <a:p>
            <a:pPr indent="-76200" lvl="0" marL="0" rtl="1" algn="r">
              <a:spcBef>
                <a:spcPts val="0"/>
              </a:spcBef>
              <a:spcAft>
                <a:spcPts val="0"/>
              </a:spcAft>
              <a:buClr>
                <a:schemeClr val="dk1"/>
              </a:buClr>
              <a:buSzPts val="1200"/>
              <a:buFont typeface="Calibri"/>
              <a:buAutoNum type="arabicPeriod"/>
            </a:pPr>
            <a:r>
              <a:rPr b="1" lang="fa-IR"/>
              <a:t>توسعه خلاقیت و نوآوری:</a:t>
            </a:r>
            <a:br>
              <a:rPr lang="fa-IR"/>
            </a:br>
            <a:r>
              <a:rPr lang="fa-IR"/>
              <a:t>نوآوری به معنای ایجاد راه‌حل‌های جدید برای چالش‌های حال و آینده است. این می‌تواند شامل تغییرات کوچک در فرآیندها یا ارائه محصولات جدید باشد.</a:t>
            </a:r>
            <a:endParaRPr/>
          </a:p>
          <a:p>
            <a:pPr indent="-76200" lvl="0" marL="0" rtl="1" algn="r">
              <a:spcBef>
                <a:spcPts val="0"/>
              </a:spcBef>
              <a:spcAft>
                <a:spcPts val="0"/>
              </a:spcAft>
              <a:buClr>
                <a:schemeClr val="dk1"/>
              </a:buClr>
              <a:buSzPts val="1200"/>
              <a:buFont typeface="Calibri"/>
              <a:buAutoNum type="arabicPeriod"/>
            </a:pPr>
            <a:r>
              <a:rPr b="1" lang="fa-IR"/>
              <a:t>ایجاد فرهنگ یادگیری و بهبود مستمر:</a:t>
            </a:r>
            <a:br>
              <a:rPr lang="fa-IR"/>
            </a:br>
            <a:r>
              <a:rPr lang="fa-IR"/>
              <a:t>آمادگی برای آینده نیازمند یادگیری مداوم است. تیم‌ها و سازمان‌ها باید به دنبال ارتقای مهارت‌ها و دانش باشند.</a:t>
            </a:r>
            <a:endParaRPr/>
          </a:p>
          <a:p>
            <a:pPr indent="-76200" lvl="0" marL="0" rtl="1" algn="r">
              <a:spcBef>
                <a:spcPts val="0"/>
              </a:spcBef>
              <a:spcAft>
                <a:spcPts val="0"/>
              </a:spcAft>
              <a:buClr>
                <a:schemeClr val="dk1"/>
              </a:buClr>
              <a:buSzPts val="1200"/>
              <a:buFont typeface="Calibri"/>
              <a:buAutoNum type="arabicPeriod"/>
            </a:pPr>
            <a:r>
              <a:rPr b="1" lang="fa-IR"/>
              <a:t>استفاده هوشمندانه از فناوری:</a:t>
            </a:r>
            <a:br>
              <a:rPr lang="fa-IR"/>
            </a:br>
            <a:r>
              <a:rPr lang="fa-IR"/>
              <a:t>فناوری‌هایی مانند هوش مصنوعی و بلاکچین، ابزارهایی قدرتمند برای پیش‌بینی، برنامه‌ریزی و اجرای استراتژی‌ها هستند.</a:t>
            </a:r>
            <a:endParaRPr/>
          </a:p>
          <a:p>
            <a:pPr indent="0" lvl="0" marL="0" rtl="1" algn="r">
              <a:spcBef>
                <a:spcPts val="0"/>
              </a:spcBef>
              <a:spcAft>
                <a:spcPts val="0"/>
              </a:spcAft>
              <a:buNone/>
            </a:pPr>
            <a:r>
              <a:rPr lang="fa-IR"/>
              <a:t>این اجزا به ما کمک می‌کنند که نه تنها تغییرات را مدیریت کنیم، بلکه از آن‌ها برای رشد و پیشرفت استفاده کنیم.</a:t>
            </a:r>
            <a:br>
              <a:rPr lang="fa-IR"/>
            </a:br>
            <a:r>
              <a:rPr lang="fa-IR"/>
              <a:t>به نظر شما، کدام یک از این موارد در سازمان‌ها یا تیم‌ها بیشترین تأثیر را دارد؟"</a:t>
            </a:r>
            <a:endParaRPr/>
          </a:p>
        </p:txBody>
      </p:sp>
      <p:sp>
        <p:nvSpPr>
          <p:cNvPr id="137" name="Google Shape;1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"آینده‌نگری و چابکی دو جزء حیاتی آمادگی برای آینده هستند:</a:t>
            </a:r>
            <a:endParaRPr/>
          </a:p>
          <a:p>
            <a:pPr indent="-76200" lvl="0" marL="0" rtl="1" algn="r">
              <a:spcBef>
                <a:spcPts val="0"/>
              </a:spcBef>
              <a:spcAft>
                <a:spcPts val="0"/>
              </a:spcAft>
              <a:buClr>
                <a:schemeClr val="dk1"/>
              </a:buClr>
              <a:buSzPts val="1200"/>
              <a:buFont typeface="Calibri"/>
              <a:buAutoNum type="arabicPeriod"/>
            </a:pPr>
            <a:r>
              <a:rPr b="1" lang="fa-IR"/>
              <a:t>آینده‌نگری:</a:t>
            </a:r>
            <a:br>
              <a:rPr lang="fa-IR"/>
            </a:br>
            <a:r>
              <a:rPr lang="fa-IR"/>
              <a:t>آینده‌نگری به معنای پیش‌بینی روندها و تحلیل سناریوهای مختلف است. این مهارت به ما کمک می‌کند که آینده را بهتر درک کنیم و برای آن برنامه‌ریزی کنیم.</a:t>
            </a:r>
            <a:br>
              <a:rPr lang="fa-IR"/>
            </a:br>
            <a:r>
              <a:rPr lang="fa-IR"/>
              <a:t>مثلاً شرکت‌هایی که قبل از همه‌گیری به فناوری کار از راه دور روی آوردند، توانستند سریع‌تر به شرایط جدید پاسخ دهند.</a:t>
            </a:r>
            <a:endParaRPr/>
          </a:p>
          <a:p>
            <a:pPr indent="-76200" lvl="0" marL="0" rtl="1" algn="r">
              <a:spcBef>
                <a:spcPts val="0"/>
              </a:spcBef>
              <a:spcAft>
                <a:spcPts val="0"/>
              </a:spcAft>
              <a:buClr>
                <a:schemeClr val="dk1"/>
              </a:buClr>
              <a:buSzPts val="1200"/>
              <a:buFont typeface="Calibri"/>
              <a:buAutoNum type="arabicPeriod"/>
            </a:pPr>
            <a:r>
              <a:rPr b="1" lang="fa-IR"/>
              <a:t>چابکی:</a:t>
            </a:r>
            <a:br>
              <a:rPr lang="fa-IR"/>
            </a:br>
            <a:r>
              <a:rPr lang="fa-IR"/>
              <a:t>چابکی به معنای توانایی تصمیم‌گیری سریع و تغییر مسیر در پاسخ به شرایط غیرمنتظره است. این مهارت نه‌تنها در سازمان‌ها بلکه در زندگی شخصی نیز اهمیت دارد.</a:t>
            </a:r>
            <a:br>
              <a:rPr lang="fa-IR"/>
            </a:br>
            <a:r>
              <a:rPr lang="fa-IR"/>
              <a:t>یک مثال عالی از چابکی، واکنش Zoom در دوران کرونا است. این شرکت توانست به سرعت زیرساخت‌های خود را گسترش دهد تا به تقاضای بالای کاربران پاسخ دهد.</a:t>
            </a:r>
            <a:endParaRPr/>
          </a:p>
          <a:p>
            <a:pPr indent="0" lvl="0" marL="0" rtl="1" algn="r">
              <a:spcBef>
                <a:spcPts val="0"/>
              </a:spcBef>
              <a:spcAft>
                <a:spcPts val="0"/>
              </a:spcAft>
              <a:buNone/>
            </a:pPr>
            <a:r>
              <a:rPr b="1" lang="fa-IR"/>
              <a:t>این دو مهارت، در کنار هم، به ما کمک می‌کنند نه‌تنها در تغییرات بقا داشته باشیم، بلکه پیشرفت کنیم.</a:t>
            </a:r>
            <a:br>
              <a:rPr b="1" lang="fa-IR"/>
            </a:br>
            <a:r>
              <a:rPr b="1" lang="fa-IR"/>
              <a:t>سوال:</a:t>
            </a:r>
            <a:r>
              <a:rPr lang="fa-IR"/>
              <a:t> آیا شما سازمان یا فردی را می‌شناسید که توانسته باشد با چابکی، از یک بحران فرصت بسازد؟"</a:t>
            </a:r>
            <a:endParaRPr/>
          </a:p>
        </p:txBody>
      </p:sp>
      <p:sp>
        <p:nvSpPr>
          <p:cNvPr id="143" name="Google Shape;14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"پایداری یکی از مفاهیم کلیدی برای آمادگی برای آینده است که ابعاد مختلفی دارد:</a:t>
            </a:r>
            <a:endParaRPr/>
          </a:p>
          <a:p>
            <a:pPr indent="-76200" lvl="0" marL="0" rtl="1" algn="r">
              <a:spcBef>
                <a:spcPts val="0"/>
              </a:spcBef>
              <a:spcAft>
                <a:spcPts val="0"/>
              </a:spcAft>
              <a:buClr>
                <a:schemeClr val="dk1"/>
              </a:buClr>
              <a:buSzPts val="1200"/>
              <a:buFont typeface="Calibri"/>
              <a:buAutoNum type="arabicPeriod"/>
            </a:pPr>
            <a:r>
              <a:rPr b="1" lang="fa-IR"/>
              <a:t>تضمین بقا و رشد بلندمدت:</a:t>
            </a:r>
            <a:br>
              <a:rPr lang="fa-IR"/>
            </a:br>
            <a:r>
              <a:rPr lang="fa-IR"/>
              <a:t>سازمان‌هایی که رویکردهای پایدار اتخاذ می‌کنند، در بلندمدت انعطاف‌پذیری بیشتری دارند و می‌توانند با چالش‌های جهانی بهتر مقابله کنند.</a:t>
            </a:r>
            <a:endParaRPr/>
          </a:p>
          <a:p>
            <a:pPr indent="-76200" lvl="0" marL="0" rtl="1" algn="r">
              <a:spcBef>
                <a:spcPts val="0"/>
              </a:spcBef>
              <a:spcAft>
                <a:spcPts val="0"/>
              </a:spcAft>
              <a:buClr>
                <a:schemeClr val="dk1"/>
              </a:buClr>
              <a:buSzPts val="1200"/>
              <a:buFont typeface="Calibri"/>
              <a:buAutoNum type="arabicPeriod"/>
            </a:pPr>
            <a:r>
              <a:rPr b="1" lang="fa-IR"/>
              <a:t>کاهش ریسک‌های مرتبط با تغییرات اقلیمی و اجتماعی:</a:t>
            </a:r>
            <a:br>
              <a:rPr lang="fa-IR"/>
            </a:br>
            <a:r>
              <a:rPr lang="fa-IR"/>
              <a:t>خطرات ناشی از تغییرات اقلیمی و نابرابری‌های اجتماعی می‌تواند فعالیت سازمان‌ها را تهدید کند. رویکرد پایدار این ریسک‌ها را به حداقل می‌رساند.</a:t>
            </a:r>
            <a:endParaRPr/>
          </a:p>
          <a:p>
            <a:pPr indent="-76200" lvl="0" marL="0" rtl="1" algn="r">
              <a:spcBef>
                <a:spcPts val="0"/>
              </a:spcBef>
              <a:spcAft>
                <a:spcPts val="0"/>
              </a:spcAft>
              <a:buClr>
                <a:schemeClr val="dk1"/>
              </a:buClr>
              <a:buSzPts val="1200"/>
              <a:buFont typeface="Calibri"/>
              <a:buAutoNum type="arabicPeriod"/>
            </a:pPr>
            <a:r>
              <a:rPr b="1" lang="fa-IR"/>
              <a:t>همسویی استراتژی‌ها با اهداف زیست‌محیطی و اجتماعی (ESG):</a:t>
            </a:r>
            <a:br>
              <a:rPr lang="fa-IR"/>
            </a:br>
            <a:r>
              <a:rPr lang="fa-IR"/>
              <a:t>امروزه بسیاری از سرمایه‌گذاران و مشتریان به دنبال سازمان‌هایی هستند که به مسئولیت اجتماعی و زیست‌محیطی اهمیت می‌دهند.</a:t>
            </a:r>
            <a:endParaRPr/>
          </a:p>
          <a:p>
            <a:pPr indent="-76200" lvl="0" marL="0" rtl="1" algn="r">
              <a:spcBef>
                <a:spcPts val="0"/>
              </a:spcBef>
              <a:spcAft>
                <a:spcPts val="0"/>
              </a:spcAft>
              <a:buClr>
                <a:schemeClr val="dk1"/>
              </a:buClr>
              <a:buSzPts val="1200"/>
              <a:buFont typeface="Calibri"/>
              <a:buAutoNum type="arabicPeriod"/>
            </a:pPr>
            <a:r>
              <a:rPr b="1" lang="fa-IR"/>
              <a:t>ایجاد مزیت رقابتی پایدار در بازارهای جهانی:</a:t>
            </a:r>
            <a:br>
              <a:rPr lang="fa-IR"/>
            </a:br>
            <a:r>
              <a:rPr lang="fa-IR"/>
              <a:t>شرکت‌هایی مانند ایکه‌آ با تعهد به استفاده از مواد بازیافتی تا سال 2030، نشان داده‌اند که پایداری می‌تواند به جذب مشتریان وفادار و رقابت‌پذیری در بازار کمک کند.</a:t>
            </a:r>
            <a:endParaRPr/>
          </a:p>
          <a:p>
            <a:pPr indent="0" lvl="0" marL="0" rtl="1" algn="r">
              <a:spcBef>
                <a:spcPts val="0"/>
              </a:spcBef>
              <a:spcAft>
                <a:spcPts val="0"/>
              </a:spcAft>
              <a:buNone/>
            </a:pPr>
            <a:r>
              <a:rPr lang="fa-IR"/>
              <a:t>پایداری نه‌تنها یک مسئولیت اجتماعی است، بلکه یک استراتژی تجاری هوشمندانه برای آینده است.</a:t>
            </a:r>
            <a:br>
              <a:rPr lang="fa-IR"/>
            </a:br>
            <a:r>
              <a:rPr lang="fa-IR"/>
              <a:t>به نظر شما، آیا کسب‌وکارها می‌توانند بدون در نظر گرفتن این مفهوم در آینده موفق شوند؟"</a:t>
            </a:r>
            <a:endParaRPr/>
          </a:p>
        </p:txBody>
      </p:sp>
      <p:sp>
        <p:nvSpPr>
          <p:cNvPr id="151" name="Google Shape;15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"Future Readiness یا آمادگی برای آینده در حوزه‌های متعددی نقش حیاتی دارد:</a:t>
            </a:r>
            <a:endParaRPr/>
          </a:p>
          <a:p>
            <a:pPr indent="-76200" lvl="0" marL="0" rtl="1" algn="r">
              <a:spcBef>
                <a:spcPts val="0"/>
              </a:spcBef>
              <a:spcAft>
                <a:spcPts val="0"/>
              </a:spcAft>
              <a:buClr>
                <a:schemeClr val="dk1"/>
              </a:buClr>
              <a:buSzPts val="1200"/>
              <a:buFont typeface="Calibri"/>
              <a:buAutoNum type="arabicPeriod"/>
            </a:pPr>
            <a:r>
              <a:rPr b="1" lang="fa-IR"/>
              <a:t>آموزش:</a:t>
            </a:r>
            <a:br>
              <a:rPr lang="fa-IR"/>
            </a:br>
            <a:r>
              <a:rPr lang="fa-IR"/>
              <a:t>سیستم‌های آموزشی باید نسل آینده را برای پیچیدگی‌ها و تغییرات آماده کنند.</a:t>
            </a:r>
            <a:br>
              <a:rPr lang="fa-IR"/>
            </a:br>
            <a:r>
              <a:rPr b="1" lang="fa-IR"/>
              <a:t>مثال:</a:t>
            </a:r>
            <a:r>
              <a:rPr lang="fa-IR"/>
              <a:t> سیستم آموزشی فنلاند با تأکید بر یادگیری مبتنی بر پروژه و نوآوری، دانش‌آموزان را برای حل مسائل واقعی آماده می‌کند.</a:t>
            </a:r>
            <a:endParaRPr/>
          </a:p>
          <a:p>
            <a:pPr indent="-76200" lvl="0" marL="0" rtl="1" algn="r">
              <a:spcBef>
                <a:spcPts val="0"/>
              </a:spcBef>
              <a:spcAft>
                <a:spcPts val="0"/>
              </a:spcAft>
              <a:buClr>
                <a:schemeClr val="dk1"/>
              </a:buClr>
              <a:buSzPts val="1200"/>
              <a:buFont typeface="Calibri"/>
              <a:buAutoNum type="arabicPeriod"/>
            </a:pPr>
            <a:r>
              <a:rPr b="1" lang="fa-IR"/>
              <a:t>کسب‌وکار:</a:t>
            </a:r>
            <a:br>
              <a:rPr lang="fa-IR"/>
            </a:br>
            <a:r>
              <a:rPr lang="fa-IR"/>
              <a:t>Future Readiness به شرکت‌ها کمک می‌کند تا با تغییرات سریع بازار هماهنگ شوند و رقابت‌پذیری خود را حفظ کنند.</a:t>
            </a:r>
            <a:br>
              <a:rPr lang="fa-IR"/>
            </a:br>
            <a:r>
              <a:rPr b="1" lang="fa-IR"/>
              <a:t>مثال:</a:t>
            </a:r>
            <a:r>
              <a:rPr lang="fa-IR"/>
              <a:t> شرکت آمازون با سرمایه‌گذاری در فناوری‌های نوآورانه، جایگاه خود را در بازار جهانی تقویت کرده است.</a:t>
            </a:r>
            <a:endParaRPr/>
          </a:p>
          <a:p>
            <a:pPr indent="-76200" lvl="0" marL="0" rtl="1" algn="r">
              <a:spcBef>
                <a:spcPts val="0"/>
              </a:spcBef>
              <a:spcAft>
                <a:spcPts val="0"/>
              </a:spcAft>
              <a:buClr>
                <a:schemeClr val="dk1"/>
              </a:buClr>
              <a:buSzPts val="1200"/>
              <a:buFont typeface="Calibri"/>
              <a:buAutoNum type="arabicPeriod"/>
            </a:pPr>
            <a:r>
              <a:rPr b="1" lang="fa-IR"/>
              <a:t>سیاست‌گذاری:</a:t>
            </a:r>
            <a:br>
              <a:rPr lang="fa-IR"/>
            </a:br>
            <a:r>
              <a:rPr lang="fa-IR"/>
              <a:t>دولت‌ها می‌توانند با آینده‌نگری، سیاست‌هایی طراحی کنند که به چالش‌های بلندمدت مانند تغییرات اقلیمی یا سالمندی جمعیت پاسخ دهند.</a:t>
            </a:r>
            <a:br>
              <a:rPr lang="fa-IR"/>
            </a:br>
            <a:r>
              <a:rPr b="1" lang="fa-IR"/>
              <a:t>مثال:</a:t>
            </a:r>
            <a:r>
              <a:rPr lang="fa-IR"/>
              <a:t> سنگاپور با برنامه "ملت هوشمند"، از فناوری برای بهبود اقتصاد و کیفیت زندگی شهروندان استفاده می‌کند.</a:t>
            </a:r>
            <a:endParaRPr/>
          </a:p>
          <a:p>
            <a:pPr indent="-76200" lvl="0" marL="0" rtl="1" algn="r">
              <a:spcBef>
                <a:spcPts val="0"/>
              </a:spcBef>
              <a:spcAft>
                <a:spcPts val="0"/>
              </a:spcAft>
              <a:buClr>
                <a:schemeClr val="dk1"/>
              </a:buClr>
              <a:buSzPts val="1200"/>
              <a:buFont typeface="Calibri"/>
              <a:buAutoNum type="arabicPeriod"/>
            </a:pPr>
            <a:r>
              <a:rPr b="1" lang="fa-IR"/>
              <a:t>فناوری:</a:t>
            </a:r>
            <a:br>
              <a:rPr lang="fa-IR"/>
            </a:br>
            <a:r>
              <a:rPr lang="fa-IR"/>
              <a:t>فناوری‌های نوظهور مانند هوش مصنوعی و بلاکچین ابزارهایی قوی برای تصمیم‌گیری و پیش‌بینی هستند. این فناوری‌ها می‌توانند کارایی را افزایش داده و به آینده‌نگری کمک کنند.</a:t>
            </a:r>
            <a:br>
              <a:rPr lang="fa-IR"/>
            </a:br>
            <a:r>
              <a:rPr b="1" lang="fa-IR"/>
              <a:t>مثال:</a:t>
            </a:r>
            <a:r>
              <a:rPr lang="fa-IR"/>
              <a:t> استفاده از تحلیل داده‌های کلان برای پیش‌بینی رفتار مشتریان در شرکت‌های پیشرو.</a:t>
            </a:r>
            <a:endParaRPr/>
          </a:p>
          <a:p>
            <a:pPr indent="-76200" lvl="0" marL="0" rtl="1" algn="r">
              <a:spcBef>
                <a:spcPts val="0"/>
              </a:spcBef>
              <a:spcAft>
                <a:spcPts val="0"/>
              </a:spcAft>
              <a:buClr>
                <a:schemeClr val="dk1"/>
              </a:buClr>
              <a:buSzPts val="1200"/>
              <a:buFont typeface="Calibri"/>
              <a:buAutoNum type="arabicPeriod"/>
            </a:pPr>
            <a:r>
              <a:rPr b="1" lang="fa-IR"/>
              <a:t>بهداشت و درمان:</a:t>
            </a:r>
            <a:br>
              <a:rPr lang="fa-IR"/>
            </a:br>
            <a:r>
              <a:rPr lang="fa-IR"/>
              <a:t>سیستم‌های بهداشتی با استفاده از ابزارهای دیجیتال و تحلیل داده‌ها می‌توانند خدمات بهتری ارائه دهند و بیماری‌ها را زودتر تشخیص دهند.</a:t>
            </a:r>
            <a:br>
              <a:rPr lang="fa-IR"/>
            </a:br>
            <a:r>
              <a:rPr b="1" lang="fa-IR"/>
              <a:t>مثال:</a:t>
            </a:r>
            <a:r>
              <a:rPr lang="fa-IR"/>
              <a:t> NHS بریتانیا از هوش مصنوعی برای بهینه‌سازی منابع و تشخیص زودهنگام بیماری‌ها استفاده می‌کند.</a:t>
            </a:r>
            <a:endParaRPr/>
          </a:p>
          <a:p>
            <a:pPr indent="-76200" lvl="0" marL="0" rtl="1" algn="r">
              <a:spcBef>
                <a:spcPts val="0"/>
              </a:spcBef>
              <a:spcAft>
                <a:spcPts val="0"/>
              </a:spcAft>
              <a:buClr>
                <a:schemeClr val="dk1"/>
              </a:buClr>
              <a:buSzPts val="1200"/>
              <a:buFont typeface="Calibri"/>
              <a:buAutoNum type="arabicPeriod"/>
            </a:pPr>
            <a:r>
              <a:rPr b="1" lang="fa-IR"/>
              <a:t>حمل‌ونقل:</a:t>
            </a:r>
            <a:br>
              <a:rPr lang="fa-IR"/>
            </a:br>
            <a:r>
              <a:rPr lang="fa-IR"/>
              <a:t>توسعه سیستم‌های حمل‌ونقل پایدار و هوشمند بخشی از آینده‌نگری است.</a:t>
            </a:r>
            <a:br>
              <a:rPr lang="fa-IR"/>
            </a:br>
            <a:r>
              <a:rPr b="1" lang="fa-IR"/>
              <a:t>مثال:</a:t>
            </a:r>
            <a:r>
              <a:rPr lang="fa-IR"/>
              <a:t> کشور هلند با سرمایه‌گذاری در زیرساخت‌های حمل‌ونقل سبز، الگویی برای دیگر کشورها شده است.</a:t>
            </a:r>
            <a:endParaRPr/>
          </a:p>
          <a:p>
            <a:pPr indent="-76200" lvl="0" marL="0" rtl="1" algn="r">
              <a:spcBef>
                <a:spcPts val="0"/>
              </a:spcBef>
              <a:spcAft>
                <a:spcPts val="0"/>
              </a:spcAft>
              <a:buClr>
                <a:schemeClr val="dk1"/>
              </a:buClr>
              <a:buSzPts val="1200"/>
              <a:buFont typeface="Calibri"/>
              <a:buAutoNum type="arabicPeriod"/>
            </a:pPr>
            <a:r>
              <a:rPr b="1" lang="fa-IR"/>
              <a:t>مدیریت بحران:</a:t>
            </a:r>
            <a:br>
              <a:rPr lang="fa-IR"/>
            </a:br>
            <a:r>
              <a:rPr lang="fa-IR"/>
              <a:t>آینده‌نگری می‌تواند به مدیریت بحران‌های طبیعی و انسانی کمک کند.</a:t>
            </a:r>
            <a:br>
              <a:rPr lang="fa-IR"/>
            </a:br>
            <a:r>
              <a:rPr b="1" lang="fa-IR"/>
              <a:t>مثال:</a:t>
            </a:r>
            <a:r>
              <a:rPr lang="fa-IR"/>
              <a:t> ژاپن با سیستم‌های پیشرفته پیش‌بینی زلزله و مدیریت بحران، نمونه‌ای از آمادگی برای آینده است.</a:t>
            </a:r>
            <a:endParaRPr/>
          </a:p>
          <a:p>
            <a:pPr indent="0" lvl="0" marL="0" rtl="1" algn="r">
              <a:spcBef>
                <a:spcPts val="0"/>
              </a:spcBef>
              <a:spcAft>
                <a:spcPts val="0"/>
              </a:spcAft>
              <a:buNone/>
            </a:pPr>
            <a:r>
              <a:rPr lang="fa-IR"/>
              <a:t>این کاربردها نشان می‌دهند که Future Readiness تنها یک مفهوم نیست، بلکه ابزاری برای موفقیت در حوزه‌های مختلف است.</a:t>
            </a:r>
            <a:br>
              <a:rPr lang="fa-IR"/>
            </a:br>
            <a:r>
              <a:rPr lang="fa-IR"/>
              <a:t>کدام یک از این حوزه‌ها برای شما یا سازمان شما مهم‌تر است؟"</a:t>
            </a:r>
            <a:endParaRPr/>
          </a:p>
        </p:txBody>
      </p:sp>
      <p:sp>
        <p:nvSpPr>
          <p:cNvPr id="159" name="Google Shape;15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"در بخش Future Readiness، چند اصل کلیدی مطرح شد که هر کدام می‌توانند به موفقیت ما در آینده کمک کنند:</a:t>
            </a:r>
            <a:endParaRPr/>
          </a:p>
          <a:p>
            <a:pPr indent="-76200" lvl="0" marL="0" rtl="1" algn="r">
              <a:spcBef>
                <a:spcPts val="0"/>
              </a:spcBef>
              <a:spcAft>
                <a:spcPts val="0"/>
              </a:spcAft>
              <a:buClr>
                <a:schemeClr val="dk1"/>
              </a:buClr>
              <a:buSzPts val="1200"/>
              <a:buFont typeface="Calibri"/>
              <a:buAutoNum type="arabicPeriod"/>
            </a:pPr>
            <a:r>
              <a:rPr b="1" lang="fa-IR"/>
              <a:t>آینده‌نگری و تحلیل روندها:</a:t>
            </a:r>
            <a:br>
              <a:rPr lang="fa-IR"/>
            </a:br>
            <a:r>
              <a:rPr lang="fa-IR"/>
              <a:t>توانایی درک و پیش‌بینی تغییرات از مهم‌ترین مهارت‌ها برای آماده‌سازی در دنیای نامطمئن است. اگر روندها را پیش‌بینی کنیم، می‌توانیم به‌جای واکنش به مشکلات، به‌طور فعال برای فرصت‌ها برنامه‌ریزی کنیم.</a:t>
            </a:r>
            <a:endParaRPr/>
          </a:p>
          <a:p>
            <a:pPr indent="-76200" lvl="0" marL="0" rtl="1" algn="r">
              <a:spcBef>
                <a:spcPts val="0"/>
              </a:spcBef>
              <a:spcAft>
                <a:spcPts val="0"/>
              </a:spcAft>
              <a:buClr>
                <a:schemeClr val="dk1"/>
              </a:buClr>
              <a:buSzPts val="1200"/>
              <a:buFont typeface="Calibri"/>
              <a:buAutoNum type="arabicPeriod"/>
            </a:pPr>
            <a:r>
              <a:rPr b="1" lang="fa-IR"/>
              <a:t>چابکی و سازگاری:</a:t>
            </a:r>
            <a:br>
              <a:rPr lang="fa-IR"/>
            </a:br>
            <a:r>
              <a:rPr lang="fa-IR"/>
              <a:t>هیچ برنامه‌ای بدون انعطاف‌پذیری مؤثر نخواهد بود. چابکی به معنای توانایی تغییر مسیر در مواجهه با تغییرات سریع است.</a:t>
            </a:r>
            <a:endParaRPr/>
          </a:p>
          <a:p>
            <a:pPr indent="-76200" lvl="0" marL="0" rtl="1" algn="r">
              <a:spcBef>
                <a:spcPts val="0"/>
              </a:spcBef>
              <a:spcAft>
                <a:spcPts val="0"/>
              </a:spcAft>
              <a:buClr>
                <a:schemeClr val="dk1"/>
              </a:buClr>
              <a:buSzPts val="1200"/>
              <a:buFont typeface="Calibri"/>
              <a:buAutoNum type="arabicPeriod"/>
            </a:pPr>
            <a:r>
              <a:rPr b="1" lang="fa-IR"/>
              <a:t>توسعه نوآوری و خلاقیت:</a:t>
            </a:r>
            <a:br>
              <a:rPr lang="fa-IR"/>
            </a:br>
            <a:r>
              <a:rPr lang="fa-IR"/>
              <a:t>سازمان‌ها و افراد باید همواره به دنبال راه‌حل‌های جدید و خلاقانه باشند. این مهارت‌ها، عامل موفقیت در بازارهای رقابتی و تغییرات سریع هستند.</a:t>
            </a:r>
            <a:endParaRPr/>
          </a:p>
          <a:p>
            <a:pPr indent="-76200" lvl="0" marL="0" rtl="1" algn="r">
              <a:spcBef>
                <a:spcPts val="0"/>
              </a:spcBef>
              <a:spcAft>
                <a:spcPts val="0"/>
              </a:spcAft>
              <a:buClr>
                <a:schemeClr val="dk1"/>
              </a:buClr>
              <a:buSzPts val="1200"/>
              <a:buFont typeface="Calibri"/>
              <a:buAutoNum type="arabicPeriod"/>
            </a:pPr>
            <a:r>
              <a:rPr b="1" lang="fa-IR"/>
              <a:t>ایجاد فرهنگ یادگیری مداوم:</a:t>
            </a:r>
            <a:br>
              <a:rPr lang="fa-IR"/>
            </a:br>
            <a:r>
              <a:rPr lang="fa-IR"/>
              <a:t>برای اینکه همیشه آماده آینده باشیم، نیاز به یادگیری و توسعه مداوم مهارت‌ها داریم. دنیا به سرعت در حال تغییر است و دانش دیروز برای فردا کافی نیست.</a:t>
            </a:r>
            <a:endParaRPr/>
          </a:p>
          <a:p>
            <a:pPr indent="-76200" lvl="0" marL="0" rtl="1" algn="r">
              <a:spcBef>
                <a:spcPts val="0"/>
              </a:spcBef>
              <a:spcAft>
                <a:spcPts val="0"/>
              </a:spcAft>
              <a:buClr>
                <a:schemeClr val="dk1"/>
              </a:buClr>
              <a:buSzPts val="1200"/>
              <a:buFont typeface="Calibri"/>
              <a:buAutoNum type="arabicPeriod"/>
            </a:pPr>
            <a:r>
              <a:rPr b="1" lang="fa-IR"/>
              <a:t>تمرکز بر پایداری و مسئولیت اجتماعی:</a:t>
            </a:r>
            <a:br>
              <a:rPr lang="fa-IR"/>
            </a:br>
            <a:r>
              <a:rPr lang="fa-IR"/>
              <a:t>آینده‌ای که در آن منابع محیطی یا اجتماعی نادیده گرفته شوند، پایدار نخواهد بود. پایداری باید در قلب تمام استراتژی‌ها و تصمیم‌گیری‌ها باشد.</a:t>
            </a:r>
            <a:endParaRPr/>
          </a:p>
          <a:p>
            <a:pPr indent="0" lvl="0" marL="0" rtl="1" algn="r">
              <a:spcBef>
                <a:spcPts val="0"/>
              </a:spcBef>
              <a:spcAft>
                <a:spcPts val="0"/>
              </a:spcAft>
              <a:buNone/>
            </a:pPr>
            <a:r>
              <a:rPr lang="fa-IR"/>
              <a:t>Future Readiness یعنی ترکیب این اصول برای رسیدن به یک رویکرد جامع.</a:t>
            </a:r>
            <a:br>
              <a:rPr lang="fa-IR"/>
            </a:br>
            <a:r>
              <a:rPr lang="fa-IR"/>
              <a:t>از شما می‌پرسم: آیا شما خودتان یا سازمانتان این اصول را رعایت می‌کنید؟ اگر بخواهید در یکی از این زمینه‌ها تقویت شوید، کدام را انتخاب می‌کنید؟"</a:t>
            </a:r>
            <a:endParaRPr/>
          </a:p>
        </p:txBody>
      </p:sp>
      <p:sp>
        <p:nvSpPr>
          <p:cNvPr id="167" name="Google Shape;16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"Future FITness یک مفهوم کلیدی در محیط‌های پیچیده و سریع‌التغییر است.</a:t>
            </a:r>
            <a:br>
              <a:rPr lang="fa-IR"/>
            </a:br>
            <a:r>
              <a:rPr lang="fa-IR"/>
              <a:t>این مفهوم بر توانایی مداوم سازمان‌ها و افراد در حفظ عملکرد بهینه حتی در مواجهه با چالش‌های غیرمنتظره تمرکز دارد.</a:t>
            </a:r>
            <a:endParaRPr/>
          </a:p>
          <a:p>
            <a:pPr indent="0" lvl="0" marL="0" rtl="1" algn="r">
              <a:spcBef>
                <a:spcPts val="0"/>
              </a:spcBef>
              <a:spcAft>
                <a:spcPts val="0"/>
              </a:spcAft>
              <a:buNone/>
            </a:pPr>
            <a:r>
              <a:rPr b="1" lang="fa-IR"/>
              <a:t>Future FITness چگونه تعریف می‌شود؟</a:t>
            </a:r>
            <a:br>
              <a:rPr lang="fa-IR"/>
            </a:br>
            <a:r>
              <a:rPr lang="fa-IR"/>
              <a:t>این مفهوم شامل ترکیبی از ویژگی‌هایی مانند انطباق‌پذیری، پایداری، و نوآوری مداوم است. به این معنا که سازمان‌ها و افراد نه‌تنها آماده آینده باشند، بلکه بتوانند به‌صورت مداوم با تغییرات هماهنگ شده و عملکرد بهتری ارائه دهند.</a:t>
            </a:r>
            <a:endParaRPr/>
          </a:p>
          <a:p>
            <a:pPr indent="0" lvl="0" marL="0" rtl="1" algn="r">
              <a:spcBef>
                <a:spcPts val="0"/>
              </a:spcBef>
              <a:spcAft>
                <a:spcPts val="0"/>
              </a:spcAft>
              <a:buNone/>
            </a:pPr>
            <a:r>
              <a:rPr b="1" lang="fa-IR"/>
              <a:t>تفاوت کلیدی با Future Readiness چیست؟</a:t>
            </a:r>
            <a:br>
              <a:rPr lang="fa-IR"/>
            </a:br>
            <a:r>
              <a:rPr lang="fa-IR"/>
              <a:t>اگر Future Readiness به آماده‌سازی و پیش‌بینی تمرکز دارد، Future FITness قدمی فراتر می‌گذارد و بر توانایی انطباق، رشد و بهینه‌سازی مداوم در هر شرایطی تأکید می‌کند.</a:t>
            </a:r>
            <a:endParaRPr/>
          </a:p>
          <a:p>
            <a:pPr indent="0" lvl="0" marL="0" rtl="1" algn="r">
              <a:spcBef>
                <a:spcPts val="0"/>
              </a:spcBef>
              <a:spcAft>
                <a:spcPts val="0"/>
              </a:spcAft>
              <a:buNone/>
            </a:pPr>
            <a:r>
              <a:rPr lang="fa-IR"/>
              <a:t>به عنوان یک مثال، در دوران همه‌گیری کووید-19، شرکت‌هایی مانند Zoom که تناسب با آینده را داشتند، توانستند سریعاً خدمات خود را تطبیق داده و رشد کنند. در مقابل، بسیاری از سازمان‌های دیگر به‌دلیل عدم تناسب، از بازار حذف شدند."</a:t>
            </a:r>
            <a:endParaRPr/>
          </a:p>
        </p:txBody>
      </p:sp>
      <p:sp>
        <p:nvSpPr>
          <p:cNvPr id="175" name="Google Shape;17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برای اینکه درک کنیم Future Fitness از کجا آمده، باید با بنیان‌گذار آن یعنی پروفسور رنه روهربک آشنا شویم. کار او در دانشگاه آرهوس دانمارک، صرفاً یک نظریه تئوریک نبود. او با تحقیقات گسترده و بلندمدت نشان داد که شرکت‌هایی که به صورت نظام‌مند برای آینده آماده می‌شوند، به طور قابل توجهی از رقبای خود موفق‌تر عمل می‌کنند. این یافته، توجیه اقتصادی محکمی برای سرمایه‌گذاری در آینده‌نگری فراهم کرد و سنگ بنای مدل Future Fitness شد.</a:t>
            </a:r>
            <a:endParaRPr/>
          </a:p>
        </p:txBody>
      </p:sp>
      <p:sp>
        <p:nvSpPr>
          <p:cNvPr id="183" name="Google Shape;18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t/>
            </a:r>
            <a:endParaRPr/>
          </a:p>
        </p:txBody>
      </p:sp>
      <p:sp>
        <p:nvSpPr>
          <p:cNvPr id="190" name="Google Shape;19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مدل روهربک از دو بخش مکمل تشکیل شده که بسیار هوشمندانه طراحی شده‌اند. بخش اول، </a:t>
            </a:r>
            <a:r>
              <a:rPr b="1" lang="fa-IR"/>
              <a:t>مدل بلوغ</a:t>
            </a:r>
            <a:r>
              <a:rPr lang="fa-IR"/>
              <a:t> است که مثل یک چکاپ کامل، توانایی سازمان ما را در پنج حوزه کلیدی می‌سنجد. این مدل به ما می‌گوید که آیا زیرساخت لازم برای آینده‌نگری را داریم یا نه. بخش دوم، </a:t>
            </a:r>
            <a:r>
              <a:rPr b="1" lang="fa-IR"/>
              <a:t>فرآیند پویا</a:t>
            </a:r>
            <a:r>
              <a:rPr lang="fa-IR"/>
              <a:t> است که یک چرخه عملیاتی سه مرحله‌ای را معرفی می‌کند: اول سیگنال‌ها را </a:t>
            </a:r>
            <a:r>
              <a:rPr b="1" lang="fa-IR"/>
              <a:t>درک</a:t>
            </a:r>
            <a:r>
              <a:rPr lang="fa-IR"/>
              <a:t> می‌کنیم، بعد با </a:t>
            </a:r>
            <a:r>
              <a:rPr b="1" lang="fa-IR"/>
              <a:t>کاوش</a:t>
            </a:r>
            <a:r>
              <a:rPr lang="fa-IR"/>
              <a:t> آن‌ها را به بینش تبدیل کرده و در نهایت با </a:t>
            </a:r>
            <a:r>
              <a:rPr b="1" lang="fa-IR"/>
              <a:t>آزمودن</a:t>
            </a:r>
            <a:r>
              <a:rPr lang="fa-IR"/>
              <a:t> ایده‌ها، یاد می‌گیریم و دوباره این چرخه را تکرار می‌کنیم. این دو مدل با هم، یک سیستم کامل برای ساختن آینده‌نگری در سازمان ایجاد می‌کنند."</a:t>
            </a:r>
            <a:endParaRPr/>
          </a:p>
        </p:txBody>
      </p:sp>
      <p:sp>
        <p:nvSpPr>
          <p:cNvPr id="198" name="Google Shape;19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"همانطور که اشاره شد، مدل روهربک یک فرآیند عملی سه مرحله‌ای دارد. مرحله اول، </a:t>
            </a:r>
            <a:r>
              <a:rPr b="1" lang="fa-IR"/>
              <a:t>درک کردن</a:t>
            </a:r>
            <a:r>
              <a:rPr lang="fa-IR"/>
              <a:t> است؛ یعنی مثل یک رادار، دائماً محیط اطراف را برای شناسایی کوچکترین سیگنال‌های تغییر اسکن کنیم. مرحله دوم، </a:t>
            </a:r>
            <a:r>
              <a:rPr b="1" lang="fa-IR"/>
              <a:t>کاوش کردن</a:t>
            </a:r>
            <a:r>
              <a:rPr lang="fa-IR"/>
              <a:t> یا تفسیر است. در اینجا ما از خودمان می‌پرسیم این سیگنال‌ها چه معنایی برای کسب‌وکار ما دارند و با ابزارهایی مثل سناریوسازی، آینده‌های ممکن را ترسیم می‌کنیم. مرحله نهایی، </a:t>
            </a:r>
            <a:r>
              <a:rPr b="1" lang="fa-IR"/>
              <a:t>آزمودن</a:t>
            </a:r>
            <a:r>
              <a:rPr lang="fa-IR"/>
              <a:t> است. به جای اینکه فقط برنامه بریزیم، دست به کار می‌شویم، ایده‌هایمان را در مقیاس کوچک آزمایش می‌کنیم و از نتایج آن یاد می‌گیریم. این چرخه دائماً تکرار می‌شود و سازمان را هوشمندتر می‌کند."</a:t>
            </a:r>
            <a:endParaRPr/>
          </a:p>
        </p:txBody>
      </p:sp>
      <p:sp>
        <p:nvSpPr>
          <p:cNvPr id="205" name="Google Shape;20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"اما خروجی این مدل در عمل چیست؟ طبق تحقیقات روهربک، آینده‌نگری در سازمان سه نقش بسیار مهم بازی می‌کند. </a:t>
            </a:r>
            <a:r>
              <a:rPr b="1" lang="fa-IR"/>
              <a:t>نقش استراتژیست</a:t>
            </a:r>
            <a:r>
              <a:rPr lang="fa-IR"/>
              <a:t> به ما جهت می‌دهد و می‌گوید به کدام سمت حرکت کنیم. </a:t>
            </a:r>
            <a:r>
              <a:rPr b="1" lang="fa-IR"/>
              <a:t>نقش آغازگر</a:t>
            </a:r>
            <a:r>
              <a:rPr lang="fa-IR"/>
              <a:t> مثل یک موتور جستجو، فرصت‌های جدید را پیدا و پروژه‌های نوآورانه را شروع می‌کند. و نقش سوم که بسیار جالب است، </a:t>
            </a:r>
            <a:r>
              <a:rPr b="1" lang="fa-IR"/>
              <a:t>نقش مخالف</a:t>
            </a:r>
            <a:r>
              <a:rPr lang="fa-IR"/>
              <a:t> است؛ این نقش، مفروضات فعلی ما را به چالش می‌کشد تا مطمئن شویم که منابع خود را صرف ایده‌های ضعیف نمی‌کنیم و نوآوری‌های ما واقعاً قدرتمند هستند. این سه نقش در کنار هم، ظرفیت نوآوری سازمان را متحول می‌کنند."</a:t>
            </a:r>
            <a:endParaRPr/>
          </a:p>
        </p:txBody>
      </p:sp>
      <p:sp>
        <p:nvSpPr>
          <p:cNvPr id="212" name="Google Shape;21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"Future FITness یا تناسب برای آینده، یک چارچوب عملی و استراتژیک است که سازمان‌ها را برای بقا و پیشرفت در دنیای پیچیده و نامطمئن آماده می‌کند.</a:t>
            </a:r>
            <a:br>
              <a:rPr lang="fa-IR"/>
            </a:br>
            <a:r>
              <a:rPr lang="fa-IR"/>
              <a:t>این مفهوم فراتر از آمادگی برای آینده است. اگر آمادگی برای آینده بر پیش‌بینی و برنامه‌ریزی تمرکز دارد، Future FITness تأکید می‌کند که باید ظرفیت لازم برای </a:t>
            </a:r>
            <a:r>
              <a:rPr b="1" lang="fa-IR"/>
              <a:t>انطباق مداوم</a:t>
            </a:r>
            <a:r>
              <a:rPr lang="fa-IR"/>
              <a:t>، </a:t>
            </a:r>
            <a:r>
              <a:rPr b="1" lang="fa-IR"/>
              <a:t>نوآوری پایدار</a:t>
            </a:r>
            <a:r>
              <a:rPr lang="fa-IR"/>
              <a:t>، و </a:t>
            </a:r>
            <a:r>
              <a:rPr b="1" lang="fa-IR"/>
              <a:t>تحول اثربخش</a:t>
            </a:r>
            <a:r>
              <a:rPr lang="fa-IR"/>
              <a:t> را ایجاد کنیم.</a:t>
            </a:r>
            <a:endParaRPr/>
          </a:p>
          <a:p>
            <a:pPr indent="0" lvl="0" marL="0" rtl="1" algn="r">
              <a:spcBef>
                <a:spcPts val="0"/>
              </a:spcBef>
              <a:spcAft>
                <a:spcPts val="0"/>
              </a:spcAft>
              <a:buNone/>
            </a:pPr>
            <a:r>
              <a:rPr lang="fa-IR"/>
              <a:t>Future FITness شامل سه ویژگی کلیدی است:</a:t>
            </a:r>
            <a:endParaRPr/>
          </a:p>
          <a:p>
            <a:pPr indent="-76200" lvl="0" marL="0" rtl="1" algn="r">
              <a:spcBef>
                <a:spcPts val="0"/>
              </a:spcBef>
              <a:spcAft>
                <a:spcPts val="0"/>
              </a:spcAft>
              <a:buClr>
                <a:schemeClr val="dk1"/>
              </a:buClr>
              <a:buSzPts val="1200"/>
              <a:buFont typeface="Calibri"/>
              <a:buAutoNum type="arabicPeriod"/>
            </a:pPr>
            <a:r>
              <a:rPr b="1" lang="fa-IR"/>
              <a:t>توانایی تغییر و انطباق سریع:</a:t>
            </a:r>
            <a:r>
              <a:rPr lang="fa-IR"/>
              <a:t> سازمان‌ها باید بتوانند مسیر خود را در مواجهه با چالش‌های غیرمنتظره تغییر دهند.</a:t>
            </a:r>
            <a:endParaRPr/>
          </a:p>
          <a:p>
            <a:pPr indent="-76200" lvl="0" marL="0" rtl="1" algn="r">
              <a:spcBef>
                <a:spcPts val="0"/>
              </a:spcBef>
              <a:spcAft>
                <a:spcPts val="0"/>
              </a:spcAft>
              <a:buClr>
                <a:schemeClr val="dk1"/>
              </a:buClr>
              <a:buSzPts val="1200"/>
              <a:buFont typeface="Calibri"/>
              <a:buAutoNum type="arabicPeriod"/>
            </a:pPr>
            <a:r>
              <a:rPr b="1" lang="fa-IR"/>
              <a:t>تفکر آینده‌نگر:</a:t>
            </a:r>
            <a:r>
              <a:rPr lang="fa-IR"/>
              <a:t> شناسایی فرصت‌ها و تهدیدهای بلندمدت برای استفاده بهینه از منابع.</a:t>
            </a:r>
            <a:endParaRPr/>
          </a:p>
          <a:p>
            <a:pPr indent="-76200" lvl="0" marL="0" rtl="1" algn="r">
              <a:spcBef>
                <a:spcPts val="0"/>
              </a:spcBef>
              <a:spcAft>
                <a:spcPts val="0"/>
              </a:spcAft>
              <a:buClr>
                <a:schemeClr val="dk1"/>
              </a:buClr>
              <a:buSzPts val="1200"/>
              <a:buFont typeface="Calibri"/>
              <a:buAutoNum type="arabicPeriod"/>
            </a:pPr>
            <a:r>
              <a:rPr b="1" lang="fa-IR"/>
              <a:t>نوآوری و رشد پایدار:</a:t>
            </a:r>
            <a:r>
              <a:rPr lang="fa-IR"/>
              <a:t> توانایی ارائه راه‌حل‌های جدید برای چالش‌های حال و آینده.</a:t>
            </a:r>
            <a:endParaRPr/>
          </a:p>
          <a:p>
            <a:pPr indent="0" lvl="0" marL="0" rtl="1" algn="r">
              <a:spcBef>
                <a:spcPts val="0"/>
              </a:spcBef>
              <a:spcAft>
                <a:spcPts val="0"/>
              </a:spcAft>
              <a:buNone/>
            </a:pPr>
            <a:r>
              <a:rPr lang="fa-IR"/>
              <a:t>این چارچوب به ما کمک می‌کند نه‌تنها در تغییرات زنده بمانیم، بلکه از آن‌ها به‌عنوان ابزاری برای رشد و موفقیت استفاده کنیم."</a:t>
            </a:r>
            <a:endParaRPr/>
          </a:p>
        </p:txBody>
      </p:sp>
      <p:sp>
        <p:nvSpPr>
          <p:cNvPr id="219" name="Google Shape;21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"برای دستیابی به </a:t>
            </a:r>
            <a:r>
              <a:rPr b="1" lang="fa-IR"/>
              <a:t>Future FITness</a:t>
            </a:r>
            <a:r>
              <a:rPr lang="fa-IR"/>
              <a:t>، سازمان‌ها باید چهار مؤلفه کلیدی را توسعه دهند:</a:t>
            </a:r>
            <a:endParaRPr/>
          </a:p>
          <a:p>
            <a:pPr indent="-76200" lvl="0" marL="0" rtl="1" algn="r">
              <a:spcBef>
                <a:spcPts val="0"/>
              </a:spcBef>
              <a:spcAft>
                <a:spcPts val="0"/>
              </a:spcAft>
              <a:buClr>
                <a:schemeClr val="dk1"/>
              </a:buClr>
              <a:buSzPts val="1200"/>
              <a:buFont typeface="Calibri"/>
              <a:buAutoNum type="arabicPeriod"/>
            </a:pPr>
            <a:r>
              <a:rPr b="1" lang="fa-IR"/>
              <a:t>قابلیت‌های پویا (Dynamic Capabilities):</a:t>
            </a:r>
            <a:br>
              <a:rPr lang="fa-IR"/>
            </a:br>
            <a:r>
              <a:rPr lang="fa-IR"/>
              <a:t>این قابلیت‌ها به سازمان‌ها امکان می‌دهند تا فرصت‌های جدید را شناسایی کرده و به تغییرات محیطی پاسخ دهند. به‌عنوان مثال، شرکت‌هایی که در دوران بحران‌های اقتصادی توانسته‌اند با تغییر مدل‌های کسب‌وکار خود به سرعت به شرایط جدید واکنش نشان دهند، از این قابلیت برخوردار بوده‌اند.</a:t>
            </a:r>
            <a:endParaRPr/>
          </a:p>
          <a:p>
            <a:pPr indent="-76200" lvl="0" marL="0" rtl="1" algn="r">
              <a:spcBef>
                <a:spcPts val="0"/>
              </a:spcBef>
              <a:spcAft>
                <a:spcPts val="0"/>
              </a:spcAft>
              <a:buClr>
                <a:schemeClr val="dk1"/>
              </a:buClr>
              <a:buSzPts val="1200"/>
              <a:buFont typeface="Calibri"/>
              <a:buAutoNum type="arabicPeriod"/>
            </a:pPr>
            <a:r>
              <a:rPr b="1" lang="fa-IR"/>
              <a:t>تفکر آینده‌نگر (Anticipatory Thinking):</a:t>
            </a:r>
            <a:br>
              <a:rPr lang="fa-IR"/>
            </a:br>
            <a:r>
              <a:rPr lang="fa-IR"/>
              <a:t>این تفکر شامل پیش‌بینی و آماده‌سازی برای سناریوهای مختلف آینده است. سازمان‌هایی که از این توانایی بهره‌مند هستند، می‌توانند با تحلیل روندها و پیش‌بینی تغییرات، استراتژی‌های مؤثری را برای مواجهه با آینده تدوین کنند.</a:t>
            </a:r>
            <a:endParaRPr/>
          </a:p>
          <a:p>
            <a:pPr indent="-76200" lvl="0" marL="0" rtl="1" algn="r">
              <a:spcBef>
                <a:spcPts val="0"/>
              </a:spcBef>
              <a:spcAft>
                <a:spcPts val="0"/>
              </a:spcAft>
              <a:buClr>
                <a:schemeClr val="dk1"/>
              </a:buClr>
              <a:buSzPts val="1200"/>
              <a:buFont typeface="Calibri"/>
              <a:buAutoNum type="arabicPeriod"/>
            </a:pPr>
            <a:r>
              <a:rPr b="1" lang="fa-IR"/>
              <a:t>اجرای انطباقی (Adaptive Execution):</a:t>
            </a:r>
            <a:br>
              <a:rPr lang="fa-IR"/>
            </a:br>
            <a:r>
              <a:rPr lang="fa-IR"/>
              <a:t>توانایی پیاده‌سازی استراتژی‌ها با انعطاف‌پذیری و تطبیق با شرایط متغیر، به سازمان‌ها امکان می‌دهد تا در مواجهه با تغییرات ناگهانی، عملکرد خود را حفظ کرده و بهبود بخشند.</a:t>
            </a:r>
            <a:endParaRPr/>
          </a:p>
          <a:p>
            <a:pPr indent="-76200" lvl="0" marL="0" rtl="1" algn="r">
              <a:spcBef>
                <a:spcPts val="0"/>
              </a:spcBef>
              <a:spcAft>
                <a:spcPts val="0"/>
              </a:spcAft>
              <a:buClr>
                <a:schemeClr val="dk1"/>
              </a:buClr>
              <a:buSzPts val="1200"/>
              <a:buFont typeface="Calibri"/>
              <a:buAutoNum type="arabicPeriod"/>
            </a:pPr>
            <a:r>
              <a:rPr b="1" lang="fa-IR"/>
              <a:t>اکوسیستم‌های تعاملی (Collaborative Ecosystems):</a:t>
            </a:r>
            <a:br>
              <a:rPr lang="fa-IR"/>
            </a:br>
            <a:r>
              <a:rPr lang="fa-IR"/>
              <a:t>ایجاد شبکه‌های همکاری با ذی‌نفعان مختلف، از جمله مشتریان، تأمین‌کنندگان و حتی رقبا، به سازمان‌ها کمک می‌کند تا با بهره‌گیری از منابع و دانش مشترک، به اهداف مشترک دست یابند.</a:t>
            </a:r>
            <a:endParaRPr/>
          </a:p>
          <a:p>
            <a:pPr indent="0" lvl="0" marL="0" rtl="1" algn="r">
              <a:spcBef>
                <a:spcPts val="0"/>
              </a:spcBef>
              <a:spcAft>
                <a:spcPts val="0"/>
              </a:spcAft>
              <a:buNone/>
            </a:pPr>
            <a:r>
              <a:rPr lang="fa-IR"/>
              <a:t>توسعه این مؤلفه‌ها به سازمان‌ها کمک می‌کند تا در مواجهه با تغییرات و عدم‌قطعیت‌های محیطی، نه‌تنها بقا داشته باشند، بلکه به‌طور فعال آینده مطلوب خود را شکل دهند."</a:t>
            </a:r>
            <a:endParaRPr/>
          </a:p>
        </p:txBody>
      </p:sp>
      <p:sp>
        <p:nvSpPr>
          <p:cNvPr id="227" name="Google Shape;22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"Future FITness به سازمان‌ها کمک می‌کند تا در محیط‌های پویا و متغیر، نه‌تنها زنده بمانند، بلکه به‌طور فعال آینده‌های مطلوب را شکل دهند. اهداف کلیدی این چارچوب شامل موارد زیر است:</a:t>
            </a:r>
            <a:endParaRPr/>
          </a:p>
          <a:p>
            <a:pPr indent="-76200" lvl="0" marL="0" rtl="1" algn="r">
              <a:spcBef>
                <a:spcPts val="0"/>
              </a:spcBef>
              <a:spcAft>
                <a:spcPts val="0"/>
              </a:spcAft>
              <a:buClr>
                <a:schemeClr val="dk1"/>
              </a:buClr>
              <a:buSzPts val="1200"/>
              <a:buFont typeface="Calibri"/>
              <a:buAutoNum type="arabicPeriod"/>
            </a:pPr>
            <a:r>
              <a:rPr b="1" lang="fa-IR"/>
              <a:t>شکل‌دهی آینده‌های مطلوب:</a:t>
            </a:r>
            <a:br>
              <a:rPr lang="fa-IR"/>
            </a:br>
            <a:r>
              <a:rPr lang="fa-IR"/>
              <a:t>Future FITness به سازمان‌ها اجازه می‌دهد که به‌جای صرفاً تطبیق با تغییرات، نقش فعالی در طراحی و ایجاد آینده‌ای مطلوب ایفا کنند.</a:t>
            </a:r>
            <a:br>
              <a:rPr lang="fa-IR"/>
            </a:br>
            <a:r>
              <a:rPr lang="fa-IR"/>
              <a:t>مثال: شرکت شل با استفاده از تحلیل سناریو توانسته است در صنعت انرژی، روندهای بلندمدت را شکل دهد.</a:t>
            </a:r>
            <a:endParaRPr/>
          </a:p>
          <a:p>
            <a:pPr indent="-76200" lvl="0" marL="0" rtl="1" algn="r">
              <a:spcBef>
                <a:spcPts val="0"/>
              </a:spcBef>
              <a:spcAft>
                <a:spcPts val="0"/>
              </a:spcAft>
              <a:buClr>
                <a:schemeClr val="dk1"/>
              </a:buClr>
              <a:buSzPts val="1200"/>
              <a:buFont typeface="Calibri"/>
              <a:buAutoNum type="arabicPeriod"/>
            </a:pPr>
            <a:r>
              <a:rPr b="1" lang="fa-IR"/>
              <a:t>مدیریت پیچیدگی‌ها و عدم‌قطعیت‌ها:</a:t>
            </a:r>
            <a:br>
              <a:rPr lang="fa-IR"/>
            </a:br>
            <a:r>
              <a:rPr lang="fa-IR"/>
              <a:t>توانایی حفظ عملکرد در شرایط نامطمئن و پیچیده یکی از اهداف اصلی است. سازمان‌های آینده‌نگر ابزارها و فرآیندهایی ایجاد می‌کنند که به مدیریت بهتر این چالش‌ها کمک کند.</a:t>
            </a:r>
            <a:endParaRPr/>
          </a:p>
          <a:p>
            <a:pPr indent="-76200" lvl="0" marL="0" rtl="1" algn="r">
              <a:spcBef>
                <a:spcPts val="0"/>
              </a:spcBef>
              <a:spcAft>
                <a:spcPts val="0"/>
              </a:spcAft>
              <a:buClr>
                <a:schemeClr val="dk1"/>
              </a:buClr>
              <a:buSzPts val="1200"/>
              <a:buFont typeface="Calibri"/>
              <a:buAutoNum type="arabicPeriod"/>
            </a:pPr>
            <a:r>
              <a:rPr b="1" lang="fa-IR"/>
              <a:t>ایجاد ارزش پایدار:</a:t>
            </a:r>
            <a:br>
              <a:rPr lang="fa-IR"/>
            </a:br>
            <a:r>
              <a:rPr lang="fa-IR"/>
              <a:t>Future FITness تضمین می‌کند که سازمان‌ها از طریق نوآوری و پایداری، ارزش اقتصادی، اجتماعی و زیست‌محیطی بلندمدت ایجاد کنند.</a:t>
            </a:r>
            <a:br>
              <a:rPr lang="fa-IR"/>
            </a:br>
            <a:r>
              <a:rPr lang="fa-IR"/>
              <a:t>مثال: ایکه‌آ با تغییر مدل کسب‌وکار خود به اقتصاد دایره‌ای، به سمت پایداری حرکت کرده است.</a:t>
            </a:r>
            <a:endParaRPr/>
          </a:p>
          <a:p>
            <a:pPr indent="-76200" lvl="0" marL="0" rtl="1" algn="r">
              <a:spcBef>
                <a:spcPts val="0"/>
              </a:spcBef>
              <a:spcAft>
                <a:spcPts val="0"/>
              </a:spcAft>
              <a:buClr>
                <a:schemeClr val="dk1"/>
              </a:buClr>
              <a:buSzPts val="1200"/>
              <a:buFont typeface="Calibri"/>
              <a:buAutoNum type="arabicPeriod"/>
            </a:pPr>
            <a:r>
              <a:rPr b="1" lang="fa-IR"/>
              <a:t>حفظ مزیت رقابتی:</a:t>
            </a:r>
            <a:br>
              <a:rPr lang="fa-IR"/>
            </a:br>
            <a:r>
              <a:rPr lang="fa-IR"/>
              <a:t>توانایی تطبیق سریع و استفاده از فرصت‌های جدید به سازمان‌ها کمک می‌کند که در بازار رقابتی جلوتر بمانند.</a:t>
            </a:r>
            <a:br>
              <a:rPr lang="fa-IR"/>
            </a:br>
            <a:r>
              <a:rPr lang="fa-IR"/>
              <a:t>مثال: آمازون با سرمایه‌گذاری مداوم در فناوری‌های جدید، همواره جایگاه خود را در بازار جهانی تقویت کرده است.</a:t>
            </a:r>
            <a:endParaRPr/>
          </a:p>
          <a:p>
            <a:pPr indent="0" lvl="0" marL="0" rtl="1" algn="r">
              <a:spcBef>
                <a:spcPts val="0"/>
              </a:spcBef>
              <a:spcAft>
                <a:spcPts val="0"/>
              </a:spcAft>
              <a:buNone/>
            </a:pPr>
            <a:r>
              <a:rPr lang="fa-IR"/>
              <a:t>این اهداف نشان می‌دهند که Future FITness صرفاً یک رویکرد واکنشی نیست؛ بلکه چارچوبی برای پیشرفت، نوآوری و ایجاد آینده‌ای بهتر است."</a:t>
            </a:r>
            <a:endParaRPr/>
          </a:p>
        </p:txBody>
      </p:sp>
      <p:sp>
        <p:nvSpPr>
          <p:cNvPr id="235" name="Google Shape;23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"برای دستیابی به Future FITness، سازمان‌ها باید از یک رویکرد مرحله‌ای و سیستماتیک پیروی کنند. این فرآیند شامل پنج مرحله کلیدی است:</a:t>
            </a:r>
            <a:endParaRPr/>
          </a:p>
          <a:p>
            <a:pPr indent="-76200" lvl="0" marL="0" rtl="1" algn="r">
              <a:spcBef>
                <a:spcPts val="0"/>
              </a:spcBef>
              <a:spcAft>
                <a:spcPts val="0"/>
              </a:spcAft>
              <a:buClr>
                <a:schemeClr val="dk1"/>
              </a:buClr>
              <a:buSzPts val="1200"/>
              <a:buFont typeface="Calibri"/>
              <a:buAutoNum type="arabicPeriod"/>
            </a:pPr>
            <a:r>
              <a:rPr b="1" lang="fa-IR"/>
              <a:t>ارزیابی وضعیت فعلی:</a:t>
            </a:r>
            <a:br>
              <a:rPr lang="fa-IR"/>
            </a:br>
            <a:r>
              <a:rPr lang="fa-IR"/>
              <a:t>در این مرحله، سازمان نقاط قوت، ضعف، فرصت‌ها و تهدیدهای خود را شناسایی می‌کند. این تحلیل به سازمان کمک می‌کند تا درک دقیقی از وضعیت موجود داشته باشد.</a:t>
            </a:r>
            <a:br>
              <a:rPr lang="fa-IR"/>
            </a:br>
            <a:r>
              <a:rPr lang="fa-IR"/>
              <a:t>مثال: استفاده از ماتریس SWOT برای شناسایی زمینه‌های بهبود.</a:t>
            </a:r>
            <a:endParaRPr/>
          </a:p>
          <a:p>
            <a:pPr indent="-76200" lvl="0" marL="0" rtl="1" algn="r">
              <a:spcBef>
                <a:spcPts val="0"/>
              </a:spcBef>
              <a:spcAft>
                <a:spcPts val="0"/>
              </a:spcAft>
              <a:buClr>
                <a:schemeClr val="dk1"/>
              </a:buClr>
              <a:buSzPts val="1200"/>
              <a:buFont typeface="Calibri"/>
              <a:buAutoNum type="arabicPeriod"/>
            </a:pPr>
            <a:r>
              <a:rPr b="1" lang="fa-IR"/>
              <a:t>تعریف چشم‌انداز آینده:</a:t>
            </a:r>
            <a:br>
              <a:rPr lang="fa-IR"/>
            </a:br>
            <a:r>
              <a:rPr lang="fa-IR"/>
              <a:t>سازمان باید آینده‌ای مطلوب و اهداف مشخص خود را تعریف کند. این چشم‌انداز به‌عنوان یک نقشه راه عمل می‌کند.</a:t>
            </a:r>
            <a:br>
              <a:rPr lang="fa-IR"/>
            </a:br>
            <a:r>
              <a:rPr lang="fa-IR"/>
              <a:t>مثال: شرکت‌هایی که استراتژی‌های بلندمدت خود را بر اساس روندهای جهانی تنظیم می‌کنند.</a:t>
            </a:r>
            <a:endParaRPr/>
          </a:p>
          <a:p>
            <a:pPr indent="-76200" lvl="0" marL="0" rtl="1" algn="r">
              <a:spcBef>
                <a:spcPts val="0"/>
              </a:spcBef>
              <a:spcAft>
                <a:spcPts val="0"/>
              </a:spcAft>
              <a:buClr>
                <a:schemeClr val="dk1"/>
              </a:buClr>
              <a:buSzPts val="1200"/>
              <a:buFont typeface="Calibri"/>
              <a:buAutoNum type="arabicPeriod"/>
            </a:pPr>
            <a:r>
              <a:rPr b="1" lang="fa-IR"/>
              <a:t>توسعه قابلیت‌ها:</a:t>
            </a:r>
            <a:br>
              <a:rPr lang="fa-IR"/>
            </a:br>
            <a:r>
              <a:rPr lang="fa-IR"/>
              <a:t>سازمان‌ها باید قابلیت‌های کلیدی خود را در زمینه‌هایی مانند نوآوری، انطباق‌پذیری و همکاری تقویت کنند.</a:t>
            </a:r>
            <a:br>
              <a:rPr lang="fa-IR"/>
            </a:br>
            <a:r>
              <a:rPr lang="fa-IR"/>
              <a:t>مثال: اپل که با سرمایه‌گذاری در تحقیق و توسعه، توانسته است قابلیت‌های نوآوری خود را تقویت کند.</a:t>
            </a:r>
            <a:endParaRPr/>
          </a:p>
          <a:p>
            <a:pPr indent="-76200" lvl="0" marL="0" rtl="1" algn="r">
              <a:spcBef>
                <a:spcPts val="0"/>
              </a:spcBef>
              <a:spcAft>
                <a:spcPts val="0"/>
              </a:spcAft>
              <a:buClr>
                <a:schemeClr val="dk1"/>
              </a:buClr>
              <a:buSzPts val="1200"/>
              <a:buFont typeface="Calibri"/>
              <a:buAutoNum type="arabicPeriod"/>
            </a:pPr>
            <a:r>
              <a:rPr b="1" lang="fa-IR"/>
              <a:t>پیاده‌سازی و آزمایش:</a:t>
            </a:r>
            <a:br>
              <a:rPr lang="fa-IR"/>
            </a:br>
            <a:r>
              <a:rPr lang="fa-IR"/>
              <a:t>اجرای استراتژی‌ها باید با انعطاف‌پذیری انجام شود. سازمان‌ها باید آماده باشند که استراتژی‌های خود را در صورت لزوم تغییر دهند.</a:t>
            </a:r>
            <a:br>
              <a:rPr lang="fa-IR"/>
            </a:br>
            <a:r>
              <a:rPr lang="fa-IR"/>
              <a:t>مثال: شرکت تسلا که مدل‌های مختلفی از خودروهای الکتریکی را آزمایش کرده است تا به بهترین نتایج دست یابد.</a:t>
            </a:r>
            <a:endParaRPr/>
          </a:p>
          <a:p>
            <a:pPr indent="-76200" lvl="0" marL="0" rtl="1" algn="r">
              <a:spcBef>
                <a:spcPts val="0"/>
              </a:spcBef>
              <a:spcAft>
                <a:spcPts val="0"/>
              </a:spcAft>
              <a:buClr>
                <a:schemeClr val="dk1"/>
              </a:buClr>
              <a:buSzPts val="1200"/>
              <a:buFont typeface="Calibri"/>
              <a:buAutoNum type="arabicPeriod"/>
            </a:pPr>
            <a:r>
              <a:rPr b="1" lang="fa-IR"/>
              <a:t>پایش و بهبود مداوم:</a:t>
            </a:r>
            <a:br>
              <a:rPr lang="fa-IR"/>
            </a:br>
            <a:r>
              <a:rPr lang="fa-IR"/>
              <a:t>نتایج باید به‌صورت مداوم پایش شوند و بر اساس بازخوردها، فرآیندها بهبود یابند.</a:t>
            </a:r>
            <a:br>
              <a:rPr lang="fa-IR"/>
            </a:br>
            <a:r>
              <a:rPr lang="fa-IR"/>
              <a:t>مثال: ایکه‌آ که به‌طور مداوم مدل‌های کسب‌وکار خود را بهینه‌سازی می‌کند تا به اهداف پایداری برسد.</a:t>
            </a:r>
            <a:endParaRPr/>
          </a:p>
          <a:p>
            <a:pPr indent="0" lvl="0" marL="0" rtl="1" algn="r">
              <a:spcBef>
                <a:spcPts val="0"/>
              </a:spcBef>
              <a:spcAft>
                <a:spcPts val="0"/>
              </a:spcAft>
              <a:buNone/>
            </a:pPr>
            <a:r>
              <a:rPr lang="fa-IR"/>
              <a:t>این مراحل تضمین می‌کنند که سازمان‌ها به‌طور مداوم در مسیر Future FITness پیشرفت کنند و عملکرد بهینه‌ای در محیط‌های متغیر داشته باشند."</a:t>
            </a:r>
            <a:endParaRPr/>
          </a:p>
        </p:txBody>
      </p:sp>
      <p:sp>
        <p:nvSpPr>
          <p:cNvPr id="243" name="Google Shape;24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"برای ارزیابی Future FITness در سازمان‌ها، از شاخص‌های کلیدی استفاده می‌کنیم که هرکدام جنبه‌ای از این مفهوم را پوشش می‌دهند:</a:t>
            </a:r>
            <a:endParaRPr/>
          </a:p>
          <a:p>
            <a:pPr indent="-76200" lvl="0" marL="0" rtl="1" algn="r">
              <a:spcBef>
                <a:spcPts val="0"/>
              </a:spcBef>
              <a:spcAft>
                <a:spcPts val="0"/>
              </a:spcAft>
              <a:buClr>
                <a:schemeClr val="dk1"/>
              </a:buClr>
              <a:buSzPts val="1200"/>
              <a:buFont typeface="Calibri"/>
              <a:buAutoNum type="arabicPeriod"/>
            </a:pPr>
            <a:r>
              <a:rPr b="1" lang="fa-IR"/>
              <a:t>شاخص تطبیق سریع (Agility Index):</a:t>
            </a:r>
            <a:br>
              <a:rPr lang="fa-IR"/>
            </a:br>
            <a:r>
              <a:rPr lang="fa-IR"/>
              <a:t>این شاخص سرعت و اثربخشی سازمان در واکنش به تغییرات محیطی را ارزیابی می‌کند. سازمان‌های چابک توانایی تغییر مسیر سریع در شرایط نامطمئن را دارند.</a:t>
            </a:r>
            <a:br>
              <a:rPr lang="fa-IR"/>
            </a:br>
            <a:r>
              <a:rPr lang="fa-IR"/>
              <a:t>مثال: توانایی یک شرکت فناوری در تغییر محصولات خود برای پاسخ به نیازهای جدید بازار.</a:t>
            </a:r>
            <a:endParaRPr/>
          </a:p>
          <a:p>
            <a:pPr indent="-76200" lvl="0" marL="0" rtl="1" algn="r">
              <a:spcBef>
                <a:spcPts val="0"/>
              </a:spcBef>
              <a:spcAft>
                <a:spcPts val="0"/>
              </a:spcAft>
              <a:buClr>
                <a:schemeClr val="dk1"/>
              </a:buClr>
              <a:buSzPts val="1200"/>
              <a:buFont typeface="Calibri"/>
              <a:buAutoNum type="arabicPeriod"/>
            </a:pPr>
            <a:r>
              <a:rPr b="1" lang="fa-IR"/>
              <a:t>میزان نوآوری (Innovation Rate):</a:t>
            </a:r>
            <a:br>
              <a:rPr lang="fa-IR"/>
            </a:br>
            <a:r>
              <a:rPr lang="fa-IR"/>
              <a:t>تعداد و کیفیت نوآوری‌ها نشان‌دهنده میزان توانایی سازمان در ایجاد راه‌حل‌های جدید و پیشرو بودن در بازار است.</a:t>
            </a:r>
            <a:br>
              <a:rPr lang="fa-IR"/>
            </a:br>
            <a:r>
              <a:rPr lang="fa-IR"/>
              <a:t>مثال: تسلا که هر سال نوآوری‌های برجسته‌ای در صنعت خودرو ارائه می‌کند.</a:t>
            </a:r>
            <a:endParaRPr/>
          </a:p>
          <a:p>
            <a:pPr indent="-76200" lvl="0" marL="0" rtl="1" algn="r">
              <a:spcBef>
                <a:spcPts val="0"/>
              </a:spcBef>
              <a:spcAft>
                <a:spcPts val="0"/>
              </a:spcAft>
              <a:buClr>
                <a:schemeClr val="dk1"/>
              </a:buClr>
              <a:buSzPts val="1200"/>
              <a:buFont typeface="Calibri"/>
              <a:buAutoNum type="arabicPeriod"/>
            </a:pPr>
            <a:r>
              <a:rPr b="1" lang="fa-IR"/>
              <a:t>انعطاف‌پذیری سازمانی (Organizational Resilience):</a:t>
            </a:r>
            <a:br>
              <a:rPr lang="fa-IR"/>
            </a:br>
            <a:r>
              <a:rPr lang="fa-IR"/>
              <a:t>توانایی سازمان در بازیابی سریع از بحران‌ها، از جمله اختلالات اقتصادی یا زیست‌محیطی، کلیدی است.</a:t>
            </a:r>
            <a:br>
              <a:rPr lang="fa-IR"/>
            </a:br>
            <a:r>
              <a:rPr lang="fa-IR"/>
              <a:t>مثال: ژاپن که با وجود زلزله‌ها و بلایای طبیعی، همواره ساختارهای قوی مدیریتی برای بازیابی دارد.</a:t>
            </a:r>
            <a:endParaRPr/>
          </a:p>
          <a:p>
            <a:pPr indent="-76200" lvl="0" marL="0" rtl="1" algn="r">
              <a:spcBef>
                <a:spcPts val="0"/>
              </a:spcBef>
              <a:spcAft>
                <a:spcPts val="0"/>
              </a:spcAft>
              <a:buClr>
                <a:schemeClr val="dk1"/>
              </a:buClr>
              <a:buSzPts val="1200"/>
              <a:buFont typeface="Calibri"/>
              <a:buAutoNum type="arabicPeriod"/>
            </a:pPr>
            <a:r>
              <a:rPr b="1" lang="fa-IR"/>
              <a:t>تعامل در اکوسیستم‌ها (Ecosystem Collaboration Score):</a:t>
            </a:r>
            <a:br>
              <a:rPr lang="fa-IR"/>
            </a:br>
            <a:r>
              <a:rPr lang="fa-IR"/>
              <a:t>این شاخص نشان می‌دهد که سازمان چگونه در همکاری با شرکا و ذی‌نفعان عمل می‌کند و تا چه حد می‌تواند ارزش مشترک ایجاد کند.</a:t>
            </a:r>
            <a:br>
              <a:rPr lang="fa-IR"/>
            </a:br>
            <a:r>
              <a:rPr lang="fa-IR"/>
              <a:t>مثال: همکاری آمازون با زنجیره تأمین جهانی برای بهبود کارایی.</a:t>
            </a:r>
            <a:endParaRPr/>
          </a:p>
          <a:p>
            <a:pPr indent="-76200" lvl="0" marL="0" rtl="1" algn="r">
              <a:spcBef>
                <a:spcPts val="0"/>
              </a:spcBef>
              <a:spcAft>
                <a:spcPts val="0"/>
              </a:spcAft>
              <a:buClr>
                <a:schemeClr val="dk1"/>
              </a:buClr>
              <a:buSzPts val="1200"/>
              <a:buFont typeface="Calibri"/>
              <a:buAutoNum type="arabicPeriod"/>
            </a:pPr>
            <a:r>
              <a:rPr b="1" lang="fa-IR"/>
              <a:t>یادگیری مداوم (Learning and Development Metrics):</a:t>
            </a:r>
            <a:br>
              <a:rPr lang="fa-IR"/>
            </a:br>
            <a:r>
              <a:rPr lang="fa-IR"/>
              <a:t>میزان آموزش‌ها و ارتقای مهارت‌های کارکنان از شاخص‌های مهم Future FITness است.</a:t>
            </a:r>
            <a:br>
              <a:rPr lang="fa-IR"/>
            </a:br>
            <a:r>
              <a:rPr lang="fa-IR"/>
              <a:t>مثال: گوگل با برنامه‌های یادگیری مداوم، سطح بالایی از آمادگی برای آینده را تضمین کرده است.</a:t>
            </a:r>
            <a:endParaRPr/>
          </a:p>
          <a:p>
            <a:pPr indent="0" lvl="0" marL="0" rtl="1" algn="r">
              <a:spcBef>
                <a:spcPts val="0"/>
              </a:spcBef>
              <a:spcAft>
                <a:spcPts val="0"/>
              </a:spcAft>
              <a:buNone/>
            </a:pPr>
            <a:r>
              <a:rPr lang="fa-IR"/>
              <a:t>این شاخص‌ها به سازمان‌ها کمک می‌کنند که عملکرد خود را در حوزه Future FITness بسنجند و نقاط قوت و ضعف را شناسایی کنند."</a:t>
            </a:r>
            <a:endParaRPr/>
          </a:p>
          <a:p>
            <a:pPr indent="0" lvl="0" marL="0" rtl="1" algn="r">
              <a:spcBef>
                <a:spcPts val="0"/>
              </a:spcBef>
              <a:spcAft>
                <a:spcPts val="0"/>
              </a:spcAft>
              <a:buNone/>
            </a:pPr>
            <a:r>
              <a:t/>
            </a:r>
            <a:endParaRPr/>
          </a:p>
        </p:txBody>
      </p:sp>
      <p:sp>
        <p:nvSpPr>
          <p:cNvPr id="250" name="Google Shape;25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b="1" lang="fa-IR"/>
              <a:t>دلیل انتخاب شرکت دویچه تلکام (Deutsche Telekom) چیست؟</a:t>
            </a:r>
            <a:endParaRPr/>
          </a:p>
          <a:p>
            <a:pPr indent="0" lvl="0" marL="0" rtl="1" algn="r">
              <a:spcBef>
                <a:spcPts val="0"/>
              </a:spcBef>
              <a:spcAft>
                <a:spcPts val="0"/>
              </a:spcAft>
              <a:buNone/>
            </a:pPr>
            <a:r>
              <a:rPr lang="fa-IR"/>
              <a:t>انتخاب این شرکت به هیچ وجه تصادفی نیست. دویچه تلکام یکی از </a:t>
            </a:r>
            <a:r>
              <a:rPr b="1" lang="fa-IR"/>
              <a:t>کلاسیک‌ترین و مستندترین مطالعات موردی در حوزه آینده‌نگری سازمانی (Corporate Foresight)</a:t>
            </a:r>
            <a:r>
              <a:rPr lang="fa-IR"/>
              <a:t> در سراسر جهان است. دلایل اصلی انتخاب آن عبارتند از:</a:t>
            </a:r>
            <a:endParaRPr/>
          </a:p>
          <a:p>
            <a:pPr indent="-76200" lvl="0" marL="0" rtl="1" algn="r">
              <a:spcBef>
                <a:spcPts val="0"/>
              </a:spcBef>
              <a:spcAft>
                <a:spcPts val="0"/>
              </a:spcAft>
              <a:buClr>
                <a:schemeClr val="dk1"/>
              </a:buClr>
              <a:buSzPts val="1200"/>
              <a:buFont typeface="Calibri"/>
              <a:buAutoNum type="arabicPeriod"/>
            </a:pPr>
            <a:r>
              <a:rPr b="1" lang="fa-IR"/>
              <a:t>تحقیقات مستقیم توسط خود رنه روهربک:</a:t>
            </a:r>
            <a:r>
              <a:rPr lang="fa-IR"/>
              <a:t> بخش بزرگی از تحقیقات دکترای </a:t>
            </a:r>
            <a:r>
              <a:rPr b="1" lang="fa-IR"/>
              <a:t>رنه روهربک</a:t>
            </a:r>
            <a:r>
              <a:rPr lang="fa-IR"/>
              <a:t> و مقالات بعدی او، مستقیماً بر اساس مطالعه عمیق و چندساله فعالیت‌های آینده‌نگری در شرکت دویچه تلکام بنا شده است. در واقع، این شرکت یکی از آزمایشگاه‌های اصلی او برای توسعه و اعتبارسنجی مدلش بود.</a:t>
            </a:r>
            <a:endParaRPr/>
          </a:p>
          <a:p>
            <a:pPr indent="-76200" lvl="0" marL="0" rtl="1" algn="r">
              <a:spcBef>
                <a:spcPts val="0"/>
              </a:spcBef>
              <a:spcAft>
                <a:spcPts val="0"/>
              </a:spcAft>
              <a:buClr>
                <a:schemeClr val="dk1"/>
              </a:buClr>
              <a:buSzPts val="1200"/>
              <a:buFont typeface="Calibri"/>
              <a:buAutoNum type="arabicPeriod"/>
            </a:pPr>
            <a:r>
              <a:rPr b="1" lang="fa-IR"/>
              <a:t>نمونه موفق از نهادینه‌سازی:</a:t>
            </a:r>
            <a:r>
              <a:rPr lang="fa-IR"/>
              <a:t> دویچه تلکام یک مثال برجسته از شرکتی است که توانست آینده‌نگری را از یک سری فعالیت‌های پراکنده و غیررسمی، به یک </a:t>
            </a:r>
            <a:r>
              <a:rPr b="1" lang="fa-IR"/>
              <a:t>قابلیت سازمانی یکپارچه و تأثیرگذار</a:t>
            </a:r>
            <a:r>
              <a:rPr lang="fa-IR"/>
              <a:t> تبدیل کند. این شرکت نشان داد که چگونه می‌توان آینده‌نگری را به صورت سیستماتیک در فرآیندهای استراتژیک و نوآوری سازمان تزریق کرد.</a:t>
            </a:r>
            <a:endParaRPr/>
          </a:p>
          <a:p>
            <a:pPr indent="-76200" lvl="0" marL="0" rtl="1" algn="r">
              <a:spcBef>
                <a:spcPts val="0"/>
              </a:spcBef>
              <a:spcAft>
                <a:spcPts val="0"/>
              </a:spcAft>
              <a:buClr>
                <a:schemeClr val="dk1"/>
              </a:buClr>
              <a:buSzPts val="1200"/>
              <a:buFont typeface="Calibri"/>
              <a:buAutoNum type="arabicPeriod"/>
            </a:pPr>
            <a:r>
              <a:rPr b="1" lang="fa-IR"/>
              <a:t>ایجاد ابزارهای مشخص و قابل مطالعه:</a:t>
            </a:r>
            <a:r>
              <a:rPr lang="fa-IR"/>
              <a:t> این شرکت ابزارهای ملموسی مانند </a:t>
            </a:r>
            <a:r>
              <a:rPr b="1" lang="fa-IR"/>
              <a:t>"رادار فناوری"</a:t>
            </a:r>
            <a:r>
              <a:rPr lang="fa-IR"/>
              <a:t> و </a:t>
            </a:r>
            <a:r>
              <a:rPr b="1" lang="fa-IR"/>
              <a:t>"رادار محصول و خدمات"</a:t>
            </a:r>
            <a:r>
              <a:rPr lang="fa-IR"/>
              <a:t> را ایجاد و به کار گرفت که به محققان (مانند روهربک) اجازه داد تا فرآیند و نتایج را به صورت عینی مطالعه کنند.</a:t>
            </a:r>
            <a:endParaRPr/>
          </a:p>
          <a:p>
            <a:pPr indent="-76200" lvl="0" marL="0" rtl="1" algn="r">
              <a:spcBef>
                <a:spcPts val="0"/>
              </a:spcBef>
              <a:spcAft>
                <a:spcPts val="0"/>
              </a:spcAft>
              <a:buClr>
                <a:schemeClr val="dk1"/>
              </a:buClr>
              <a:buSzPts val="1200"/>
              <a:buFont typeface="Calibri"/>
              <a:buAutoNum type="arabicPeriod"/>
            </a:pPr>
            <a:r>
              <a:rPr b="1" lang="fa-IR"/>
              <a:t>تأثیر قابل اندازه‌گیری:</a:t>
            </a:r>
            <a:r>
              <a:rPr lang="fa-IR"/>
              <a:t> تحقیقات انجام شده در این شرکت، به وضوح نشان داد که فعالیت‌های آینده‌نگری چگونه به تصمیمات استراتژیک بهتر، شناسایی فرصت‌های نوآورانه و کاهش ریسک‌های پیش‌بینی‌نشده منجر شده است.</a:t>
            </a:r>
            <a:endParaRPr/>
          </a:p>
          <a:p>
            <a:pPr indent="0" lvl="0" marL="0" rtl="1" algn="r">
              <a:spcBef>
                <a:spcPts val="0"/>
              </a:spcBef>
              <a:spcAft>
                <a:spcPts val="0"/>
              </a:spcAft>
              <a:buNone/>
            </a:pPr>
            <a:r>
              <a:rPr lang="fa-IR"/>
              <a:t>به طور خلاصه، دویچه تلکام انتخاب شده چون </a:t>
            </a:r>
            <a:r>
              <a:rPr b="1" lang="fa-IR"/>
              <a:t>یک نمونه واقعی و موفق از پیاده‌سازی تئوری‌های رنه روهربک در عمل</a:t>
            </a:r>
            <a:r>
              <a:rPr lang="fa-IR"/>
              <a:t> است.</a:t>
            </a:r>
            <a:endParaRPr/>
          </a:p>
        </p:txBody>
      </p:sp>
      <p:sp>
        <p:nvSpPr>
          <p:cNvPr id="258" name="Google Shape;25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"دستیابی به </a:t>
            </a:r>
            <a:r>
              <a:rPr b="1" lang="fa-IR"/>
              <a:t>Future FITness</a:t>
            </a:r>
            <a:r>
              <a:rPr lang="fa-IR"/>
              <a:t> با چالش‌هایی همراه است که در بسیاری از سازمان‌ها وجود دارند. در اینجا به بررسی برخی از این چالش‌ها و راه‌حل‌های ممکن می‌پردازیم:</a:t>
            </a:r>
            <a:endParaRPr/>
          </a:p>
          <a:p>
            <a:pPr indent="-76200" lvl="0" marL="0" rtl="1" algn="r">
              <a:spcBef>
                <a:spcPts val="0"/>
              </a:spcBef>
              <a:spcAft>
                <a:spcPts val="0"/>
              </a:spcAft>
              <a:buClr>
                <a:schemeClr val="dk1"/>
              </a:buClr>
              <a:buSzPts val="1200"/>
              <a:buFont typeface="Calibri"/>
              <a:buAutoNum type="arabicPeriod"/>
            </a:pPr>
            <a:r>
              <a:rPr b="1" lang="fa-IR"/>
              <a:t>مقاومت در برابر تغییر:</a:t>
            </a:r>
            <a:br>
              <a:rPr lang="fa-IR"/>
            </a:br>
            <a:r>
              <a:rPr lang="fa-IR"/>
              <a:t>بسیاری از افراد و سازمان‌ها در برابر تغییرات مقاوم هستند. این مقاومت می‌تواند ناشی از ترس از ناآشنا بودن با شرایط جدید باشد.</a:t>
            </a:r>
            <a:br>
              <a:rPr lang="fa-IR"/>
            </a:br>
            <a:r>
              <a:rPr b="1" lang="fa-IR"/>
              <a:t>راه‌حل:</a:t>
            </a:r>
            <a:r>
              <a:rPr lang="fa-IR"/>
              <a:t> برای غلبه بر این چالش، باید فرهنگ تغییرپذیری و تفکر انعطاف‌پذیر در سازمان‌ها تقویت شود.</a:t>
            </a:r>
            <a:endParaRPr/>
          </a:p>
          <a:p>
            <a:pPr indent="-76200" lvl="0" marL="0" rtl="1" algn="r">
              <a:spcBef>
                <a:spcPts val="0"/>
              </a:spcBef>
              <a:spcAft>
                <a:spcPts val="0"/>
              </a:spcAft>
              <a:buClr>
                <a:schemeClr val="dk1"/>
              </a:buClr>
              <a:buSzPts val="1200"/>
              <a:buFont typeface="Calibri"/>
              <a:buAutoNum type="arabicPeriod"/>
            </a:pPr>
            <a:r>
              <a:rPr b="1" lang="fa-IR"/>
              <a:t>شکاف مهارتی در نیروی کار:</a:t>
            </a:r>
            <a:br>
              <a:rPr lang="fa-IR"/>
            </a:br>
            <a:r>
              <a:rPr lang="fa-IR"/>
              <a:t>با پیشرفت فناوری و تغییرات بازار، مهارت‌های کارکنان ممکن است دیگر متناسب با نیازهای جدید نباشد.</a:t>
            </a:r>
            <a:br>
              <a:rPr lang="fa-IR"/>
            </a:br>
            <a:r>
              <a:rPr b="1" lang="fa-IR"/>
              <a:t>راه‌حل:</a:t>
            </a:r>
            <a:r>
              <a:rPr lang="fa-IR"/>
              <a:t> سرمایه‌گذاری در برنامه‌های آموزشی و بازآموزی برای کمک به کارکنان برای پر کردن این شکاف ضروری است.</a:t>
            </a:r>
            <a:endParaRPr/>
          </a:p>
          <a:p>
            <a:pPr indent="-76200" lvl="0" marL="0" rtl="1" algn="r">
              <a:spcBef>
                <a:spcPts val="0"/>
              </a:spcBef>
              <a:spcAft>
                <a:spcPts val="0"/>
              </a:spcAft>
              <a:buClr>
                <a:schemeClr val="dk1"/>
              </a:buClr>
              <a:buSzPts val="1200"/>
              <a:buFont typeface="Calibri"/>
              <a:buAutoNum type="arabicPeriod"/>
            </a:pPr>
            <a:r>
              <a:rPr b="1" lang="fa-IR"/>
              <a:t>پیچیدگی در مدیریت اکوسیستم‌های تعاملی:</a:t>
            </a:r>
            <a:br>
              <a:rPr lang="fa-IR"/>
            </a:br>
            <a:r>
              <a:rPr lang="fa-IR"/>
              <a:t>در جهانی که ارتباطات و همکاری‌ها به‌طور فزاینده‌ای پیچیده می‌شود، هماهنگی با شرکا و ذی‌نفعان دشوار است.</a:t>
            </a:r>
            <a:br>
              <a:rPr lang="fa-IR"/>
            </a:br>
            <a:r>
              <a:rPr b="1" lang="fa-IR"/>
              <a:t>راه‌حل:</a:t>
            </a:r>
            <a:r>
              <a:rPr lang="fa-IR"/>
              <a:t> استفاده از فناوری‌هایی مانند بلاکچین و سیستم‌های باز برای ایجاد شفافیت و تسهیل تعاملات مؤثر میان ذی‌نفعان.</a:t>
            </a:r>
            <a:endParaRPr/>
          </a:p>
          <a:p>
            <a:pPr indent="-76200" lvl="0" marL="0" rtl="1" algn="r">
              <a:spcBef>
                <a:spcPts val="0"/>
              </a:spcBef>
              <a:spcAft>
                <a:spcPts val="0"/>
              </a:spcAft>
              <a:buClr>
                <a:schemeClr val="dk1"/>
              </a:buClr>
              <a:buSzPts val="1200"/>
              <a:buFont typeface="Calibri"/>
              <a:buAutoNum type="arabicPeriod"/>
            </a:pPr>
            <a:r>
              <a:rPr b="1" lang="fa-IR"/>
              <a:t>تعارض اهداف کوتاه‌مدت و بلندمدت:</a:t>
            </a:r>
            <a:br>
              <a:rPr lang="fa-IR"/>
            </a:br>
            <a:r>
              <a:rPr lang="fa-IR"/>
              <a:t>بسیاری از سازمان‌ها ممکن است در تلاش باشند که بین نیازهای فوری و اهداف بلندمدت تعادل ایجاد کنند.</a:t>
            </a:r>
            <a:br>
              <a:rPr lang="fa-IR"/>
            </a:br>
            <a:r>
              <a:rPr b="1" lang="fa-IR"/>
              <a:t>راه‌حل:</a:t>
            </a:r>
            <a:r>
              <a:rPr lang="fa-IR"/>
              <a:t> تنظیم استراتژی‌های پایدار و تخصیص منابع به‌گونه‌ای که از اهداف بلندمدت حمایت کند، کلیدی است.</a:t>
            </a:r>
            <a:endParaRPr/>
          </a:p>
          <a:p>
            <a:pPr indent="0" lvl="0" marL="0" rtl="1" algn="r">
              <a:spcBef>
                <a:spcPts val="0"/>
              </a:spcBef>
              <a:spcAft>
                <a:spcPts val="0"/>
              </a:spcAft>
              <a:buNone/>
            </a:pPr>
            <a:r>
              <a:rPr lang="fa-IR"/>
              <a:t>با شناسایی و رسیدگی به این چالش‌ها، سازمان‌ها می‌توانند به‌طور مؤثری برای Future FITness آماده شوند."</a:t>
            </a:r>
            <a:endParaRPr/>
          </a:p>
        </p:txBody>
      </p:sp>
      <p:sp>
        <p:nvSpPr>
          <p:cNvPr id="266" name="Google Shape;26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ر این ارائه با مفهوم Future FITness آشنا شدیم؛ یک چارچوب کلیدی برای موفقیت در دنیای پیچیده و نامطمئن.</a:t>
            </a:r>
            <a:br>
              <a:rPr lang="fa-IR"/>
            </a:br>
            <a:r>
              <a:rPr lang="fa-IR"/>
              <a:t>Future FITness بر چهار مؤلفه اصلی استوار است: </a:t>
            </a:r>
            <a:r>
              <a:rPr b="1" lang="fa-IR"/>
              <a:t>قابلیت‌های پویا، تفکر آینده‌نگر، اجرای انطباقی، و اکوسیستم‌های تعاملی.</a:t>
            </a:r>
            <a:r>
              <a:rPr lang="fa-IR"/>
              <a:t> این عناصر سازمان‌ها را قادر می‌سازند که تغییرات را مدیریت کرده، ارزش پایدار ایجاد کنند، و در بازار رقابت برتری داشته باشند.</a:t>
            </a:r>
            <a:endParaRPr/>
          </a:p>
          <a:p>
            <a:pPr indent="0" lvl="0" marL="0" rtl="1" algn="r">
              <a:spcBef>
                <a:spcPts val="0"/>
              </a:spcBef>
              <a:spcAft>
                <a:spcPts val="0"/>
              </a:spcAft>
              <a:buNone/>
            </a:pPr>
            <a:r>
              <a:rPr lang="fa-IR"/>
              <a:t>همچنین چالش‌هایی مانند مقاومت در برابر تغییر و شکاف مهارتی را بررسی کردیم و راه‌حل‌هایی برای رفع آن‌ها ارائه دادیم.</a:t>
            </a:r>
            <a:endParaRPr/>
          </a:p>
          <a:p>
            <a:pPr indent="0" lvl="0" marL="0" rtl="1" algn="r">
              <a:spcBef>
                <a:spcPts val="0"/>
              </a:spcBef>
              <a:spcAft>
                <a:spcPts val="0"/>
              </a:spcAft>
              <a:buNone/>
            </a:pPr>
            <a:r>
              <a:rPr lang="fa-IR"/>
              <a:t>در پایان، باید یادآور شوم که Future FITness نه‌تنها یک هدف است، بلکه سفری است که نیازمند یادگیری مداوم، نوآوری، و تعهد به پایداری است.</a:t>
            </a:r>
            <a:endParaRPr/>
          </a:p>
        </p:txBody>
      </p:sp>
      <p:sp>
        <p:nvSpPr>
          <p:cNvPr id="274" name="Google Shape;27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fa-IR"/>
              <a:t>"Future Readiness و Future FITness هر دو مفاهیم کلیدی برای موفقیت در دنیای پیچیده امروز هستند، اما تفاوت‌های قابل‌توجهی دارند:</a:t>
            </a:r>
            <a:endParaRPr/>
          </a:p>
          <a:p>
            <a:pPr indent="-76200" lvl="0" marL="0" rtl="1" algn="r">
              <a:spcBef>
                <a:spcPts val="0"/>
              </a:spcBef>
              <a:spcAft>
                <a:spcPts val="0"/>
              </a:spcAft>
              <a:buClr>
                <a:schemeClr val="dk1"/>
              </a:buClr>
              <a:buSzPts val="1200"/>
              <a:buFont typeface="Calibri"/>
              <a:buAutoNum type="arabicPeriod"/>
            </a:pPr>
            <a:r>
              <a:rPr b="1" lang="fa-IR"/>
              <a:t>تمرکز اصلی:</a:t>
            </a:r>
            <a:br>
              <a:rPr lang="fa-IR"/>
            </a:br>
            <a:r>
              <a:rPr lang="fa-IR"/>
              <a:t>در حالی که Future Readiness بر پیش‌بینی و برنامه‌ریزی برای تغییرات متمرکز است، Future FITness به توانایی سازگاری، نوآوری و رشد مداوم توجه دارد.</a:t>
            </a:r>
            <a:endParaRPr/>
          </a:p>
          <a:p>
            <a:pPr indent="-76200" lvl="0" marL="0" rtl="1" algn="r">
              <a:spcBef>
                <a:spcPts val="0"/>
              </a:spcBef>
              <a:spcAft>
                <a:spcPts val="0"/>
              </a:spcAft>
              <a:buClr>
                <a:schemeClr val="dk1"/>
              </a:buClr>
              <a:buSzPts val="1200"/>
              <a:buFont typeface="Calibri"/>
              <a:buAutoNum type="arabicPeriod"/>
            </a:pPr>
            <a:r>
              <a:rPr b="1" lang="fa-IR"/>
              <a:t>هدف:</a:t>
            </a:r>
            <a:br>
              <a:rPr lang="fa-IR"/>
            </a:br>
            <a:r>
              <a:rPr lang="fa-IR"/>
              <a:t>Future Readiness به معنای آماده بودن برای تغییرات است، در حالی که Future FITness سازمان‌ها را قادر می‌سازد که به‌طور فعال آینده‌های مطلوب را شکل دهند.</a:t>
            </a:r>
            <a:endParaRPr/>
          </a:p>
          <a:p>
            <a:pPr indent="-76200" lvl="0" marL="0" rtl="1" algn="r">
              <a:spcBef>
                <a:spcPts val="0"/>
              </a:spcBef>
              <a:spcAft>
                <a:spcPts val="0"/>
              </a:spcAft>
              <a:buClr>
                <a:schemeClr val="dk1"/>
              </a:buClr>
              <a:buSzPts val="1200"/>
              <a:buFont typeface="Calibri"/>
              <a:buAutoNum type="arabicPeriod"/>
            </a:pPr>
            <a:r>
              <a:rPr b="1" lang="fa-IR"/>
              <a:t>رویکرد:</a:t>
            </a:r>
            <a:br>
              <a:rPr lang="fa-IR"/>
            </a:br>
            <a:r>
              <a:rPr lang="fa-IR"/>
              <a:t>Readiness رویکردی پیشگیرانه و واکنشی دارد؛ یعنی از پیش برای تغییرات آماده می‌شود. FITness رویکردی پویا دارد و بر انطباق‌پذیری مداوم تأکید می‌کند.</a:t>
            </a:r>
            <a:endParaRPr/>
          </a:p>
          <a:p>
            <a:pPr indent="-76200" lvl="0" marL="0" rtl="1" algn="r">
              <a:spcBef>
                <a:spcPts val="0"/>
              </a:spcBef>
              <a:spcAft>
                <a:spcPts val="0"/>
              </a:spcAft>
              <a:buClr>
                <a:schemeClr val="dk1"/>
              </a:buClr>
              <a:buSzPts val="1200"/>
              <a:buFont typeface="Calibri"/>
              <a:buAutoNum type="arabicPeriod"/>
            </a:pPr>
            <a:r>
              <a:rPr b="1" lang="fa-IR"/>
              <a:t>دوره زمانی:</a:t>
            </a:r>
            <a:br>
              <a:rPr lang="fa-IR"/>
            </a:br>
            <a:r>
              <a:rPr lang="fa-IR"/>
              <a:t>Readiness معمولاً بر دوره‌های کوتاه‌مدت تا میان‌مدت تمرکز دارد، اما FITness یک فرآیند بلندمدت و مداوم است.</a:t>
            </a:r>
            <a:endParaRPr/>
          </a:p>
          <a:p>
            <a:pPr indent="-76200" lvl="0" marL="0" rtl="1" algn="r">
              <a:spcBef>
                <a:spcPts val="0"/>
              </a:spcBef>
              <a:spcAft>
                <a:spcPts val="0"/>
              </a:spcAft>
              <a:buClr>
                <a:schemeClr val="dk1"/>
              </a:buClr>
              <a:buSzPts val="1200"/>
              <a:buFont typeface="Calibri"/>
              <a:buAutoNum type="arabicPeriod"/>
            </a:pPr>
            <a:r>
              <a:rPr b="1" lang="fa-IR"/>
              <a:t>نمونه‌ها:</a:t>
            </a:r>
            <a:br>
              <a:rPr lang="fa-IR"/>
            </a:br>
            <a:r>
              <a:rPr lang="fa-IR"/>
              <a:t>Future Readiness را می‌توان در شرکت‌هایی مانند Zoom در ابتدای همه‌گیری مشاهده کرد که برای کار از راه دور آماده بودند. در مقابل، Future FITness را می‌توان در شرکت‌هایی مانند Tesla دید که به‌طور مداوم مدل‌های کسب‌وکار خود را تغییر داده و بهبود می‌بخشند.</a:t>
            </a:r>
            <a:endParaRPr/>
          </a:p>
          <a:p>
            <a:pPr indent="0" lvl="0" marL="0" rtl="1" algn="r">
              <a:spcBef>
                <a:spcPts val="0"/>
              </a:spcBef>
              <a:spcAft>
                <a:spcPts val="0"/>
              </a:spcAft>
              <a:buNone/>
            </a:pPr>
            <a:r>
              <a:rPr lang="fa-IR"/>
              <a:t>این تفاوت‌ها نشان می‌دهد که Future FITness می‌تواند به‌عنوان گامی فراتر از Future Readiness در نظر گرفته شود و به سازمان‌ها کمک کند تا در دنیای پویا و متغیر نه‌تنها آماده شوند، بلکه آینده‌ای مطلوب ایجاد کنند."</a:t>
            </a:r>
            <a:endParaRPr/>
          </a:p>
        </p:txBody>
      </p:sp>
      <p:sp>
        <p:nvSpPr>
          <p:cNvPr id="281" name="Google Shape;28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27"/>
          <p:cNvSpPr/>
          <p:nvPr/>
        </p:nvSpPr>
        <p:spPr>
          <a:xfrm>
            <a:off x="0" y="0"/>
            <a:ext cx="12192000" cy="6858000"/>
          </a:xfrm>
          <a:prstGeom prst="rect">
            <a:avLst/>
          </a:prstGeom>
          <a:solidFill>
            <a:srgbClr val="FEFE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 name="Google Shape;20;p27"/>
          <p:cNvSpPr/>
          <p:nvPr/>
        </p:nvSpPr>
        <p:spPr>
          <a:xfrm>
            <a:off x="1307870" y="1267730"/>
            <a:ext cx="9576262" cy="4307950"/>
          </a:xfrm>
          <a:prstGeom prst="rect">
            <a:avLst/>
          </a:prstGeom>
          <a:solidFill>
            <a:schemeClr val="dk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7"/>
          <p:cNvSpPr/>
          <p:nvPr/>
        </p:nvSpPr>
        <p:spPr>
          <a:xfrm>
            <a:off x="1447801" y="1411615"/>
            <a:ext cx="9296400" cy="4034770"/>
          </a:xfrm>
          <a:prstGeom prst="rect">
            <a:avLst/>
          </a:prstGeom>
          <a:noFill/>
          <a:ln cap="sq" cmpd="sng" w="9525">
            <a:solidFill>
              <a:srgbClr val="FEFEF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7"/>
          <p:cNvSpPr/>
          <p:nvPr/>
        </p:nvSpPr>
        <p:spPr>
          <a:xfrm>
            <a:off x="5135880" y="1267730"/>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 name="Google Shape;23;p27"/>
          <p:cNvGrpSpPr/>
          <p:nvPr/>
        </p:nvGrpSpPr>
        <p:grpSpPr>
          <a:xfrm>
            <a:off x="5250180" y="1267730"/>
            <a:ext cx="1691640" cy="615934"/>
            <a:chOff x="5250180" y="1267730"/>
            <a:chExt cx="1691640" cy="615934"/>
          </a:xfrm>
        </p:grpSpPr>
        <p:cxnSp>
          <p:nvCxnSpPr>
            <p:cNvPr id="24" name="Google Shape;24;p27"/>
            <p:cNvCxnSpPr/>
            <p:nvPr/>
          </p:nvCxnSpPr>
          <p:spPr>
            <a:xfrm>
              <a:off x="5250180" y="1267730"/>
              <a:ext cx="0" cy="612648"/>
            </a:xfrm>
            <a:prstGeom prst="straightConnector1">
              <a:avLst/>
            </a:prstGeom>
            <a:solidFill>
              <a:srgbClr val="FEFEFE"/>
            </a:solidFill>
            <a:ln cap="flat" cmpd="sng" w="9525">
              <a:solidFill>
                <a:srgbClr val="FFFFFF"/>
              </a:solidFill>
              <a:prstDash val="solid"/>
              <a:miter lim="800000"/>
              <a:headEnd len="sm" w="sm" type="none"/>
              <a:tailEnd len="sm" w="sm" type="none"/>
            </a:ln>
          </p:spPr>
        </p:cxnSp>
        <p:cxnSp>
          <p:nvCxnSpPr>
            <p:cNvPr id="25" name="Google Shape;25;p27"/>
            <p:cNvCxnSpPr/>
            <p:nvPr/>
          </p:nvCxnSpPr>
          <p:spPr>
            <a:xfrm>
              <a:off x="6941820" y="1267730"/>
              <a:ext cx="0" cy="612648"/>
            </a:xfrm>
            <a:prstGeom prst="straightConnector1">
              <a:avLst/>
            </a:prstGeom>
            <a:solidFill>
              <a:srgbClr val="FEFEFE"/>
            </a:solidFill>
            <a:ln cap="flat" cmpd="sng" w="9525">
              <a:solidFill>
                <a:srgbClr val="FFFFFF"/>
              </a:solidFill>
              <a:prstDash val="solid"/>
              <a:miter lim="800000"/>
              <a:headEnd len="sm" w="sm" type="none"/>
              <a:tailEnd len="sm" w="sm" type="none"/>
            </a:ln>
          </p:spPr>
        </p:cxnSp>
        <p:cxnSp>
          <p:nvCxnSpPr>
            <p:cNvPr id="26" name="Google Shape;26;p27"/>
            <p:cNvCxnSpPr/>
            <p:nvPr/>
          </p:nvCxnSpPr>
          <p:spPr>
            <a:xfrm>
              <a:off x="5250180" y="1883664"/>
              <a:ext cx="1691640" cy="0"/>
            </a:xfrm>
            <a:prstGeom prst="straightConnector1">
              <a:avLst/>
            </a:prstGeom>
            <a:solidFill>
              <a:srgbClr val="FEFEFE"/>
            </a:solidFill>
            <a:ln cap="flat" cmpd="sng" w="9525">
              <a:solidFill>
                <a:srgbClr val="FFFFFF"/>
              </a:solidFill>
              <a:prstDash val="solid"/>
              <a:miter lim="800000"/>
              <a:headEnd len="sm" w="sm" type="none"/>
              <a:tailEnd len="sm" w="sm" type="none"/>
            </a:ln>
          </p:spPr>
        </p:cxnSp>
      </p:grpSp>
      <p:sp>
        <p:nvSpPr>
          <p:cNvPr id="27" name="Google Shape;27;p27"/>
          <p:cNvSpPr txBox="1"/>
          <p:nvPr>
            <p:ph type="ctrTitle"/>
          </p:nvPr>
        </p:nvSpPr>
        <p:spPr>
          <a:xfrm>
            <a:off x="1629103" y="2244830"/>
            <a:ext cx="8933796" cy="2437232"/>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FEFEFE"/>
              </a:buClr>
              <a:buSzPts val="6800"/>
              <a:buFont typeface="Arial"/>
              <a:buNone/>
              <a:defRPr b="0" sz="6800" cap="none">
                <a:solidFill>
                  <a:srgbClr val="FEFEFE"/>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7"/>
          <p:cNvSpPr txBox="1"/>
          <p:nvPr>
            <p:ph idx="1" type="subTitle"/>
          </p:nvPr>
        </p:nvSpPr>
        <p:spPr>
          <a:xfrm>
            <a:off x="1629101" y="4682062"/>
            <a:ext cx="8936846" cy="457201"/>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0"/>
              </a:spcBef>
              <a:spcAft>
                <a:spcPts val="0"/>
              </a:spcAft>
              <a:buSzPts val="1800"/>
              <a:buNone/>
              <a:defRPr sz="1800">
                <a:solidFill>
                  <a:srgbClr val="FEFEFE"/>
                </a:solidFill>
              </a:defRPr>
            </a:lvl1pPr>
            <a:lvl2pPr lvl="1" algn="ctr">
              <a:lnSpc>
                <a:spcPct val="100000"/>
              </a:lnSpc>
              <a:spcBef>
                <a:spcPts val="500"/>
              </a:spcBef>
              <a:spcAft>
                <a:spcPts val="0"/>
              </a:spcAft>
              <a:buSzPts val="1600"/>
              <a:buNone/>
              <a:defRPr sz="1600"/>
            </a:lvl2pPr>
            <a:lvl3pPr lvl="2" algn="ctr">
              <a:lnSpc>
                <a:spcPct val="100000"/>
              </a:lnSpc>
              <a:spcBef>
                <a:spcPts val="500"/>
              </a:spcBef>
              <a:spcAft>
                <a:spcPts val="0"/>
              </a:spcAft>
              <a:buSzPts val="1600"/>
              <a:buNone/>
              <a:defRPr sz="16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29" name="Google Shape;29;p27"/>
          <p:cNvSpPr txBox="1"/>
          <p:nvPr>
            <p:ph idx="10" type="dt"/>
          </p:nvPr>
        </p:nvSpPr>
        <p:spPr>
          <a:xfrm>
            <a:off x="5318760" y="1341256"/>
            <a:ext cx="1554480" cy="485546"/>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7"/>
          <p:cNvSpPr txBox="1"/>
          <p:nvPr>
            <p:ph idx="11" type="ftr"/>
          </p:nvPr>
        </p:nvSpPr>
        <p:spPr>
          <a:xfrm>
            <a:off x="1629100" y="5177408"/>
            <a:ext cx="5730295"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FEFEFE"/>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7"/>
          <p:cNvSpPr txBox="1"/>
          <p:nvPr>
            <p:ph idx="12" type="sldNum"/>
          </p:nvPr>
        </p:nvSpPr>
        <p:spPr>
          <a:xfrm>
            <a:off x="8606920" y="5177408"/>
            <a:ext cx="1955980"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800" u="none" cap="none" strike="noStrike">
                <a:solidFill>
                  <a:srgbClr val="FEFEFE"/>
                </a:solidFill>
                <a:latin typeface="Arial"/>
                <a:ea typeface="Arial"/>
                <a:cs typeface="Arial"/>
                <a:sym typeface="Arial"/>
              </a:defRPr>
            </a:lvl1pPr>
            <a:lvl2pPr indent="0" lvl="1" marL="0" algn="r">
              <a:spcBef>
                <a:spcPts val="0"/>
              </a:spcBef>
              <a:buNone/>
              <a:defRPr b="0" i="0" sz="800" u="none" cap="none" strike="noStrike">
                <a:solidFill>
                  <a:srgbClr val="FEFEFE"/>
                </a:solidFill>
                <a:latin typeface="Arial"/>
                <a:ea typeface="Arial"/>
                <a:cs typeface="Arial"/>
                <a:sym typeface="Arial"/>
              </a:defRPr>
            </a:lvl2pPr>
            <a:lvl3pPr indent="0" lvl="2" marL="0" algn="r">
              <a:spcBef>
                <a:spcPts val="0"/>
              </a:spcBef>
              <a:buNone/>
              <a:defRPr b="0" i="0" sz="800" u="none" cap="none" strike="noStrike">
                <a:solidFill>
                  <a:srgbClr val="FEFEFE"/>
                </a:solidFill>
                <a:latin typeface="Arial"/>
                <a:ea typeface="Arial"/>
                <a:cs typeface="Arial"/>
                <a:sym typeface="Arial"/>
              </a:defRPr>
            </a:lvl3pPr>
            <a:lvl4pPr indent="0" lvl="3" marL="0" algn="r">
              <a:spcBef>
                <a:spcPts val="0"/>
              </a:spcBef>
              <a:buNone/>
              <a:defRPr b="0" i="0" sz="800" u="none" cap="none" strike="noStrike">
                <a:solidFill>
                  <a:srgbClr val="FEFEFE"/>
                </a:solidFill>
                <a:latin typeface="Arial"/>
                <a:ea typeface="Arial"/>
                <a:cs typeface="Arial"/>
                <a:sym typeface="Arial"/>
              </a:defRPr>
            </a:lvl4pPr>
            <a:lvl5pPr indent="0" lvl="4" marL="0" algn="r">
              <a:spcBef>
                <a:spcPts val="0"/>
              </a:spcBef>
              <a:buNone/>
              <a:defRPr b="0" i="0" sz="800" u="none" cap="none" strike="noStrike">
                <a:solidFill>
                  <a:srgbClr val="FEFEFE"/>
                </a:solidFill>
                <a:latin typeface="Arial"/>
                <a:ea typeface="Arial"/>
                <a:cs typeface="Arial"/>
                <a:sym typeface="Arial"/>
              </a:defRPr>
            </a:lvl5pPr>
            <a:lvl6pPr indent="0" lvl="5" marL="0" algn="r">
              <a:spcBef>
                <a:spcPts val="0"/>
              </a:spcBef>
              <a:buNone/>
              <a:defRPr b="0" i="0" sz="800" u="none" cap="none" strike="noStrike">
                <a:solidFill>
                  <a:srgbClr val="FEFEFE"/>
                </a:solidFill>
                <a:latin typeface="Arial"/>
                <a:ea typeface="Arial"/>
                <a:cs typeface="Arial"/>
                <a:sym typeface="Arial"/>
              </a:defRPr>
            </a:lvl6pPr>
            <a:lvl7pPr indent="0" lvl="6" marL="0" algn="r">
              <a:spcBef>
                <a:spcPts val="0"/>
              </a:spcBef>
              <a:buNone/>
              <a:defRPr b="0" i="0" sz="800" u="none" cap="none" strike="noStrike">
                <a:solidFill>
                  <a:srgbClr val="FEFEFE"/>
                </a:solidFill>
                <a:latin typeface="Arial"/>
                <a:ea typeface="Arial"/>
                <a:cs typeface="Arial"/>
                <a:sym typeface="Arial"/>
              </a:defRPr>
            </a:lvl7pPr>
            <a:lvl8pPr indent="0" lvl="7" marL="0" algn="r">
              <a:spcBef>
                <a:spcPts val="0"/>
              </a:spcBef>
              <a:buNone/>
              <a:defRPr b="0" i="0" sz="800" u="none" cap="none" strike="noStrike">
                <a:solidFill>
                  <a:srgbClr val="FEFEFE"/>
                </a:solidFill>
                <a:latin typeface="Arial"/>
                <a:ea typeface="Arial"/>
                <a:cs typeface="Arial"/>
                <a:sym typeface="Arial"/>
              </a:defRPr>
            </a:lvl8pPr>
            <a:lvl9pPr indent="0" lvl="8" marL="0" algn="r">
              <a:spcBef>
                <a:spcPts val="0"/>
              </a:spcBef>
              <a:buNone/>
              <a:defRPr b="0" i="0" sz="800" u="none" cap="none" strike="noStrike">
                <a:solidFill>
                  <a:srgbClr val="FEFEF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p28"/>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8"/>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900"/>
              </a:spcBef>
              <a:spcAft>
                <a:spcPts val="0"/>
              </a:spcAft>
              <a:buSzPts val="1800"/>
              <a:buChar char="◦"/>
              <a:defRPr/>
            </a:lvl1pPr>
            <a:lvl2pPr indent="-342900" lvl="1" marL="914400" algn="l">
              <a:lnSpc>
                <a:spcPct val="100000"/>
              </a:lnSpc>
              <a:spcBef>
                <a:spcPts val="500"/>
              </a:spcBef>
              <a:spcAft>
                <a:spcPts val="0"/>
              </a:spcAft>
              <a:buSzPts val="1800"/>
              <a:buChar char="◦"/>
              <a:defRPr/>
            </a:lvl2pPr>
            <a:lvl3pPr indent="-342900" lvl="2" marL="1371600" algn="l">
              <a:lnSpc>
                <a:spcPct val="100000"/>
              </a:lnSpc>
              <a:spcBef>
                <a:spcPts val="500"/>
              </a:spcBef>
              <a:spcAft>
                <a:spcPts val="0"/>
              </a:spcAft>
              <a:buSzPts val="1800"/>
              <a:buChar char="◦"/>
              <a:defRPr/>
            </a:lvl3pPr>
            <a:lvl4pPr indent="-342900" lvl="3" marL="1828800" algn="l">
              <a:lnSpc>
                <a:spcPct val="100000"/>
              </a:lnSpc>
              <a:spcBef>
                <a:spcPts val="500"/>
              </a:spcBef>
              <a:spcAft>
                <a:spcPts val="0"/>
              </a:spcAft>
              <a:buSzPts val="1800"/>
              <a:buChar char="◦"/>
              <a:defRPr/>
            </a:lvl4pPr>
            <a:lvl5pPr indent="-342900" lvl="4" marL="2286000" algn="l">
              <a:lnSpc>
                <a:spcPct val="100000"/>
              </a:lnSpc>
              <a:spcBef>
                <a:spcPts val="500"/>
              </a:spcBef>
              <a:spcAft>
                <a:spcPts val="0"/>
              </a:spcAft>
              <a:buSzPts val="1800"/>
              <a:buChar char="◦"/>
              <a:defRPr/>
            </a:lvl5pPr>
            <a:lvl6pPr indent="-342900" lvl="5" marL="2743200" algn="l">
              <a:lnSpc>
                <a:spcPct val="100000"/>
              </a:lnSpc>
              <a:spcBef>
                <a:spcPts val="500"/>
              </a:spcBef>
              <a:spcAft>
                <a:spcPts val="0"/>
              </a:spcAft>
              <a:buSzPts val="1800"/>
              <a:buChar char="◦"/>
              <a:defRPr/>
            </a:lvl6pPr>
            <a:lvl7pPr indent="-342900" lvl="6" marL="3200400" algn="l">
              <a:lnSpc>
                <a:spcPct val="100000"/>
              </a:lnSpc>
              <a:spcBef>
                <a:spcPts val="500"/>
              </a:spcBef>
              <a:spcAft>
                <a:spcPts val="0"/>
              </a:spcAft>
              <a:buSzPts val="1800"/>
              <a:buChar char="◦"/>
              <a:defRPr/>
            </a:lvl7pPr>
            <a:lvl8pPr indent="-342900" lvl="7" marL="3657600" algn="l">
              <a:lnSpc>
                <a:spcPct val="100000"/>
              </a:lnSpc>
              <a:spcBef>
                <a:spcPts val="500"/>
              </a:spcBef>
              <a:spcAft>
                <a:spcPts val="0"/>
              </a:spcAft>
              <a:buSzPts val="1800"/>
              <a:buChar char="◦"/>
              <a:defRPr/>
            </a:lvl8pPr>
            <a:lvl9pPr indent="-342900" lvl="8" marL="4114800" algn="l">
              <a:lnSpc>
                <a:spcPct val="100000"/>
              </a:lnSpc>
              <a:spcBef>
                <a:spcPts val="500"/>
              </a:spcBef>
              <a:spcAft>
                <a:spcPts val="0"/>
              </a:spcAft>
              <a:buSzPts val="1800"/>
              <a:buChar char="◦"/>
              <a:defRPr/>
            </a:lvl9pPr>
          </a:lstStyle>
          <a:p/>
        </p:txBody>
      </p:sp>
      <p:sp>
        <p:nvSpPr>
          <p:cNvPr id="44" name="Google Shape;44;p28"/>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8"/>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8"/>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7" name="Shape 47"/>
        <p:cNvGrpSpPr/>
        <p:nvPr/>
      </p:nvGrpSpPr>
      <p:grpSpPr>
        <a:xfrm>
          <a:off x="0" y="0"/>
          <a:ext cx="0" cy="0"/>
          <a:chOff x="0" y="0"/>
          <a:chExt cx="0" cy="0"/>
        </a:xfrm>
      </p:grpSpPr>
      <p:sp>
        <p:nvSpPr>
          <p:cNvPr id="48" name="Google Shape;48;p26"/>
          <p:cNvSpPr/>
          <p:nvPr/>
        </p:nvSpPr>
        <p:spPr>
          <a:xfrm>
            <a:off x="0" y="0"/>
            <a:ext cx="12192000" cy="68580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9" name="Google Shape;49;p26"/>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6"/>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6"/>
          <p:cNvSpPr/>
          <p:nvPr/>
        </p:nvSpPr>
        <p:spPr>
          <a:xfrm>
            <a:off x="5135880" y="1267730"/>
            <a:ext cx="1920240" cy="7315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 name="Google Shape;52;p26"/>
          <p:cNvGrpSpPr/>
          <p:nvPr/>
        </p:nvGrpSpPr>
        <p:grpSpPr>
          <a:xfrm>
            <a:off x="5250180" y="1267730"/>
            <a:ext cx="1691640" cy="615934"/>
            <a:chOff x="5250180" y="1267730"/>
            <a:chExt cx="1691640" cy="615934"/>
          </a:xfrm>
        </p:grpSpPr>
        <p:cxnSp>
          <p:nvCxnSpPr>
            <p:cNvPr id="53" name="Google Shape;53;p26"/>
            <p:cNvCxnSpPr/>
            <p:nvPr/>
          </p:nvCxnSpPr>
          <p:spPr>
            <a:xfrm>
              <a:off x="525018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54" name="Google Shape;54;p26"/>
            <p:cNvCxnSpPr/>
            <p:nvPr/>
          </p:nvCxnSpPr>
          <p:spPr>
            <a:xfrm>
              <a:off x="694182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55" name="Google Shape;55;p26"/>
            <p:cNvCxnSpPr/>
            <p:nvPr/>
          </p:nvCxnSpPr>
          <p:spPr>
            <a:xfrm>
              <a:off x="5250180" y="1883664"/>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56" name="Google Shape;56;p26"/>
          <p:cNvSpPr txBox="1"/>
          <p:nvPr>
            <p:ph type="ctrTitle"/>
          </p:nvPr>
        </p:nvSpPr>
        <p:spPr>
          <a:xfrm>
            <a:off x="1629103" y="2244830"/>
            <a:ext cx="8933796" cy="2437232"/>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262626"/>
              </a:buClr>
              <a:buSzPts val="6800"/>
              <a:buFont typeface="Arial"/>
              <a:buNone/>
              <a:defRPr b="0" sz="6800" cap="none">
                <a:solidFill>
                  <a:srgbClr val="262626"/>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6"/>
          <p:cNvSpPr txBox="1"/>
          <p:nvPr>
            <p:ph idx="1" type="subTitle"/>
          </p:nvPr>
        </p:nvSpPr>
        <p:spPr>
          <a:xfrm>
            <a:off x="1629101" y="4682062"/>
            <a:ext cx="8936846" cy="457201"/>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0"/>
              </a:spcBef>
              <a:spcAft>
                <a:spcPts val="0"/>
              </a:spcAft>
              <a:buSzPts val="1800"/>
              <a:buNone/>
              <a:defRPr sz="1800">
                <a:solidFill>
                  <a:srgbClr val="0C0C0C"/>
                </a:solidFill>
              </a:defRPr>
            </a:lvl1pPr>
            <a:lvl2pPr lvl="1" algn="ctr">
              <a:lnSpc>
                <a:spcPct val="100000"/>
              </a:lnSpc>
              <a:spcBef>
                <a:spcPts val="500"/>
              </a:spcBef>
              <a:spcAft>
                <a:spcPts val="0"/>
              </a:spcAft>
              <a:buSzPts val="1600"/>
              <a:buNone/>
              <a:defRPr sz="1600"/>
            </a:lvl2pPr>
            <a:lvl3pPr lvl="2" algn="ctr">
              <a:lnSpc>
                <a:spcPct val="100000"/>
              </a:lnSpc>
              <a:spcBef>
                <a:spcPts val="500"/>
              </a:spcBef>
              <a:spcAft>
                <a:spcPts val="0"/>
              </a:spcAft>
              <a:buSzPts val="1600"/>
              <a:buNone/>
              <a:defRPr sz="1600"/>
            </a:lvl3pPr>
            <a:lvl4pPr lvl="3" algn="ctr">
              <a:lnSpc>
                <a:spcPct val="100000"/>
              </a:lnSpc>
              <a:spcBef>
                <a:spcPts val="500"/>
              </a:spcBef>
              <a:spcAft>
                <a:spcPts val="0"/>
              </a:spcAft>
              <a:buSzPts val="1600"/>
              <a:buNone/>
              <a:defRPr sz="1600"/>
            </a:lvl4pPr>
            <a:lvl5pPr lvl="4" algn="ctr">
              <a:lnSpc>
                <a:spcPct val="100000"/>
              </a:lnSpc>
              <a:spcBef>
                <a:spcPts val="500"/>
              </a:spcBef>
              <a:spcAft>
                <a:spcPts val="0"/>
              </a:spcAft>
              <a:buSzPts val="1600"/>
              <a:buNone/>
              <a:defRPr sz="1600"/>
            </a:lvl5pPr>
            <a:lvl6pPr lvl="5" algn="ctr">
              <a:lnSpc>
                <a:spcPct val="100000"/>
              </a:lnSpc>
              <a:spcBef>
                <a:spcPts val="500"/>
              </a:spcBef>
              <a:spcAft>
                <a:spcPts val="0"/>
              </a:spcAft>
              <a:buSzPts val="1600"/>
              <a:buNone/>
              <a:defRPr sz="1600"/>
            </a:lvl6pPr>
            <a:lvl7pPr lvl="6" algn="ctr">
              <a:lnSpc>
                <a:spcPct val="100000"/>
              </a:lnSpc>
              <a:spcBef>
                <a:spcPts val="500"/>
              </a:spcBef>
              <a:spcAft>
                <a:spcPts val="0"/>
              </a:spcAft>
              <a:buSzPts val="1600"/>
              <a:buNone/>
              <a:defRPr sz="1600"/>
            </a:lvl7pPr>
            <a:lvl8pPr lvl="7" algn="ctr">
              <a:lnSpc>
                <a:spcPct val="100000"/>
              </a:lnSpc>
              <a:spcBef>
                <a:spcPts val="500"/>
              </a:spcBef>
              <a:spcAft>
                <a:spcPts val="0"/>
              </a:spcAft>
              <a:buSzPts val="1600"/>
              <a:buNone/>
              <a:defRPr sz="1600"/>
            </a:lvl8pPr>
            <a:lvl9pPr lvl="8" algn="ctr">
              <a:lnSpc>
                <a:spcPct val="100000"/>
              </a:lnSpc>
              <a:spcBef>
                <a:spcPts val="500"/>
              </a:spcBef>
              <a:spcAft>
                <a:spcPts val="0"/>
              </a:spcAft>
              <a:buSzPts val="1600"/>
              <a:buNone/>
              <a:defRPr sz="1600"/>
            </a:lvl9pPr>
          </a:lstStyle>
          <a:p/>
        </p:txBody>
      </p:sp>
      <p:sp>
        <p:nvSpPr>
          <p:cNvPr id="58" name="Google Shape;58;p26"/>
          <p:cNvSpPr txBox="1"/>
          <p:nvPr>
            <p:ph idx="10" type="dt"/>
          </p:nvPr>
        </p:nvSpPr>
        <p:spPr>
          <a:xfrm>
            <a:off x="5318760" y="1341256"/>
            <a:ext cx="1554480" cy="485546"/>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1" type="ftr"/>
          </p:nvPr>
        </p:nvSpPr>
        <p:spPr>
          <a:xfrm>
            <a:off x="1629100" y="5177408"/>
            <a:ext cx="5730295"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2" type="sldNum"/>
          </p:nvPr>
        </p:nvSpPr>
        <p:spPr>
          <a:xfrm>
            <a:off x="8606920" y="5177408"/>
            <a:ext cx="1955980"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800" u="none" cap="none" strike="noStrike">
                <a:solidFill>
                  <a:srgbClr val="262626"/>
                </a:solidFill>
                <a:latin typeface="Arial"/>
                <a:ea typeface="Arial"/>
                <a:cs typeface="Arial"/>
                <a:sym typeface="Arial"/>
              </a:defRPr>
            </a:lvl1pPr>
            <a:lvl2pPr indent="0" lvl="1" marL="0" algn="r">
              <a:spcBef>
                <a:spcPts val="0"/>
              </a:spcBef>
              <a:buNone/>
              <a:defRPr b="0" i="0" sz="800" u="none" cap="none" strike="noStrike">
                <a:solidFill>
                  <a:srgbClr val="262626"/>
                </a:solidFill>
                <a:latin typeface="Arial"/>
                <a:ea typeface="Arial"/>
                <a:cs typeface="Arial"/>
                <a:sym typeface="Arial"/>
              </a:defRPr>
            </a:lvl2pPr>
            <a:lvl3pPr indent="0" lvl="2" marL="0" algn="r">
              <a:spcBef>
                <a:spcPts val="0"/>
              </a:spcBef>
              <a:buNone/>
              <a:defRPr b="0" i="0" sz="800" u="none" cap="none" strike="noStrike">
                <a:solidFill>
                  <a:srgbClr val="262626"/>
                </a:solidFill>
                <a:latin typeface="Arial"/>
                <a:ea typeface="Arial"/>
                <a:cs typeface="Arial"/>
                <a:sym typeface="Arial"/>
              </a:defRPr>
            </a:lvl3pPr>
            <a:lvl4pPr indent="0" lvl="3" marL="0" algn="r">
              <a:spcBef>
                <a:spcPts val="0"/>
              </a:spcBef>
              <a:buNone/>
              <a:defRPr b="0" i="0" sz="800" u="none" cap="none" strike="noStrike">
                <a:solidFill>
                  <a:srgbClr val="262626"/>
                </a:solidFill>
                <a:latin typeface="Arial"/>
                <a:ea typeface="Arial"/>
                <a:cs typeface="Arial"/>
                <a:sym typeface="Arial"/>
              </a:defRPr>
            </a:lvl4pPr>
            <a:lvl5pPr indent="0" lvl="4" marL="0" algn="r">
              <a:spcBef>
                <a:spcPts val="0"/>
              </a:spcBef>
              <a:buNone/>
              <a:defRPr b="0" i="0" sz="800" u="none" cap="none" strike="noStrike">
                <a:solidFill>
                  <a:srgbClr val="262626"/>
                </a:solidFill>
                <a:latin typeface="Arial"/>
                <a:ea typeface="Arial"/>
                <a:cs typeface="Arial"/>
                <a:sym typeface="Arial"/>
              </a:defRPr>
            </a:lvl5pPr>
            <a:lvl6pPr indent="0" lvl="5" marL="0" algn="r">
              <a:spcBef>
                <a:spcPts val="0"/>
              </a:spcBef>
              <a:buNone/>
              <a:defRPr b="0" i="0" sz="800" u="none" cap="none" strike="noStrike">
                <a:solidFill>
                  <a:srgbClr val="262626"/>
                </a:solidFill>
                <a:latin typeface="Arial"/>
                <a:ea typeface="Arial"/>
                <a:cs typeface="Arial"/>
                <a:sym typeface="Arial"/>
              </a:defRPr>
            </a:lvl6pPr>
            <a:lvl7pPr indent="0" lvl="6" marL="0" algn="r">
              <a:spcBef>
                <a:spcPts val="0"/>
              </a:spcBef>
              <a:buNone/>
              <a:defRPr b="0" i="0" sz="800" u="none" cap="none" strike="noStrike">
                <a:solidFill>
                  <a:srgbClr val="262626"/>
                </a:solidFill>
                <a:latin typeface="Arial"/>
                <a:ea typeface="Arial"/>
                <a:cs typeface="Arial"/>
                <a:sym typeface="Arial"/>
              </a:defRPr>
            </a:lvl7pPr>
            <a:lvl8pPr indent="0" lvl="7" marL="0" algn="r">
              <a:spcBef>
                <a:spcPts val="0"/>
              </a:spcBef>
              <a:buNone/>
              <a:defRPr b="0" i="0" sz="800" u="none" cap="none" strike="noStrike">
                <a:solidFill>
                  <a:srgbClr val="262626"/>
                </a:solidFill>
                <a:latin typeface="Arial"/>
                <a:ea typeface="Arial"/>
                <a:cs typeface="Arial"/>
                <a:sym typeface="Arial"/>
              </a:defRPr>
            </a:lvl8pPr>
            <a:lvl9pPr indent="0" lvl="8" marL="0" algn="r">
              <a:spcBef>
                <a:spcPts val="0"/>
              </a:spcBef>
              <a:buNone/>
              <a:defRPr b="0" i="0" sz="800" u="none" cap="none" strike="noStrike">
                <a:solidFill>
                  <a:srgbClr val="26262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61" name="Shape 61"/>
        <p:cNvGrpSpPr/>
        <p:nvPr/>
      </p:nvGrpSpPr>
      <p:grpSpPr>
        <a:xfrm>
          <a:off x="0" y="0"/>
          <a:ext cx="0" cy="0"/>
          <a:chOff x="0" y="0"/>
          <a:chExt cx="0" cy="0"/>
        </a:xfrm>
      </p:grpSpPr>
      <p:sp>
        <p:nvSpPr>
          <p:cNvPr id="62" name="Google Shape;62;p29"/>
          <p:cNvSpPr/>
          <p:nvPr/>
        </p:nvSpPr>
        <p:spPr>
          <a:xfrm>
            <a:off x="0" y="0"/>
            <a:ext cx="12192000" cy="68580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63" name="Google Shape;63;p29"/>
          <p:cNvSpPr/>
          <p:nvPr/>
        </p:nvSpPr>
        <p:spPr>
          <a:xfrm>
            <a:off x="1307870" y="1267730"/>
            <a:ext cx="9576262" cy="4307950"/>
          </a:xfrm>
          <a:prstGeom prst="rect">
            <a:avLst/>
          </a:prstGeom>
          <a:solidFill>
            <a:schemeClr val="lt1"/>
          </a:solidFill>
          <a:ln>
            <a:noFill/>
          </a:ln>
          <a:effectLst>
            <a:outerShdw blurRad="50800" rotWithShape="0" algn="ctr">
              <a:srgbClr val="000000">
                <a:alpha val="6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9"/>
          <p:cNvSpPr/>
          <p:nvPr/>
        </p:nvSpPr>
        <p:spPr>
          <a:xfrm>
            <a:off x="1447801" y="1411615"/>
            <a:ext cx="9296400" cy="4034770"/>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9"/>
          <p:cNvSpPr/>
          <p:nvPr/>
        </p:nvSpPr>
        <p:spPr>
          <a:xfrm>
            <a:off x="5135880" y="1267730"/>
            <a:ext cx="1920240" cy="73152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9"/>
          <p:cNvSpPr txBox="1"/>
          <p:nvPr>
            <p:ph type="title"/>
          </p:nvPr>
        </p:nvSpPr>
        <p:spPr>
          <a:xfrm>
            <a:off x="1629156" y="2275165"/>
            <a:ext cx="8933688" cy="2406895"/>
          </a:xfrm>
          <a:prstGeom prst="rect">
            <a:avLst/>
          </a:prstGeom>
          <a:noFill/>
          <a:ln>
            <a:noFill/>
          </a:ln>
        </p:spPr>
        <p:txBody>
          <a:bodyPr anchorCtr="0" anchor="ctr" bIns="45700" lIns="91425" spcFirstLastPara="1" rIns="91425" wrap="square" tIns="45700">
            <a:normAutofit/>
          </a:bodyPr>
          <a:lstStyle>
            <a:lvl1pPr lvl="0" algn="ctr">
              <a:lnSpc>
                <a:spcPct val="83000"/>
              </a:lnSpc>
              <a:spcBef>
                <a:spcPts val="0"/>
              </a:spcBef>
              <a:spcAft>
                <a:spcPts val="0"/>
              </a:spcAft>
              <a:buClr>
                <a:srgbClr val="262626"/>
              </a:buClr>
              <a:buSzPts val="6800"/>
              <a:buFont typeface="Arial"/>
              <a:buNone/>
              <a:defRPr sz="6800" cap="none">
                <a:solidFill>
                  <a:srgbClr val="262626"/>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67" name="Google Shape;67;p29"/>
          <p:cNvGrpSpPr/>
          <p:nvPr/>
        </p:nvGrpSpPr>
        <p:grpSpPr>
          <a:xfrm>
            <a:off x="5250180" y="1267730"/>
            <a:ext cx="1691640" cy="615934"/>
            <a:chOff x="5250180" y="1267730"/>
            <a:chExt cx="1691640" cy="615934"/>
          </a:xfrm>
        </p:grpSpPr>
        <p:cxnSp>
          <p:nvCxnSpPr>
            <p:cNvPr id="68" name="Google Shape;68;p29"/>
            <p:cNvCxnSpPr/>
            <p:nvPr/>
          </p:nvCxnSpPr>
          <p:spPr>
            <a:xfrm>
              <a:off x="525018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69" name="Google Shape;69;p29"/>
            <p:cNvCxnSpPr/>
            <p:nvPr/>
          </p:nvCxnSpPr>
          <p:spPr>
            <a:xfrm>
              <a:off x="6941820" y="1267730"/>
              <a:ext cx="0" cy="612648"/>
            </a:xfrm>
            <a:prstGeom prst="straightConnector1">
              <a:avLst/>
            </a:prstGeom>
            <a:solidFill>
              <a:srgbClr val="262626"/>
            </a:solidFill>
            <a:ln cap="flat" cmpd="sng" w="9525">
              <a:solidFill>
                <a:srgbClr val="FFFFFF"/>
              </a:solidFill>
              <a:prstDash val="solid"/>
              <a:miter lim="800000"/>
              <a:headEnd len="sm" w="sm" type="none"/>
              <a:tailEnd len="sm" w="sm" type="none"/>
            </a:ln>
          </p:spPr>
        </p:cxnSp>
        <p:cxnSp>
          <p:nvCxnSpPr>
            <p:cNvPr id="70" name="Google Shape;70;p29"/>
            <p:cNvCxnSpPr/>
            <p:nvPr/>
          </p:nvCxnSpPr>
          <p:spPr>
            <a:xfrm>
              <a:off x="5250180" y="1883664"/>
              <a:ext cx="1691640" cy="0"/>
            </a:xfrm>
            <a:prstGeom prst="straightConnector1">
              <a:avLst/>
            </a:prstGeom>
            <a:solidFill>
              <a:srgbClr val="262626"/>
            </a:solidFill>
            <a:ln cap="flat" cmpd="sng" w="9525">
              <a:solidFill>
                <a:srgbClr val="FFFFFF"/>
              </a:solidFill>
              <a:prstDash val="solid"/>
              <a:miter lim="800000"/>
              <a:headEnd len="sm" w="sm" type="none"/>
              <a:tailEnd len="sm" w="sm" type="none"/>
            </a:ln>
          </p:spPr>
        </p:cxnSp>
      </p:grpSp>
      <p:sp>
        <p:nvSpPr>
          <p:cNvPr id="71" name="Google Shape;71;p29"/>
          <p:cNvSpPr txBox="1"/>
          <p:nvPr>
            <p:ph idx="1" type="body"/>
          </p:nvPr>
        </p:nvSpPr>
        <p:spPr>
          <a:xfrm>
            <a:off x="1629156" y="4682062"/>
            <a:ext cx="8939784" cy="457200"/>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900"/>
              </a:spcBef>
              <a:spcAft>
                <a:spcPts val="0"/>
              </a:spcAft>
              <a:buSzPts val="1800"/>
              <a:buNone/>
              <a:defRPr sz="1800">
                <a:solidFill>
                  <a:srgbClr val="0C0C0C"/>
                </a:solidFill>
              </a:defRPr>
            </a:lvl1pPr>
            <a:lvl2pPr indent="-228600" lvl="1" marL="914400" algn="l">
              <a:lnSpc>
                <a:spcPct val="100000"/>
              </a:lnSpc>
              <a:spcBef>
                <a:spcPts val="500"/>
              </a:spcBef>
              <a:spcAft>
                <a:spcPts val="0"/>
              </a:spcAft>
              <a:buSzPts val="1600"/>
              <a:buNone/>
              <a:defRPr sz="1600">
                <a:solidFill>
                  <a:srgbClr val="888888"/>
                </a:solidFill>
              </a:defRPr>
            </a:lvl2pPr>
            <a:lvl3pPr indent="-228600" lvl="2" marL="1371600" algn="l">
              <a:lnSpc>
                <a:spcPct val="100000"/>
              </a:lnSpc>
              <a:spcBef>
                <a:spcPts val="500"/>
              </a:spcBef>
              <a:spcAft>
                <a:spcPts val="0"/>
              </a:spcAft>
              <a:buSzPts val="1600"/>
              <a:buNone/>
              <a:defRPr sz="1600">
                <a:solidFill>
                  <a:srgbClr val="888888"/>
                </a:solidFill>
              </a:defRPr>
            </a:lvl3pPr>
            <a:lvl4pPr indent="-228600" lvl="3" marL="1828800" algn="l">
              <a:lnSpc>
                <a:spcPct val="100000"/>
              </a:lnSpc>
              <a:spcBef>
                <a:spcPts val="500"/>
              </a:spcBef>
              <a:spcAft>
                <a:spcPts val="0"/>
              </a:spcAft>
              <a:buSzPts val="1400"/>
              <a:buNone/>
              <a:defRPr sz="1400">
                <a:solidFill>
                  <a:srgbClr val="888888"/>
                </a:solidFill>
              </a:defRPr>
            </a:lvl4pPr>
            <a:lvl5pPr indent="-228600" lvl="4" marL="2286000" algn="l">
              <a:lnSpc>
                <a:spcPct val="100000"/>
              </a:lnSpc>
              <a:spcBef>
                <a:spcPts val="500"/>
              </a:spcBef>
              <a:spcAft>
                <a:spcPts val="0"/>
              </a:spcAft>
              <a:buSzPts val="1400"/>
              <a:buNone/>
              <a:defRPr sz="1400">
                <a:solidFill>
                  <a:srgbClr val="888888"/>
                </a:solidFill>
              </a:defRPr>
            </a:lvl5pPr>
            <a:lvl6pPr indent="-228600" lvl="5" marL="2743200" algn="l">
              <a:lnSpc>
                <a:spcPct val="100000"/>
              </a:lnSpc>
              <a:spcBef>
                <a:spcPts val="500"/>
              </a:spcBef>
              <a:spcAft>
                <a:spcPts val="0"/>
              </a:spcAft>
              <a:buSzPts val="1400"/>
              <a:buNone/>
              <a:defRPr sz="1400">
                <a:solidFill>
                  <a:srgbClr val="888888"/>
                </a:solidFill>
              </a:defRPr>
            </a:lvl6pPr>
            <a:lvl7pPr indent="-228600" lvl="6" marL="3200400" algn="l">
              <a:lnSpc>
                <a:spcPct val="100000"/>
              </a:lnSpc>
              <a:spcBef>
                <a:spcPts val="500"/>
              </a:spcBef>
              <a:spcAft>
                <a:spcPts val="0"/>
              </a:spcAft>
              <a:buSzPts val="1400"/>
              <a:buNone/>
              <a:defRPr sz="1400">
                <a:solidFill>
                  <a:srgbClr val="888888"/>
                </a:solidFill>
              </a:defRPr>
            </a:lvl7pPr>
            <a:lvl8pPr indent="-228600" lvl="7" marL="3657600" algn="l">
              <a:lnSpc>
                <a:spcPct val="100000"/>
              </a:lnSpc>
              <a:spcBef>
                <a:spcPts val="500"/>
              </a:spcBef>
              <a:spcAft>
                <a:spcPts val="0"/>
              </a:spcAft>
              <a:buSzPts val="1400"/>
              <a:buNone/>
              <a:defRPr sz="1400">
                <a:solidFill>
                  <a:srgbClr val="888888"/>
                </a:solidFill>
              </a:defRPr>
            </a:lvl8pPr>
            <a:lvl9pPr indent="-228600" lvl="8" marL="4114800" algn="l">
              <a:lnSpc>
                <a:spcPct val="100000"/>
              </a:lnSpc>
              <a:spcBef>
                <a:spcPts val="500"/>
              </a:spcBef>
              <a:spcAft>
                <a:spcPts val="0"/>
              </a:spcAft>
              <a:buSzPts val="1400"/>
              <a:buNone/>
              <a:defRPr sz="1400">
                <a:solidFill>
                  <a:srgbClr val="888888"/>
                </a:solidFill>
              </a:defRPr>
            </a:lvl9pPr>
          </a:lstStyle>
          <a:p/>
        </p:txBody>
      </p:sp>
      <p:sp>
        <p:nvSpPr>
          <p:cNvPr id="72" name="Google Shape;72;p29"/>
          <p:cNvSpPr txBox="1"/>
          <p:nvPr>
            <p:ph idx="10" type="dt"/>
          </p:nvPr>
        </p:nvSpPr>
        <p:spPr>
          <a:xfrm>
            <a:off x="5318760" y="1344502"/>
            <a:ext cx="1554480" cy="498781"/>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300">
                <a:solidFill>
                  <a:srgbClr val="FFFFFF"/>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1" type="ftr"/>
          </p:nvPr>
        </p:nvSpPr>
        <p:spPr>
          <a:xfrm>
            <a:off x="1629157" y="5177408"/>
            <a:ext cx="5660134" cy="228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9"/>
          <p:cNvSpPr txBox="1"/>
          <p:nvPr>
            <p:ph idx="12" type="sldNum"/>
          </p:nvPr>
        </p:nvSpPr>
        <p:spPr>
          <a:xfrm>
            <a:off x="8604504" y="5177408"/>
            <a:ext cx="1958339" cy="2286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800" u="none" cap="none" strike="noStrike">
                <a:solidFill>
                  <a:srgbClr val="262626"/>
                </a:solidFill>
                <a:latin typeface="Arial"/>
                <a:ea typeface="Arial"/>
                <a:cs typeface="Arial"/>
                <a:sym typeface="Arial"/>
              </a:defRPr>
            </a:lvl1pPr>
            <a:lvl2pPr indent="0" lvl="1" marL="0" algn="r">
              <a:spcBef>
                <a:spcPts val="0"/>
              </a:spcBef>
              <a:buNone/>
              <a:defRPr b="0" i="0" sz="800" u="none" cap="none" strike="noStrike">
                <a:solidFill>
                  <a:srgbClr val="262626"/>
                </a:solidFill>
                <a:latin typeface="Arial"/>
                <a:ea typeface="Arial"/>
                <a:cs typeface="Arial"/>
                <a:sym typeface="Arial"/>
              </a:defRPr>
            </a:lvl2pPr>
            <a:lvl3pPr indent="0" lvl="2" marL="0" algn="r">
              <a:spcBef>
                <a:spcPts val="0"/>
              </a:spcBef>
              <a:buNone/>
              <a:defRPr b="0" i="0" sz="800" u="none" cap="none" strike="noStrike">
                <a:solidFill>
                  <a:srgbClr val="262626"/>
                </a:solidFill>
                <a:latin typeface="Arial"/>
                <a:ea typeface="Arial"/>
                <a:cs typeface="Arial"/>
                <a:sym typeface="Arial"/>
              </a:defRPr>
            </a:lvl3pPr>
            <a:lvl4pPr indent="0" lvl="3" marL="0" algn="r">
              <a:spcBef>
                <a:spcPts val="0"/>
              </a:spcBef>
              <a:buNone/>
              <a:defRPr b="0" i="0" sz="800" u="none" cap="none" strike="noStrike">
                <a:solidFill>
                  <a:srgbClr val="262626"/>
                </a:solidFill>
                <a:latin typeface="Arial"/>
                <a:ea typeface="Arial"/>
                <a:cs typeface="Arial"/>
                <a:sym typeface="Arial"/>
              </a:defRPr>
            </a:lvl4pPr>
            <a:lvl5pPr indent="0" lvl="4" marL="0" algn="r">
              <a:spcBef>
                <a:spcPts val="0"/>
              </a:spcBef>
              <a:buNone/>
              <a:defRPr b="0" i="0" sz="800" u="none" cap="none" strike="noStrike">
                <a:solidFill>
                  <a:srgbClr val="262626"/>
                </a:solidFill>
                <a:latin typeface="Arial"/>
                <a:ea typeface="Arial"/>
                <a:cs typeface="Arial"/>
                <a:sym typeface="Arial"/>
              </a:defRPr>
            </a:lvl5pPr>
            <a:lvl6pPr indent="0" lvl="5" marL="0" algn="r">
              <a:spcBef>
                <a:spcPts val="0"/>
              </a:spcBef>
              <a:buNone/>
              <a:defRPr b="0" i="0" sz="800" u="none" cap="none" strike="noStrike">
                <a:solidFill>
                  <a:srgbClr val="262626"/>
                </a:solidFill>
                <a:latin typeface="Arial"/>
                <a:ea typeface="Arial"/>
                <a:cs typeface="Arial"/>
                <a:sym typeface="Arial"/>
              </a:defRPr>
            </a:lvl6pPr>
            <a:lvl7pPr indent="0" lvl="6" marL="0" algn="r">
              <a:spcBef>
                <a:spcPts val="0"/>
              </a:spcBef>
              <a:buNone/>
              <a:defRPr b="0" i="0" sz="800" u="none" cap="none" strike="noStrike">
                <a:solidFill>
                  <a:srgbClr val="262626"/>
                </a:solidFill>
                <a:latin typeface="Arial"/>
                <a:ea typeface="Arial"/>
                <a:cs typeface="Arial"/>
                <a:sym typeface="Arial"/>
              </a:defRPr>
            </a:lvl7pPr>
            <a:lvl8pPr indent="0" lvl="7" marL="0" algn="r">
              <a:spcBef>
                <a:spcPts val="0"/>
              </a:spcBef>
              <a:buNone/>
              <a:defRPr b="0" i="0" sz="800" u="none" cap="none" strike="noStrike">
                <a:solidFill>
                  <a:srgbClr val="262626"/>
                </a:solidFill>
                <a:latin typeface="Arial"/>
                <a:ea typeface="Arial"/>
                <a:cs typeface="Arial"/>
                <a:sym typeface="Arial"/>
              </a:defRPr>
            </a:lvl8pPr>
            <a:lvl9pPr indent="0" lvl="8" marL="0" algn="r">
              <a:spcBef>
                <a:spcPts val="0"/>
              </a:spcBef>
              <a:buNone/>
              <a:defRPr b="0" i="0" sz="800" u="none" cap="none" strike="noStrike">
                <a:solidFill>
                  <a:srgbClr val="26262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30"/>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0"/>
          <p:cNvSpPr txBox="1"/>
          <p:nvPr>
            <p:ph idx="1" type="body"/>
          </p:nvPr>
        </p:nvSpPr>
        <p:spPr>
          <a:xfrm>
            <a:off x="1066800" y="2103120"/>
            <a:ext cx="466344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78" name="Google Shape;78;p30"/>
          <p:cNvSpPr txBox="1"/>
          <p:nvPr>
            <p:ph idx="2" type="body"/>
          </p:nvPr>
        </p:nvSpPr>
        <p:spPr>
          <a:xfrm>
            <a:off x="6461760" y="2103120"/>
            <a:ext cx="4663440" cy="374904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79" name="Google Shape;79;p30"/>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0"/>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0"/>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2" name="Shape 82"/>
        <p:cNvGrpSpPr/>
        <p:nvPr/>
      </p:nvGrpSpPr>
      <p:grpSpPr>
        <a:xfrm>
          <a:off x="0" y="0"/>
          <a:ext cx="0" cy="0"/>
          <a:chOff x="0" y="0"/>
          <a:chExt cx="0" cy="0"/>
        </a:xfrm>
      </p:grpSpPr>
      <p:sp>
        <p:nvSpPr>
          <p:cNvPr id="83" name="Google Shape;83;p31"/>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1"/>
          <p:cNvSpPr txBox="1"/>
          <p:nvPr>
            <p:ph idx="1" type="body"/>
          </p:nvPr>
        </p:nvSpPr>
        <p:spPr>
          <a:xfrm>
            <a:off x="1069848" y="2074334"/>
            <a:ext cx="466344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0"/>
              </a:spcBef>
              <a:spcAft>
                <a:spcPts val="0"/>
              </a:spcAft>
              <a:buSzPts val="1900"/>
              <a:buNone/>
              <a:defRPr b="1" i="0" sz="1900">
                <a:solidFill>
                  <a:schemeClr val="dk1"/>
                </a:solidFill>
                <a:latin typeface="Arial"/>
                <a:ea typeface="Arial"/>
                <a:cs typeface="Arial"/>
                <a:sym typeface="Arial"/>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85" name="Google Shape;85;p31"/>
          <p:cNvSpPr txBox="1"/>
          <p:nvPr>
            <p:ph idx="2" type="body"/>
          </p:nvPr>
        </p:nvSpPr>
        <p:spPr>
          <a:xfrm>
            <a:off x="1069848" y="2792472"/>
            <a:ext cx="4663440" cy="316382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86" name="Google Shape;86;p31"/>
          <p:cNvSpPr txBox="1"/>
          <p:nvPr>
            <p:ph idx="3" type="body"/>
          </p:nvPr>
        </p:nvSpPr>
        <p:spPr>
          <a:xfrm>
            <a:off x="6458712" y="2074334"/>
            <a:ext cx="466344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0"/>
              </a:spcBef>
              <a:spcAft>
                <a:spcPts val="0"/>
              </a:spcAft>
              <a:buSzPts val="1900"/>
              <a:buNone/>
              <a:defRPr b="1" sz="1900">
                <a:solidFill>
                  <a:schemeClr val="dk1"/>
                </a:solidFill>
              </a:defRPr>
            </a:lvl1pPr>
            <a:lvl2pPr indent="-228600" lvl="1" marL="914400" algn="l">
              <a:lnSpc>
                <a:spcPct val="100000"/>
              </a:lnSpc>
              <a:spcBef>
                <a:spcPts val="500"/>
              </a:spcBef>
              <a:spcAft>
                <a:spcPts val="0"/>
              </a:spcAft>
              <a:buSzPts val="1800"/>
              <a:buNone/>
              <a:defRPr b="1" sz="1800"/>
            </a:lvl2pPr>
            <a:lvl3pPr indent="-228600" lvl="2" marL="1371600" algn="l">
              <a:lnSpc>
                <a:spcPct val="100000"/>
              </a:lnSpc>
              <a:spcBef>
                <a:spcPts val="500"/>
              </a:spcBef>
              <a:spcAft>
                <a:spcPts val="0"/>
              </a:spcAft>
              <a:buSzPts val="1800"/>
              <a:buNone/>
              <a:defRPr b="1" sz="1800"/>
            </a:lvl3pPr>
            <a:lvl4pPr indent="-228600" lvl="3" marL="1828800" algn="l">
              <a:lnSpc>
                <a:spcPct val="100000"/>
              </a:lnSpc>
              <a:spcBef>
                <a:spcPts val="500"/>
              </a:spcBef>
              <a:spcAft>
                <a:spcPts val="0"/>
              </a:spcAft>
              <a:buSzPts val="1600"/>
              <a:buNone/>
              <a:defRPr b="1" sz="1600"/>
            </a:lvl4pPr>
            <a:lvl5pPr indent="-228600" lvl="4" marL="2286000" algn="l">
              <a:lnSpc>
                <a:spcPct val="100000"/>
              </a:lnSpc>
              <a:spcBef>
                <a:spcPts val="500"/>
              </a:spcBef>
              <a:spcAft>
                <a:spcPts val="0"/>
              </a:spcAft>
              <a:buSzPts val="1600"/>
              <a:buNone/>
              <a:defRPr b="1" sz="1600"/>
            </a:lvl5pPr>
            <a:lvl6pPr indent="-228600" lvl="5" marL="2743200" algn="l">
              <a:lnSpc>
                <a:spcPct val="100000"/>
              </a:lnSpc>
              <a:spcBef>
                <a:spcPts val="500"/>
              </a:spcBef>
              <a:spcAft>
                <a:spcPts val="0"/>
              </a:spcAft>
              <a:buSzPts val="1600"/>
              <a:buNone/>
              <a:defRPr b="1" sz="1600"/>
            </a:lvl6pPr>
            <a:lvl7pPr indent="-228600" lvl="6" marL="3200400" algn="l">
              <a:lnSpc>
                <a:spcPct val="100000"/>
              </a:lnSpc>
              <a:spcBef>
                <a:spcPts val="500"/>
              </a:spcBef>
              <a:spcAft>
                <a:spcPts val="0"/>
              </a:spcAft>
              <a:buSzPts val="1600"/>
              <a:buNone/>
              <a:defRPr b="1" sz="1600"/>
            </a:lvl7pPr>
            <a:lvl8pPr indent="-228600" lvl="7" marL="3657600" algn="l">
              <a:lnSpc>
                <a:spcPct val="100000"/>
              </a:lnSpc>
              <a:spcBef>
                <a:spcPts val="500"/>
              </a:spcBef>
              <a:spcAft>
                <a:spcPts val="0"/>
              </a:spcAft>
              <a:buSzPts val="1600"/>
              <a:buNone/>
              <a:defRPr b="1" sz="1600"/>
            </a:lvl8pPr>
            <a:lvl9pPr indent="-228600" lvl="8" marL="4114800" algn="l">
              <a:lnSpc>
                <a:spcPct val="100000"/>
              </a:lnSpc>
              <a:spcBef>
                <a:spcPts val="500"/>
              </a:spcBef>
              <a:spcAft>
                <a:spcPts val="0"/>
              </a:spcAft>
              <a:buSzPts val="1600"/>
              <a:buNone/>
              <a:defRPr b="1" sz="1600"/>
            </a:lvl9pPr>
          </a:lstStyle>
          <a:p/>
        </p:txBody>
      </p:sp>
      <p:sp>
        <p:nvSpPr>
          <p:cNvPr id="87" name="Google Shape;87;p31"/>
          <p:cNvSpPr txBox="1"/>
          <p:nvPr>
            <p:ph idx="4" type="body"/>
          </p:nvPr>
        </p:nvSpPr>
        <p:spPr>
          <a:xfrm>
            <a:off x="6458712" y="2792471"/>
            <a:ext cx="4663440" cy="316450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900"/>
              </a:spcBef>
              <a:spcAft>
                <a:spcPts val="0"/>
              </a:spcAft>
              <a:buSzPts val="1800"/>
              <a:buChar char="◦"/>
              <a:defRPr sz="18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88" name="Google Shape;88;p31"/>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1"/>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1"/>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1" name="Shape 91"/>
        <p:cNvGrpSpPr/>
        <p:nvPr/>
      </p:nvGrpSpPr>
      <p:grpSpPr>
        <a:xfrm>
          <a:off x="0" y="0"/>
          <a:ext cx="0" cy="0"/>
          <a:chOff x="0" y="0"/>
          <a:chExt cx="0" cy="0"/>
        </a:xfrm>
      </p:grpSpPr>
      <p:sp>
        <p:nvSpPr>
          <p:cNvPr id="92" name="Google Shape;92;p32"/>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32"/>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2"/>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2"/>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33"/>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3"/>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33"/>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00" name="Shape 100"/>
        <p:cNvGrpSpPr/>
        <p:nvPr/>
      </p:nvGrpSpPr>
      <p:grpSpPr>
        <a:xfrm>
          <a:off x="0" y="0"/>
          <a:ext cx="0" cy="0"/>
          <a:chOff x="0" y="0"/>
          <a:chExt cx="0" cy="0"/>
        </a:xfrm>
      </p:grpSpPr>
      <p:sp>
        <p:nvSpPr>
          <p:cNvPr id="101" name="Google Shape;101;p34"/>
          <p:cNvSpPr/>
          <p:nvPr/>
        </p:nvSpPr>
        <p:spPr>
          <a:xfrm>
            <a:off x="8119870" y="237744"/>
            <a:ext cx="3826596" cy="6382512"/>
          </a:xfrm>
          <a:prstGeom prst="rect">
            <a:avLst/>
          </a:prstGeom>
          <a:solidFill>
            <a:srgbClr val="D8D8D8">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4"/>
          <p:cNvSpPr/>
          <p:nvPr/>
        </p:nvSpPr>
        <p:spPr>
          <a:xfrm>
            <a:off x="8254660" y="374904"/>
            <a:ext cx="3557016"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4"/>
          <p:cNvSpPr txBox="1"/>
          <p:nvPr>
            <p:ph type="title"/>
          </p:nvPr>
        </p:nvSpPr>
        <p:spPr>
          <a:xfrm>
            <a:off x="8458200" y="607392"/>
            <a:ext cx="3161963" cy="164592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Arial"/>
              <a:buNone/>
              <a:defRPr b="0" sz="32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34"/>
          <p:cNvSpPr txBox="1"/>
          <p:nvPr>
            <p:ph idx="1" type="body"/>
          </p:nvPr>
        </p:nvSpPr>
        <p:spPr>
          <a:xfrm>
            <a:off x="685800" y="609600"/>
            <a:ext cx="6858000" cy="5334000"/>
          </a:xfrm>
          <a:prstGeom prst="rect">
            <a:avLst/>
          </a:prstGeom>
          <a:noFill/>
          <a:ln>
            <a:noFill/>
          </a:ln>
        </p:spPr>
        <p:txBody>
          <a:bodyPr anchorCtr="0" anchor="t" bIns="45700" lIns="91425" spcFirstLastPara="1" rIns="91425" wrap="square" tIns="45700">
            <a:normAutofit/>
          </a:bodyPr>
          <a:lstStyle>
            <a:lvl1pPr indent="-349250" lvl="0" marL="457200" algn="l">
              <a:lnSpc>
                <a:spcPct val="120000"/>
              </a:lnSpc>
              <a:spcBef>
                <a:spcPts val="900"/>
              </a:spcBef>
              <a:spcAft>
                <a:spcPts val="0"/>
              </a:spcAft>
              <a:buSzPts val="1900"/>
              <a:buChar char="◦"/>
              <a:defRPr sz="1900"/>
            </a:lvl1pPr>
            <a:lvl2pPr indent="-330200" lvl="1" marL="914400" algn="l">
              <a:lnSpc>
                <a:spcPct val="100000"/>
              </a:lnSpc>
              <a:spcBef>
                <a:spcPts val="500"/>
              </a:spcBef>
              <a:spcAft>
                <a:spcPts val="0"/>
              </a:spcAft>
              <a:buSzPts val="1600"/>
              <a:buChar char="◦"/>
              <a:defRPr sz="1600"/>
            </a:lvl2pPr>
            <a:lvl3pPr indent="-317500" lvl="2" marL="1371600" algn="l">
              <a:lnSpc>
                <a:spcPct val="100000"/>
              </a:lnSpc>
              <a:spcBef>
                <a:spcPts val="500"/>
              </a:spcBef>
              <a:spcAft>
                <a:spcPts val="0"/>
              </a:spcAft>
              <a:buSzPts val="1400"/>
              <a:buChar char="◦"/>
              <a:defRPr sz="1400"/>
            </a:lvl3pPr>
            <a:lvl4pPr indent="-317500" lvl="3" marL="1828800" algn="l">
              <a:lnSpc>
                <a:spcPct val="100000"/>
              </a:lnSpc>
              <a:spcBef>
                <a:spcPts val="500"/>
              </a:spcBef>
              <a:spcAft>
                <a:spcPts val="0"/>
              </a:spcAft>
              <a:buSzPts val="1400"/>
              <a:buChar char="◦"/>
              <a:defRPr sz="1400"/>
            </a:lvl4pPr>
            <a:lvl5pPr indent="-317500" lvl="4" marL="2286000" algn="l">
              <a:lnSpc>
                <a:spcPct val="100000"/>
              </a:lnSpc>
              <a:spcBef>
                <a:spcPts val="500"/>
              </a:spcBef>
              <a:spcAft>
                <a:spcPts val="0"/>
              </a:spcAft>
              <a:buSzPts val="1400"/>
              <a:buChar char="◦"/>
              <a:defRPr sz="1400"/>
            </a:lvl5pPr>
            <a:lvl6pPr indent="-317500" lvl="5" marL="2743200" algn="l">
              <a:lnSpc>
                <a:spcPct val="100000"/>
              </a:lnSpc>
              <a:spcBef>
                <a:spcPts val="500"/>
              </a:spcBef>
              <a:spcAft>
                <a:spcPts val="0"/>
              </a:spcAft>
              <a:buSzPts val="1400"/>
              <a:buChar char="◦"/>
              <a:defRPr sz="1400"/>
            </a:lvl6pPr>
            <a:lvl7pPr indent="-317500" lvl="6" marL="3200400" algn="l">
              <a:lnSpc>
                <a:spcPct val="100000"/>
              </a:lnSpc>
              <a:spcBef>
                <a:spcPts val="500"/>
              </a:spcBef>
              <a:spcAft>
                <a:spcPts val="0"/>
              </a:spcAft>
              <a:buSzPts val="1400"/>
              <a:buChar char="◦"/>
              <a:defRPr sz="1400"/>
            </a:lvl7pPr>
            <a:lvl8pPr indent="-317500" lvl="7" marL="3657600" algn="l">
              <a:lnSpc>
                <a:spcPct val="100000"/>
              </a:lnSpc>
              <a:spcBef>
                <a:spcPts val="500"/>
              </a:spcBef>
              <a:spcAft>
                <a:spcPts val="0"/>
              </a:spcAft>
              <a:buSzPts val="1400"/>
              <a:buChar char="◦"/>
              <a:defRPr sz="1400"/>
            </a:lvl8pPr>
            <a:lvl9pPr indent="-317500" lvl="8" marL="4114800" algn="l">
              <a:lnSpc>
                <a:spcPct val="100000"/>
              </a:lnSpc>
              <a:spcBef>
                <a:spcPts val="500"/>
              </a:spcBef>
              <a:spcAft>
                <a:spcPts val="0"/>
              </a:spcAft>
              <a:buSzPts val="1400"/>
              <a:buChar char="◦"/>
              <a:defRPr sz="1400"/>
            </a:lvl9pPr>
          </a:lstStyle>
          <a:p/>
        </p:txBody>
      </p:sp>
      <p:sp>
        <p:nvSpPr>
          <p:cNvPr id="105" name="Google Shape;105;p34"/>
          <p:cNvSpPr txBox="1"/>
          <p:nvPr>
            <p:ph idx="2" type="body"/>
          </p:nvPr>
        </p:nvSpPr>
        <p:spPr>
          <a:xfrm>
            <a:off x="8458200" y="2336800"/>
            <a:ext cx="3161963" cy="36068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800"/>
              <a:buNone/>
              <a:defRPr sz="1800">
                <a:solidFill>
                  <a:schemeClr val="dk1"/>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
        <p:nvSpPr>
          <p:cNvPr id="106" name="Google Shape;106;p34"/>
          <p:cNvSpPr txBox="1"/>
          <p:nvPr>
            <p:ph idx="10" type="dt"/>
          </p:nvPr>
        </p:nvSpPr>
        <p:spPr>
          <a:xfrm>
            <a:off x="5588000" y="6035040"/>
            <a:ext cx="1955800"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solidFill>
                  <a:srgbClr val="262626"/>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34"/>
          <p:cNvSpPr txBox="1"/>
          <p:nvPr>
            <p:ph idx="11" type="ftr"/>
          </p:nvPr>
        </p:nvSpPr>
        <p:spPr>
          <a:xfrm>
            <a:off x="685801" y="6035040"/>
            <a:ext cx="4584700" cy="3657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4"/>
          <p:cNvSpPr txBox="1"/>
          <p:nvPr>
            <p:ph idx="12" type="sldNum"/>
          </p:nvPr>
        </p:nvSpPr>
        <p:spPr>
          <a:xfrm>
            <a:off x="10396728" y="6035040"/>
            <a:ext cx="1223435"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800" u="none" cap="none" strike="noStrike">
                <a:solidFill>
                  <a:srgbClr val="262626"/>
                </a:solidFill>
                <a:latin typeface="Arial"/>
                <a:ea typeface="Arial"/>
                <a:cs typeface="Arial"/>
                <a:sym typeface="Arial"/>
              </a:defRPr>
            </a:lvl1pPr>
            <a:lvl2pPr indent="0" lvl="1" marL="0" algn="r">
              <a:spcBef>
                <a:spcPts val="0"/>
              </a:spcBef>
              <a:buNone/>
              <a:defRPr b="0" i="0" sz="800" u="none" cap="none" strike="noStrike">
                <a:solidFill>
                  <a:srgbClr val="262626"/>
                </a:solidFill>
                <a:latin typeface="Arial"/>
                <a:ea typeface="Arial"/>
                <a:cs typeface="Arial"/>
                <a:sym typeface="Arial"/>
              </a:defRPr>
            </a:lvl2pPr>
            <a:lvl3pPr indent="0" lvl="2" marL="0" algn="r">
              <a:spcBef>
                <a:spcPts val="0"/>
              </a:spcBef>
              <a:buNone/>
              <a:defRPr b="0" i="0" sz="800" u="none" cap="none" strike="noStrike">
                <a:solidFill>
                  <a:srgbClr val="262626"/>
                </a:solidFill>
                <a:latin typeface="Arial"/>
                <a:ea typeface="Arial"/>
                <a:cs typeface="Arial"/>
                <a:sym typeface="Arial"/>
              </a:defRPr>
            </a:lvl3pPr>
            <a:lvl4pPr indent="0" lvl="3" marL="0" algn="r">
              <a:spcBef>
                <a:spcPts val="0"/>
              </a:spcBef>
              <a:buNone/>
              <a:defRPr b="0" i="0" sz="800" u="none" cap="none" strike="noStrike">
                <a:solidFill>
                  <a:srgbClr val="262626"/>
                </a:solidFill>
                <a:latin typeface="Arial"/>
                <a:ea typeface="Arial"/>
                <a:cs typeface="Arial"/>
                <a:sym typeface="Arial"/>
              </a:defRPr>
            </a:lvl4pPr>
            <a:lvl5pPr indent="0" lvl="4" marL="0" algn="r">
              <a:spcBef>
                <a:spcPts val="0"/>
              </a:spcBef>
              <a:buNone/>
              <a:defRPr b="0" i="0" sz="800" u="none" cap="none" strike="noStrike">
                <a:solidFill>
                  <a:srgbClr val="262626"/>
                </a:solidFill>
                <a:latin typeface="Arial"/>
                <a:ea typeface="Arial"/>
                <a:cs typeface="Arial"/>
                <a:sym typeface="Arial"/>
              </a:defRPr>
            </a:lvl5pPr>
            <a:lvl6pPr indent="0" lvl="5" marL="0" algn="r">
              <a:spcBef>
                <a:spcPts val="0"/>
              </a:spcBef>
              <a:buNone/>
              <a:defRPr b="0" i="0" sz="800" u="none" cap="none" strike="noStrike">
                <a:solidFill>
                  <a:srgbClr val="262626"/>
                </a:solidFill>
                <a:latin typeface="Arial"/>
                <a:ea typeface="Arial"/>
                <a:cs typeface="Arial"/>
                <a:sym typeface="Arial"/>
              </a:defRPr>
            </a:lvl6pPr>
            <a:lvl7pPr indent="0" lvl="6" marL="0" algn="r">
              <a:spcBef>
                <a:spcPts val="0"/>
              </a:spcBef>
              <a:buNone/>
              <a:defRPr b="0" i="0" sz="800" u="none" cap="none" strike="noStrike">
                <a:solidFill>
                  <a:srgbClr val="262626"/>
                </a:solidFill>
                <a:latin typeface="Arial"/>
                <a:ea typeface="Arial"/>
                <a:cs typeface="Arial"/>
                <a:sym typeface="Arial"/>
              </a:defRPr>
            </a:lvl7pPr>
            <a:lvl8pPr indent="0" lvl="7" marL="0" algn="r">
              <a:spcBef>
                <a:spcPts val="0"/>
              </a:spcBef>
              <a:buNone/>
              <a:defRPr b="0" i="0" sz="800" u="none" cap="none" strike="noStrike">
                <a:solidFill>
                  <a:srgbClr val="262626"/>
                </a:solidFill>
                <a:latin typeface="Arial"/>
                <a:ea typeface="Arial"/>
                <a:cs typeface="Arial"/>
                <a:sym typeface="Arial"/>
              </a:defRPr>
            </a:lvl8pPr>
            <a:lvl9pPr indent="0" lvl="8" marL="0" algn="r">
              <a:spcBef>
                <a:spcPts val="0"/>
              </a:spcBef>
              <a:buNone/>
              <a:defRPr b="0" i="0" sz="800" u="none" cap="none" strike="noStrike">
                <a:solidFill>
                  <a:srgbClr val="26262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a-I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9" name="Shape 109"/>
        <p:cNvGrpSpPr/>
        <p:nvPr/>
      </p:nvGrpSpPr>
      <p:grpSpPr>
        <a:xfrm>
          <a:off x="0" y="0"/>
          <a:ext cx="0" cy="0"/>
          <a:chOff x="0" y="0"/>
          <a:chExt cx="0" cy="0"/>
        </a:xfrm>
      </p:grpSpPr>
      <p:sp>
        <p:nvSpPr>
          <p:cNvPr id="110" name="Google Shape;110;p35"/>
          <p:cNvSpPr/>
          <p:nvPr/>
        </p:nvSpPr>
        <p:spPr>
          <a:xfrm>
            <a:off x="8119870" y="237744"/>
            <a:ext cx="3826596" cy="6382512"/>
          </a:xfrm>
          <a:prstGeom prst="rect">
            <a:avLst/>
          </a:prstGeom>
          <a:solidFill>
            <a:srgbClr val="D8D8D8">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5"/>
          <p:cNvSpPr/>
          <p:nvPr>
            <p:ph idx="2" type="pic"/>
          </p:nvPr>
        </p:nvSpPr>
        <p:spPr>
          <a:xfrm>
            <a:off x="228599" y="237744"/>
            <a:ext cx="7696201" cy="6382512"/>
          </a:xfrm>
          <a:prstGeom prst="rect">
            <a:avLst/>
          </a:prstGeom>
          <a:solidFill>
            <a:srgbClr val="BED2E3"/>
          </a:solidFill>
          <a:ln>
            <a:noFill/>
          </a:ln>
        </p:spPr>
      </p:sp>
      <p:sp>
        <p:nvSpPr>
          <p:cNvPr id="112" name="Google Shape;112;p35"/>
          <p:cNvSpPr txBox="1"/>
          <p:nvPr>
            <p:ph idx="10" type="dt"/>
          </p:nvPr>
        </p:nvSpPr>
        <p:spPr>
          <a:xfrm>
            <a:off x="5662337" y="6035040"/>
            <a:ext cx="2071963"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1">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5"/>
          <p:cNvSpPr txBox="1"/>
          <p:nvPr>
            <p:ph idx="11" type="ftr"/>
          </p:nvPr>
        </p:nvSpPr>
        <p:spPr>
          <a:xfrm>
            <a:off x="612648" y="6035040"/>
            <a:ext cx="4588002" cy="36576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1" sz="1000">
                <a:solidFill>
                  <a:srgbClr val="FFFFFF"/>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5"/>
          <p:cNvSpPr txBox="1"/>
          <p:nvPr>
            <p:ph idx="12" type="sldNum"/>
          </p:nvPr>
        </p:nvSpPr>
        <p:spPr>
          <a:xfrm>
            <a:off x="10396728" y="6035040"/>
            <a:ext cx="1225296" cy="36576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a-IR"/>
              <a:t>‹#›</a:t>
            </a:fld>
            <a:endParaRPr/>
          </a:p>
        </p:txBody>
      </p:sp>
      <p:sp>
        <p:nvSpPr>
          <p:cNvPr id="115" name="Google Shape;115;p35"/>
          <p:cNvSpPr/>
          <p:nvPr/>
        </p:nvSpPr>
        <p:spPr>
          <a:xfrm>
            <a:off x="8254660" y="374904"/>
            <a:ext cx="3557016" cy="6108192"/>
          </a:xfrm>
          <a:prstGeom prst="rect">
            <a:avLst/>
          </a:prstGeom>
          <a:noFill/>
          <a:ln cap="sq" cmpd="sng" w="9525">
            <a:solidFill>
              <a:srgbClr val="3F3F3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5"/>
          <p:cNvSpPr txBox="1"/>
          <p:nvPr>
            <p:ph type="title"/>
          </p:nvPr>
        </p:nvSpPr>
        <p:spPr>
          <a:xfrm>
            <a:off x="8477250" y="603504"/>
            <a:ext cx="3144774" cy="164592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3200"/>
              <a:buFont typeface="Arial"/>
              <a:buNone/>
              <a:defRPr b="0" sz="32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35"/>
          <p:cNvSpPr txBox="1"/>
          <p:nvPr>
            <p:ph idx="1" type="body"/>
          </p:nvPr>
        </p:nvSpPr>
        <p:spPr>
          <a:xfrm>
            <a:off x="8477250" y="2386584"/>
            <a:ext cx="3144774" cy="351129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800"/>
              </a:spcBef>
              <a:spcAft>
                <a:spcPts val="0"/>
              </a:spcAft>
              <a:buSzPts val="1800"/>
              <a:buNone/>
              <a:defRPr sz="1800">
                <a:solidFill>
                  <a:schemeClr val="dk1"/>
                </a:solidFill>
              </a:defRPr>
            </a:lvl1pPr>
            <a:lvl2pPr indent="-228600" lvl="1" marL="914400" algn="l">
              <a:lnSpc>
                <a:spcPct val="100000"/>
              </a:lnSpc>
              <a:spcBef>
                <a:spcPts val="500"/>
              </a:spcBef>
              <a:spcAft>
                <a:spcPts val="0"/>
              </a:spcAft>
              <a:buSzPts val="1200"/>
              <a:buNone/>
              <a:defRPr sz="1200"/>
            </a:lvl2pPr>
            <a:lvl3pPr indent="-228600" lvl="2" marL="1371600" algn="l">
              <a:lnSpc>
                <a:spcPct val="100000"/>
              </a:lnSpc>
              <a:spcBef>
                <a:spcPts val="500"/>
              </a:spcBef>
              <a:spcAft>
                <a:spcPts val="0"/>
              </a:spcAft>
              <a:buSzPts val="1000"/>
              <a:buNone/>
              <a:defRPr sz="1000"/>
            </a:lvl3pPr>
            <a:lvl4pPr indent="-228600" lvl="3" marL="1828800" algn="l">
              <a:lnSpc>
                <a:spcPct val="100000"/>
              </a:lnSpc>
              <a:spcBef>
                <a:spcPts val="500"/>
              </a:spcBef>
              <a:spcAft>
                <a:spcPts val="0"/>
              </a:spcAft>
              <a:buSzPts val="900"/>
              <a:buNone/>
              <a:defRPr sz="900"/>
            </a:lvl4pPr>
            <a:lvl5pPr indent="-228600" lvl="4" marL="2286000" algn="l">
              <a:lnSpc>
                <a:spcPct val="100000"/>
              </a:lnSpc>
              <a:spcBef>
                <a:spcPts val="500"/>
              </a:spcBef>
              <a:spcAft>
                <a:spcPts val="0"/>
              </a:spcAft>
              <a:buSzPts val="900"/>
              <a:buNone/>
              <a:defRPr sz="900"/>
            </a:lvl5pPr>
            <a:lvl6pPr indent="-228600" lvl="5" marL="2743200" algn="l">
              <a:lnSpc>
                <a:spcPct val="100000"/>
              </a:lnSpc>
              <a:spcBef>
                <a:spcPts val="500"/>
              </a:spcBef>
              <a:spcAft>
                <a:spcPts val="0"/>
              </a:spcAft>
              <a:buSzPts val="900"/>
              <a:buNone/>
              <a:defRPr sz="900"/>
            </a:lvl6pPr>
            <a:lvl7pPr indent="-228600" lvl="6" marL="3200400" algn="l">
              <a:lnSpc>
                <a:spcPct val="100000"/>
              </a:lnSpc>
              <a:spcBef>
                <a:spcPts val="500"/>
              </a:spcBef>
              <a:spcAft>
                <a:spcPts val="0"/>
              </a:spcAft>
              <a:buSzPts val="900"/>
              <a:buNone/>
              <a:defRPr sz="900"/>
            </a:lvl7pPr>
            <a:lvl8pPr indent="-228600" lvl="7" marL="3657600" algn="l">
              <a:lnSpc>
                <a:spcPct val="100000"/>
              </a:lnSpc>
              <a:spcBef>
                <a:spcPts val="500"/>
              </a:spcBef>
              <a:spcAft>
                <a:spcPts val="0"/>
              </a:spcAft>
              <a:buSzPts val="900"/>
              <a:buNone/>
              <a:defRPr sz="900"/>
            </a:lvl8pPr>
            <a:lvl9pPr indent="-228600" lvl="8" marL="4114800" algn="l">
              <a:lnSpc>
                <a:spcPct val="100000"/>
              </a:lnSpc>
              <a:spcBef>
                <a:spcPts val="500"/>
              </a:spcBef>
              <a:spcAft>
                <a:spcPts val="0"/>
              </a:spcAft>
              <a:buSzPts val="900"/>
              <a:buNone/>
              <a:defRPr sz="9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0" Type="http://schemas.openxmlformats.org/officeDocument/2006/relationships/theme" Target="../theme/theme2.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25"/>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 name="Google Shape;11;p25"/>
          <p:cNvSpPr/>
          <p:nvPr/>
        </p:nvSpPr>
        <p:spPr>
          <a:xfrm>
            <a:off x="234696" y="237744"/>
            <a:ext cx="11722608" cy="6382512"/>
          </a:xfrm>
          <a:prstGeom prst="rect">
            <a:avLst/>
          </a:prstGeom>
          <a:solidFill>
            <a:schemeClr val="dk1">
              <a:alpha val="6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5"/>
          <p:cNvSpPr/>
          <p:nvPr/>
        </p:nvSpPr>
        <p:spPr>
          <a:xfrm>
            <a:off x="371856" y="374904"/>
            <a:ext cx="11448288" cy="6108192"/>
          </a:xfrm>
          <a:prstGeom prst="rect">
            <a:avLst/>
          </a:prstGeom>
          <a:noFill/>
          <a:ln cap="sq" cmpd="sng" w="9525">
            <a:solidFill>
              <a:srgbClr val="FEFEFE"/>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5"/>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EFEFE"/>
              </a:buClr>
              <a:buSzPts val="3600"/>
              <a:buFont typeface="Arial"/>
              <a:buNone/>
              <a:defRPr b="0" i="0" sz="3600" u="none" cap="none" strike="noStrike">
                <a:solidFill>
                  <a:srgbClr val="FEFEFE"/>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25"/>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17500" lvl="0" marL="457200" marR="0" rtl="0" algn="l">
              <a:lnSpc>
                <a:spcPct val="120000"/>
              </a:lnSpc>
              <a:spcBef>
                <a:spcPts val="900"/>
              </a:spcBef>
              <a:spcAft>
                <a:spcPts val="0"/>
              </a:spcAft>
              <a:buClr>
                <a:srgbClr val="FEFEFE"/>
              </a:buClr>
              <a:buSzPts val="1400"/>
              <a:buFont typeface="Garamond"/>
              <a:buChar char="◦"/>
              <a:defRPr b="0" i="0" sz="1400" u="none" cap="none" strike="noStrike">
                <a:solidFill>
                  <a:schemeClr val="lt1"/>
                </a:solidFill>
                <a:latin typeface="Arial"/>
                <a:ea typeface="Arial"/>
                <a:cs typeface="Arial"/>
                <a:sym typeface="Arial"/>
              </a:defRPr>
            </a:lvl1pPr>
            <a:lvl2pPr indent="-304800" lvl="1" marL="914400" marR="0" rtl="0" algn="l">
              <a:lnSpc>
                <a:spcPct val="100000"/>
              </a:lnSpc>
              <a:spcBef>
                <a:spcPts val="500"/>
              </a:spcBef>
              <a:spcAft>
                <a:spcPts val="0"/>
              </a:spcAft>
              <a:buClr>
                <a:srgbClr val="FEFEFE"/>
              </a:buClr>
              <a:buSzPts val="1200"/>
              <a:buFont typeface="Garamond"/>
              <a:buChar char="◦"/>
              <a:defRPr b="0" i="0" sz="1200" u="none" cap="none" strike="noStrike">
                <a:solidFill>
                  <a:schemeClr val="lt1"/>
                </a:solidFill>
                <a:latin typeface="Arial"/>
                <a:ea typeface="Arial"/>
                <a:cs typeface="Arial"/>
                <a:sym typeface="Arial"/>
              </a:defRPr>
            </a:lvl2pPr>
            <a:lvl3pPr indent="-298450" lvl="2" marL="1371600" marR="0" rtl="0" algn="l">
              <a:lnSpc>
                <a:spcPct val="100000"/>
              </a:lnSpc>
              <a:spcBef>
                <a:spcPts val="500"/>
              </a:spcBef>
              <a:spcAft>
                <a:spcPts val="0"/>
              </a:spcAft>
              <a:buClr>
                <a:srgbClr val="FEFEFE"/>
              </a:buClr>
              <a:buSzPts val="1100"/>
              <a:buFont typeface="Garamond"/>
              <a:buChar char="◦"/>
              <a:defRPr b="0" i="0" sz="1100" u="none" cap="none" strike="noStrike">
                <a:solidFill>
                  <a:schemeClr val="lt1"/>
                </a:solidFill>
                <a:latin typeface="Arial"/>
                <a:ea typeface="Arial"/>
                <a:cs typeface="Arial"/>
                <a:sym typeface="Arial"/>
              </a:defRPr>
            </a:lvl3pPr>
            <a:lvl4pPr indent="-298450" lvl="3" marL="1828800" marR="0" rtl="0" algn="l">
              <a:lnSpc>
                <a:spcPct val="100000"/>
              </a:lnSpc>
              <a:spcBef>
                <a:spcPts val="500"/>
              </a:spcBef>
              <a:spcAft>
                <a:spcPts val="0"/>
              </a:spcAft>
              <a:buClr>
                <a:srgbClr val="FEFEFE"/>
              </a:buClr>
              <a:buSzPts val="1100"/>
              <a:buFont typeface="Garamond"/>
              <a:buChar char="◦"/>
              <a:defRPr b="0" i="0" sz="1100" u="none" cap="none" strike="noStrike">
                <a:solidFill>
                  <a:schemeClr val="lt1"/>
                </a:solidFill>
                <a:latin typeface="Arial"/>
                <a:ea typeface="Arial"/>
                <a:cs typeface="Arial"/>
                <a:sym typeface="Arial"/>
              </a:defRPr>
            </a:lvl4pPr>
            <a:lvl5pPr indent="-298450" lvl="4" marL="2286000" marR="0" rtl="0" algn="l">
              <a:lnSpc>
                <a:spcPct val="100000"/>
              </a:lnSpc>
              <a:spcBef>
                <a:spcPts val="500"/>
              </a:spcBef>
              <a:spcAft>
                <a:spcPts val="0"/>
              </a:spcAft>
              <a:buClr>
                <a:srgbClr val="FEFEFE"/>
              </a:buClr>
              <a:buSzPts val="1100"/>
              <a:buFont typeface="Garamond"/>
              <a:buChar char="◦"/>
              <a:defRPr b="0" i="0" sz="1100" u="none" cap="none" strike="noStrike">
                <a:solidFill>
                  <a:schemeClr val="lt1"/>
                </a:solidFill>
                <a:latin typeface="Arial"/>
                <a:ea typeface="Arial"/>
                <a:cs typeface="Arial"/>
                <a:sym typeface="Arial"/>
              </a:defRPr>
            </a:lvl5pPr>
            <a:lvl6pPr indent="-317500" lvl="5" marL="2743200" marR="0" rtl="0" algn="l">
              <a:lnSpc>
                <a:spcPct val="100000"/>
              </a:lnSpc>
              <a:spcBef>
                <a:spcPts val="500"/>
              </a:spcBef>
              <a:spcAft>
                <a:spcPts val="0"/>
              </a:spcAft>
              <a:buClr>
                <a:srgbClr val="FEFEFE"/>
              </a:buClr>
              <a:buSzPts val="1400"/>
              <a:buFont typeface="Garamond"/>
              <a:buChar char="◦"/>
              <a:defRPr b="0" i="0" sz="1400" u="none" cap="none" strike="noStrike">
                <a:solidFill>
                  <a:schemeClr val="lt1"/>
                </a:solidFill>
                <a:latin typeface="Arial"/>
                <a:ea typeface="Arial"/>
                <a:cs typeface="Arial"/>
                <a:sym typeface="Arial"/>
              </a:defRPr>
            </a:lvl6pPr>
            <a:lvl7pPr indent="-317500" lvl="6" marL="3200400" marR="0" rtl="0" algn="l">
              <a:lnSpc>
                <a:spcPct val="100000"/>
              </a:lnSpc>
              <a:spcBef>
                <a:spcPts val="500"/>
              </a:spcBef>
              <a:spcAft>
                <a:spcPts val="0"/>
              </a:spcAft>
              <a:buClr>
                <a:srgbClr val="FEFEFE"/>
              </a:buClr>
              <a:buSzPts val="1400"/>
              <a:buFont typeface="Garamond"/>
              <a:buChar char="◦"/>
              <a:defRPr b="0" i="0" sz="1400" u="none" cap="none" strike="noStrike">
                <a:solidFill>
                  <a:schemeClr val="lt1"/>
                </a:solidFill>
                <a:latin typeface="Arial"/>
                <a:ea typeface="Arial"/>
                <a:cs typeface="Arial"/>
                <a:sym typeface="Arial"/>
              </a:defRPr>
            </a:lvl7pPr>
            <a:lvl8pPr indent="-317500" lvl="7" marL="3657600" marR="0" rtl="0" algn="l">
              <a:lnSpc>
                <a:spcPct val="100000"/>
              </a:lnSpc>
              <a:spcBef>
                <a:spcPts val="500"/>
              </a:spcBef>
              <a:spcAft>
                <a:spcPts val="0"/>
              </a:spcAft>
              <a:buClr>
                <a:srgbClr val="FEFEFE"/>
              </a:buClr>
              <a:buSzPts val="1400"/>
              <a:buFont typeface="Garamond"/>
              <a:buChar char="◦"/>
              <a:defRPr b="0" i="0" sz="1400" u="none" cap="none" strike="noStrike">
                <a:solidFill>
                  <a:schemeClr val="lt1"/>
                </a:solidFill>
                <a:latin typeface="Arial"/>
                <a:ea typeface="Arial"/>
                <a:cs typeface="Arial"/>
                <a:sym typeface="Arial"/>
              </a:defRPr>
            </a:lvl8pPr>
            <a:lvl9pPr indent="-317500" lvl="8" marL="4114800" marR="0" rtl="0" algn="l">
              <a:lnSpc>
                <a:spcPct val="100000"/>
              </a:lnSpc>
              <a:spcBef>
                <a:spcPts val="500"/>
              </a:spcBef>
              <a:spcAft>
                <a:spcPts val="0"/>
              </a:spcAft>
              <a:buClr>
                <a:srgbClr val="FEFEFE"/>
              </a:buClr>
              <a:buSzPts val="1400"/>
              <a:buFont typeface="Garamond"/>
              <a:buChar char="◦"/>
              <a:defRPr b="0" i="0" sz="1400" u="none" cap="none" strike="noStrike">
                <a:solidFill>
                  <a:schemeClr val="lt1"/>
                </a:solidFill>
                <a:latin typeface="Arial"/>
                <a:ea typeface="Arial"/>
                <a:cs typeface="Arial"/>
                <a:sym typeface="Arial"/>
              </a:defRPr>
            </a:lvl9pPr>
          </a:lstStyle>
          <a:p/>
        </p:txBody>
      </p:sp>
      <p:sp>
        <p:nvSpPr>
          <p:cNvPr id="15" name="Google Shape;15;p25"/>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800" u="none" cap="none" strike="noStrike">
                <a:solidFill>
                  <a:srgbClr val="FEFEFE"/>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6" name="Google Shape;16;p25"/>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FEFEFE"/>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7" name="Google Shape;17;p25"/>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800" u="none" cap="none" strike="noStrike">
                <a:solidFill>
                  <a:srgbClr val="FEFEFE"/>
                </a:solidFill>
                <a:latin typeface="Arial"/>
                <a:ea typeface="Arial"/>
                <a:cs typeface="Arial"/>
                <a:sym typeface="Arial"/>
              </a:defRPr>
            </a:lvl1pPr>
            <a:lvl2pPr indent="0" lvl="1" marL="0" marR="0" rtl="0" algn="r">
              <a:spcBef>
                <a:spcPts val="0"/>
              </a:spcBef>
              <a:buNone/>
              <a:defRPr b="0" i="0" sz="800" u="none" cap="none" strike="noStrike">
                <a:solidFill>
                  <a:srgbClr val="FEFEFE"/>
                </a:solidFill>
                <a:latin typeface="Arial"/>
                <a:ea typeface="Arial"/>
                <a:cs typeface="Arial"/>
                <a:sym typeface="Arial"/>
              </a:defRPr>
            </a:lvl2pPr>
            <a:lvl3pPr indent="0" lvl="2" marL="0" marR="0" rtl="0" algn="r">
              <a:spcBef>
                <a:spcPts val="0"/>
              </a:spcBef>
              <a:buNone/>
              <a:defRPr b="0" i="0" sz="800" u="none" cap="none" strike="noStrike">
                <a:solidFill>
                  <a:srgbClr val="FEFEFE"/>
                </a:solidFill>
                <a:latin typeface="Arial"/>
                <a:ea typeface="Arial"/>
                <a:cs typeface="Arial"/>
                <a:sym typeface="Arial"/>
              </a:defRPr>
            </a:lvl3pPr>
            <a:lvl4pPr indent="0" lvl="3" marL="0" marR="0" rtl="0" algn="r">
              <a:spcBef>
                <a:spcPts val="0"/>
              </a:spcBef>
              <a:buNone/>
              <a:defRPr b="0" i="0" sz="800" u="none" cap="none" strike="noStrike">
                <a:solidFill>
                  <a:srgbClr val="FEFEFE"/>
                </a:solidFill>
                <a:latin typeface="Arial"/>
                <a:ea typeface="Arial"/>
                <a:cs typeface="Arial"/>
                <a:sym typeface="Arial"/>
              </a:defRPr>
            </a:lvl4pPr>
            <a:lvl5pPr indent="0" lvl="4" marL="0" marR="0" rtl="0" algn="r">
              <a:spcBef>
                <a:spcPts val="0"/>
              </a:spcBef>
              <a:buNone/>
              <a:defRPr b="0" i="0" sz="800" u="none" cap="none" strike="noStrike">
                <a:solidFill>
                  <a:srgbClr val="FEFEFE"/>
                </a:solidFill>
                <a:latin typeface="Arial"/>
                <a:ea typeface="Arial"/>
                <a:cs typeface="Arial"/>
                <a:sym typeface="Arial"/>
              </a:defRPr>
            </a:lvl5pPr>
            <a:lvl6pPr indent="0" lvl="5" marL="0" marR="0" rtl="0" algn="r">
              <a:spcBef>
                <a:spcPts val="0"/>
              </a:spcBef>
              <a:buNone/>
              <a:defRPr b="0" i="0" sz="800" u="none" cap="none" strike="noStrike">
                <a:solidFill>
                  <a:srgbClr val="FEFEFE"/>
                </a:solidFill>
                <a:latin typeface="Arial"/>
                <a:ea typeface="Arial"/>
                <a:cs typeface="Arial"/>
                <a:sym typeface="Arial"/>
              </a:defRPr>
            </a:lvl6pPr>
            <a:lvl7pPr indent="0" lvl="6" marL="0" marR="0" rtl="0" algn="r">
              <a:spcBef>
                <a:spcPts val="0"/>
              </a:spcBef>
              <a:buNone/>
              <a:defRPr b="0" i="0" sz="800" u="none" cap="none" strike="noStrike">
                <a:solidFill>
                  <a:srgbClr val="FEFEFE"/>
                </a:solidFill>
                <a:latin typeface="Arial"/>
                <a:ea typeface="Arial"/>
                <a:cs typeface="Arial"/>
                <a:sym typeface="Arial"/>
              </a:defRPr>
            </a:lvl7pPr>
            <a:lvl8pPr indent="0" lvl="7" marL="0" marR="0" rtl="0" algn="r">
              <a:spcBef>
                <a:spcPts val="0"/>
              </a:spcBef>
              <a:buNone/>
              <a:defRPr b="0" i="0" sz="800" u="none" cap="none" strike="noStrike">
                <a:solidFill>
                  <a:srgbClr val="FEFEFE"/>
                </a:solidFill>
                <a:latin typeface="Arial"/>
                <a:ea typeface="Arial"/>
                <a:cs typeface="Arial"/>
                <a:sym typeface="Arial"/>
              </a:defRPr>
            </a:lvl8pPr>
            <a:lvl9pPr indent="0" lvl="8" marL="0" marR="0" rtl="0" algn="r">
              <a:spcBef>
                <a:spcPts val="0"/>
              </a:spcBef>
              <a:buNone/>
              <a:defRPr b="0" i="0" sz="800" u="none" cap="none" strike="noStrike">
                <a:solidFill>
                  <a:srgbClr val="FEFEF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a-IR"/>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 name="Shape 32"/>
        <p:cNvGrpSpPr/>
        <p:nvPr/>
      </p:nvGrpSpPr>
      <p:grpSpPr>
        <a:xfrm>
          <a:off x="0" y="0"/>
          <a:ext cx="0" cy="0"/>
          <a:chOff x="0" y="0"/>
          <a:chExt cx="0" cy="0"/>
        </a:xfrm>
      </p:grpSpPr>
      <p:sp>
        <p:nvSpPr>
          <p:cNvPr id="33" name="Google Shape;33;p2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4" name="Google Shape;34;p24"/>
          <p:cNvSpPr/>
          <p:nvPr/>
        </p:nvSpPr>
        <p:spPr>
          <a:xfrm>
            <a:off x="234696" y="237744"/>
            <a:ext cx="11722608" cy="6382512"/>
          </a:xfrm>
          <a:prstGeom prst="rect">
            <a:avLst/>
          </a:prstGeom>
          <a:solidFill>
            <a:srgbClr val="BFBFBF">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4"/>
          <p:cNvSpPr/>
          <p:nvPr/>
        </p:nvSpPr>
        <p:spPr>
          <a:xfrm>
            <a:off x="371856" y="374904"/>
            <a:ext cx="11448288" cy="6108192"/>
          </a:xfrm>
          <a:prstGeom prst="rect">
            <a:avLst/>
          </a:prstGeom>
          <a:noFill/>
          <a:ln cap="sq" cmpd="sng" w="9525">
            <a:solidFill>
              <a:srgbClr val="26262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4"/>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262626"/>
              </a:buClr>
              <a:buSzPts val="3600"/>
              <a:buFont typeface="Arial"/>
              <a:buNone/>
              <a:defRPr b="0" i="0" sz="3600" u="none" cap="none" strike="noStrike">
                <a:solidFill>
                  <a:srgbClr val="262626"/>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24"/>
          <p:cNvSpPr txBox="1"/>
          <p:nvPr>
            <p:ph idx="1" type="body"/>
          </p:nvPr>
        </p:nvSpPr>
        <p:spPr>
          <a:xfrm>
            <a:off x="1066800" y="2103120"/>
            <a:ext cx="10058400" cy="3849624"/>
          </a:xfrm>
          <a:prstGeom prst="rect">
            <a:avLst/>
          </a:prstGeom>
          <a:noFill/>
          <a:ln>
            <a:noFill/>
          </a:ln>
        </p:spPr>
        <p:txBody>
          <a:bodyPr anchorCtr="0" anchor="t" bIns="45700" lIns="91425" spcFirstLastPara="1" rIns="91425" wrap="square" tIns="45700">
            <a:normAutofit/>
          </a:bodyPr>
          <a:lstStyle>
            <a:lvl1pPr indent="-317500" lvl="0" marL="457200" marR="0" rtl="0" algn="l">
              <a:lnSpc>
                <a:spcPct val="120000"/>
              </a:lnSpc>
              <a:spcBef>
                <a:spcPts val="900"/>
              </a:spcBef>
              <a:spcAft>
                <a:spcPts val="0"/>
              </a:spcAft>
              <a:buClr>
                <a:srgbClr val="262626"/>
              </a:buClr>
              <a:buSzPts val="1400"/>
              <a:buFont typeface="Garamond"/>
              <a:buChar char="◦"/>
              <a:defRPr b="0" i="0" sz="1400" u="none" cap="none" strike="noStrike">
                <a:solidFill>
                  <a:schemeClr val="dk1"/>
                </a:solidFill>
                <a:latin typeface="Arial"/>
                <a:ea typeface="Arial"/>
                <a:cs typeface="Arial"/>
                <a:sym typeface="Arial"/>
              </a:defRPr>
            </a:lvl1pPr>
            <a:lvl2pPr indent="-304800" lvl="1" marL="914400" marR="0" rtl="0" algn="l">
              <a:lnSpc>
                <a:spcPct val="100000"/>
              </a:lnSpc>
              <a:spcBef>
                <a:spcPts val="500"/>
              </a:spcBef>
              <a:spcAft>
                <a:spcPts val="0"/>
              </a:spcAft>
              <a:buClr>
                <a:srgbClr val="262626"/>
              </a:buClr>
              <a:buSzPts val="1200"/>
              <a:buFont typeface="Garamond"/>
              <a:buChar char="◦"/>
              <a:defRPr b="0" i="0" sz="1200" u="none" cap="none" strike="noStrike">
                <a:solidFill>
                  <a:schemeClr val="dk1"/>
                </a:solidFill>
                <a:latin typeface="Arial"/>
                <a:ea typeface="Arial"/>
                <a:cs typeface="Arial"/>
                <a:sym typeface="Arial"/>
              </a:defRPr>
            </a:lvl2pPr>
            <a:lvl3pPr indent="-298450" lvl="2" marL="1371600" marR="0" rtl="0" algn="l">
              <a:lnSpc>
                <a:spcPct val="100000"/>
              </a:lnSpc>
              <a:spcBef>
                <a:spcPts val="500"/>
              </a:spcBef>
              <a:spcAft>
                <a:spcPts val="0"/>
              </a:spcAft>
              <a:buClr>
                <a:srgbClr val="262626"/>
              </a:buClr>
              <a:buSzPts val="1100"/>
              <a:buFont typeface="Garamond"/>
              <a:buChar char="◦"/>
              <a:defRPr b="0" i="0" sz="1100" u="none" cap="none" strike="noStrike">
                <a:solidFill>
                  <a:schemeClr val="dk1"/>
                </a:solidFill>
                <a:latin typeface="Arial"/>
                <a:ea typeface="Arial"/>
                <a:cs typeface="Arial"/>
                <a:sym typeface="Arial"/>
              </a:defRPr>
            </a:lvl3pPr>
            <a:lvl4pPr indent="-298450" lvl="3" marL="1828800" marR="0" rtl="0" algn="l">
              <a:lnSpc>
                <a:spcPct val="100000"/>
              </a:lnSpc>
              <a:spcBef>
                <a:spcPts val="500"/>
              </a:spcBef>
              <a:spcAft>
                <a:spcPts val="0"/>
              </a:spcAft>
              <a:buClr>
                <a:srgbClr val="262626"/>
              </a:buClr>
              <a:buSzPts val="1100"/>
              <a:buFont typeface="Garamond"/>
              <a:buChar char="◦"/>
              <a:defRPr b="0" i="0" sz="1100" u="none" cap="none" strike="noStrike">
                <a:solidFill>
                  <a:schemeClr val="dk1"/>
                </a:solidFill>
                <a:latin typeface="Arial"/>
                <a:ea typeface="Arial"/>
                <a:cs typeface="Arial"/>
                <a:sym typeface="Arial"/>
              </a:defRPr>
            </a:lvl4pPr>
            <a:lvl5pPr indent="-298450" lvl="4" marL="2286000" marR="0" rtl="0" algn="l">
              <a:lnSpc>
                <a:spcPct val="100000"/>
              </a:lnSpc>
              <a:spcBef>
                <a:spcPts val="500"/>
              </a:spcBef>
              <a:spcAft>
                <a:spcPts val="0"/>
              </a:spcAft>
              <a:buClr>
                <a:srgbClr val="262626"/>
              </a:buClr>
              <a:buSzPts val="1100"/>
              <a:buFont typeface="Garamond"/>
              <a:buChar char="◦"/>
              <a:defRPr b="0" i="0" sz="1100" u="none" cap="none" strike="noStrike">
                <a:solidFill>
                  <a:schemeClr val="dk1"/>
                </a:solidFill>
                <a:latin typeface="Arial"/>
                <a:ea typeface="Arial"/>
                <a:cs typeface="Arial"/>
                <a:sym typeface="Arial"/>
              </a:defRPr>
            </a:lvl5pPr>
            <a:lvl6pPr indent="-317500" lvl="5" marL="27432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rial"/>
                <a:ea typeface="Arial"/>
                <a:cs typeface="Arial"/>
                <a:sym typeface="Arial"/>
              </a:defRPr>
            </a:lvl6pPr>
            <a:lvl7pPr indent="-317500" lvl="6" marL="32004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rial"/>
                <a:ea typeface="Arial"/>
                <a:cs typeface="Arial"/>
                <a:sym typeface="Arial"/>
              </a:defRPr>
            </a:lvl7pPr>
            <a:lvl8pPr indent="-317500" lvl="7" marL="36576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rial"/>
                <a:ea typeface="Arial"/>
                <a:cs typeface="Arial"/>
                <a:sym typeface="Arial"/>
              </a:defRPr>
            </a:lvl8pPr>
            <a:lvl9pPr indent="-317500" lvl="8" marL="4114800" marR="0" rtl="0" algn="l">
              <a:lnSpc>
                <a:spcPct val="100000"/>
              </a:lnSpc>
              <a:spcBef>
                <a:spcPts val="500"/>
              </a:spcBef>
              <a:spcAft>
                <a:spcPts val="0"/>
              </a:spcAft>
              <a:buClr>
                <a:srgbClr val="262626"/>
              </a:buClr>
              <a:buSzPts val="1400"/>
              <a:buFont typeface="Garamond"/>
              <a:buChar char="◦"/>
              <a:defRPr b="0" i="0" sz="1400" u="none" cap="none" strike="noStrike">
                <a:solidFill>
                  <a:schemeClr val="dk1"/>
                </a:solidFill>
                <a:latin typeface="Arial"/>
                <a:ea typeface="Arial"/>
                <a:cs typeface="Arial"/>
                <a:sym typeface="Arial"/>
              </a:defRPr>
            </a:lvl9pPr>
          </a:lstStyle>
          <a:p/>
        </p:txBody>
      </p:sp>
      <p:sp>
        <p:nvSpPr>
          <p:cNvPr id="38" name="Google Shape;38;p24"/>
          <p:cNvSpPr txBox="1"/>
          <p:nvPr>
            <p:ph idx="10" type="dt"/>
          </p:nvPr>
        </p:nvSpPr>
        <p:spPr>
          <a:xfrm>
            <a:off x="7256794" y="6035040"/>
            <a:ext cx="2893045" cy="36576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800" u="none" cap="none" strike="noStrike">
                <a:solidFill>
                  <a:srgbClr val="3F3F3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9" name="Google Shape;39;p24"/>
          <p:cNvSpPr txBox="1"/>
          <p:nvPr>
            <p:ph idx="11" type="ftr"/>
          </p:nvPr>
        </p:nvSpPr>
        <p:spPr>
          <a:xfrm>
            <a:off x="1066800" y="6035040"/>
            <a:ext cx="5816600" cy="36576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800" u="none" cap="none" strike="noStrike">
                <a:solidFill>
                  <a:srgbClr val="262626"/>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0" name="Google Shape;40;p24"/>
          <p:cNvSpPr txBox="1"/>
          <p:nvPr>
            <p:ph idx="12" type="sldNum"/>
          </p:nvPr>
        </p:nvSpPr>
        <p:spPr>
          <a:xfrm>
            <a:off x="10287000" y="6035040"/>
            <a:ext cx="838200" cy="36576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b="0" i="0" sz="800" u="none" cap="none" strike="noStrike">
                <a:solidFill>
                  <a:srgbClr val="3F3F3F"/>
                </a:solidFill>
                <a:latin typeface="Arial"/>
                <a:ea typeface="Arial"/>
                <a:cs typeface="Arial"/>
                <a:sym typeface="Arial"/>
              </a:defRPr>
            </a:lvl1pPr>
            <a:lvl2pPr indent="0" lvl="1" marL="0" marR="0" rtl="0" algn="r">
              <a:spcBef>
                <a:spcPts val="0"/>
              </a:spcBef>
              <a:buNone/>
              <a:defRPr b="0" i="0" sz="800" u="none" cap="none" strike="noStrike">
                <a:solidFill>
                  <a:srgbClr val="3F3F3F"/>
                </a:solidFill>
                <a:latin typeface="Arial"/>
                <a:ea typeface="Arial"/>
                <a:cs typeface="Arial"/>
                <a:sym typeface="Arial"/>
              </a:defRPr>
            </a:lvl2pPr>
            <a:lvl3pPr indent="0" lvl="2" marL="0" marR="0" rtl="0" algn="r">
              <a:spcBef>
                <a:spcPts val="0"/>
              </a:spcBef>
              <a:buNone/>
              <a:defRPr b="0" i="0" sz="800" u="none" cap="none" strike="noStrike">
                <a:solidFill>
                  <a:srgbClr val="3F3F3F"/>
                </a:solidFill>
                <a:latin typeface="Arial"/>
                <a:ea typeface="Arial"/>
                <a:cs typeface="Arial"/>
                <a:sym typeface="Arial"/>
              </a:defRPr>
            </a:lvl3pPr>
            <a:lvl4pPr indent="0" lvl="3" marL="0" marR="0" rtl="0" algn="r">
              <a:spcBef>
                <a:spcPts val="0"/>
              </a:spcBef>
              <a:buNone/>
              <a:defRPr b="0" i="0" sz="800" u="none" cap="none" strike="noStrike">
                <a:solidFill>
                  <a:srgbClr val="3F3F3F"/>
                </a:solidFill>
                <a:latin typeface="Arial"/>
                <a:ea typeface="Arial"/>
                <a:cs typeface="Arial"/>
                <a:sym typeface="Arial"/>
              </a:defRPr>
            </a:lvl4pPr>
            <a:lvl5pPr indent="0" lvl="4" marL="0" marR="0" rtl="0" algn="r">
              <a:spcBef>
                <a:spcPts val="0"/>
              </a:spcBef>
              <a:buNone/>
              <a:defRPr b="0" i="0" sz="800" u="none" cap="none" strike="noStrike">
                <a:solidFill>
                  <a:srgbClr val="3F3F3F"/>
                </a:solidFill>
                <a:latin typeface="Arial"/>
                <a:ea typeface="Arial"/>
                <a:cs typeface="Arial"/>
                <a:sym typeface="Arial"/>
              </a:defRPr>
            </a:lvl5pPr>
            <a:lvl6pPr indent="0" lvl="5" marL="0" marR="0" rtl="0" algn="r">
              <a:spcBef>
                <a:spcPts val="0"/>
              </a:spcBef>
              <a:buNone/>
              <a:defRPr b="0" i="0" sz="800" u="none" cap="none" strike="noStrike">
                <a:solidFill>
                  <a:srgbClr val="3F3F3F"/>
                </a:solidFill>
                <a:latin typeface="Arial"/>
                <a:ea typeface="Arial"/>
                <a:cs typeface="Arial"/>
                <a:sym typeface="Arial"/>
              </a:defRPr>
            </a:lvl6pPr>
            <a:lvl7pPr indent="0" lvl="6" marL="0" marR="0" rtl="0" algn="r">
              <a:spcBef>
                <a:spcPts val="0"/>
              </a:spcBef>
              <a:buNone/>
              <a:defRPr b="0" i="0" sz="800" u="none" cap="none" strike="noStrike">
                <a:solidFill>
                  <a:srgbClr val="3F3F3F"/>
                </a:solidFill>
                <a:latin typeface="Arial"/>
                <a:ea typeface="Arial"/>
                <a:cs typeface="Arial"/>
                <a:sym typeface="Arial"/>
              </a:defRPr>
            </a:lvl7pPr>
            <a:lvl8pPr indent="0" lvl="7" marL="0" marR="0" rtl="0" algn="r">
              <a:spcBef>
                <a:spcPts val="0"/>
              </a:spcBef>
              <a:buNone/>
              <a:defRPr b="0" i="0" sz="800" u="none" cap="none" strike="noStrike">
                <a:solidFill>
                  <a:srgbClr val="3F3F3F"/>
                </a:solidFill>
                <a:latin typeface="Arial"/>
                <a:ea typeface="Arial"/>
                <a:cs typeface="Arial"/>
                <a:sym typeface="Arial"/>
              </a:defRPr>
            </a:lvl8pPr>
            <a:lvl9pPr indent="0" lvl="8" marL="0" marR="0" rtl="0" algn="r">
              <a:spcBef>
                <a:spcPts val="0"/>
              </a:spcBef>
              <a:buNone/>
              <a:defRPr b="0" i="0" sz="800" u="none" cap="none" strike="noStrike">
                <a:solidFill>
                  <a:srgbClr val="3F3F3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a-IR"/>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ali-m07.github.io/resum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21" name="Shape 121"/>
        <p:cNvGrpSpPr/>
        <p:nvPr/>
      </p:nvGrpSpPr>
      <p:grpSpPr>
        <a:xfrm>
          <a:off x="0" y="0"/>
          <a:ext cx="0" cy="0"/>
          <a:chOff x="0" y="0"/>
          <a:chExt cx="0" cy="0"/>
        </a:xfrm>
      </p:grpSpPr>
      <p:sp>
        <p:nvSpPr>
          <p:cNvPr id="122" name="Google Shape;122;p1"/>
          <p:cNvSpPr/>
          <p:nvPr/>
        </p:nvSpPr>
        <p:spPr>
          <a:xfrm>
            <a:off x="937329" y="1808532"/>
            <a:ext cx="5452527" cy="3240936"/>
          </a:xfrm>
          <a:prstGeom prst="rect">
            <a:avLst/>
          </a:pr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
          <p:cNvSpPr/>
          <p:nvPr/>
        </p:nvSpPr>
        <p:spPr>
          <a:xfrm>
            <a:off x="1103272" y="1975104"/>
            <a:ext cx="5120640" cy="2907792"/>
          </a:xfrm>
          <a:prstGeom prst="rect">
            <a:avLst/>
          </a:prstGeom>
          <a:noFill/>
          <a:ln cap="sq" cmpd="sng" w="9525">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
          <p:cNvSpPr txBox="1"/>
          <p:nvPr>
            <p:ph type="ctrTitle"/>
          </p:nvPr>
        </p:nvSpPr>
        <p:spPr>
          <a:xfrm>
            <a:off x="1276055" y="2350017"/>
            <a:ext cx="4775075" cy="1630906"/>
          </a:xfrm>
          <a:prstGeom prst="rect">
            <a:avLst/>
          </a:prstGeom>
          <a:noFill/>
          <a:ln>
            <a:noFill/>
          </a:ln>
        </p:spPr>
        <p:txBody>
          <a:bodyPr anchorCtr="0" anchor="ctr" bIns="45700" lIns="91425" spcFirstLastPara="1" rIns="91425" wrap="square" tIns="45700">
            <a:normAutofit/>
          </a:bodyPr>
          <a:lstStyle/>
          <a:p>
            <a:pPr indent="0" lvl="0" marL="0" rtl="0" algn="ctr">
              <a:lnSpc>
                <a:spcPct val="83000"/>
              </a:lnSpc>
              <a:spcBef>
                <a:spcPts val="0"/>
              </a:spcBef>
              <a:spcAft>
                <a:spcPts val="0"/>
              </a:spcAft>
              <a:buClr>
                <a:schemeClr val="lt1"/>
              </a:buClr>
              <a:buSzPts val="3600"/>
              <a:buFont typeface="Times New Roman"/>
              <a:buNone/>
            </a:pPr>
            <a:r>
              <a:rPr lang="fa-IR" sz="3600">
                <a:solidFill>
                  <a:schemeClr val="lt1"/>
                </a:solidFill>
                <a:latin typeface="Times New Roman"/>
                <a:ea typeface="Times New Roman"/>
                <a:cs typeface="Times New Roman"/>
                <a:sym typeface="Times New Roman"/>
              </a:rPr>
              <a:t>FUTURE READINESS &amp; FUTURE FITNESS</a:t>
            </a:r>
            <a:endParaRPr sz="3600">
              <a:solidFill>
                <a:schemeClr val="lt1"/>
              </a:solidFill>
              <a:latin typeface="Times New Roman"/>
              <a:ea typeface="Times New Roman"/>
              <a:cs typeface="Times New Roman"/>
              <a:sym typeface="Times New Roman"/>
            </a:endParaRPr>
          </a:p>
        </p:txBody>
      </p:sp>
      <p:sp>
        <p:nvSpPr>
          <p:cNvPr id="125" name="Google Shape;125;p1"/>
          <p:cNvSpPr txBox="1"/>
          <p:nvPr>
            <p:ph idx="1" type="subTitle"/>
          </p:nvPr>
        </p:nvSpPr>
        <p:spPr>
          <a:xfrm>
            <a:off x="1276055" y="3990546"/>
            <a:ext cx="4775075" cy="559656"/>
          </a:xfrm>
          <a:prstGeom prst="rect">
            <a:avLst/>
          </a:prstGeom>
          <a:noFill/>
          <a:ln>
            <a:noFill/>
          </a:ln>
        </p:spPr>
        <p:txBody>
          <a:bodyPr anchorCtr="0" anchor="t" bIns="45700" lIns="91425" spcFirstLastPara="1" rIns="91425" wrap="square" tIns="45700">
            <a:normAutofit/>
          </a:bodyPr>
          <a:lstStyle/>
          <a:p>
            <a:pPr indent="0" lvl="0" marL="0" rtl="0" algn="ctr">
              <a:lnSpc>
                <a:spcPct val="120000"/>
              </a:lnSpc>
              <a:spcBef>
                <a:spcPts val="0"/>
              </a:spcBef>
              <a:spcAft>
                <a:spcPts val="0"/>
              </a:spcAft>
              <a:buSzPts val="1800"/>
              <a:buNone/>
            </a:pPr>
            <a:r>
              <a:rPr lang="fa-IR">
                <a:solidFill>
                  <a:schemeClr val="lt1"/>
                </a:solidFill>
              </a:rPr>
              <a:t>Ali Mansouri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p2"/>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Future Readiness: آماده‌سازی برای آینده</a:t>
            </a:r>
            <a:endParaRPr/>
          </a:p>
        </p:txBody>
      </p:sp>
      <p:sp>
        <p:nvSpPr>
          <p:cNvPr id="132" name="Google Shape;132;p2"/>
          <p:cNvSpPr txBox="1"/>
          <p:nvPr>
            <p:ph idx="1" type="body"/>
          </p:nvPr>
        </p:nvSpPr>
        <p:spPr>
          <a:xfrm>
            <a:off x="6999064" y="2575798"/>
            <a:ext cx="4222952" cy="1862048"/>
          </a:xfrm>
          <a:prstGeom prst="rect">
            <a:avLst/>
          </a:prstGeom>
          <a:noFill/>
          <a:ln>
            <a:noFill/>
          </a:ln>
        </p:spPr>
        <p:txBody>
          <a:bodyPr anchorCtr="0" anchor="ctr" bIns="45700" lIns="91425" spcFirstLastPara="1" rIns="91425" wrap="square" tIns="45700">
            <a:spAutoFit/>
          </a:bodyPr>
          <a:lstStyle/>
          <a:p>
            <a:pPr indent="-182880" lvl="0" marL="182880" rtl="1" algn="r">
              <a:lnSpc>
                <a:spcPct val="200000"/>
              </a:lnSpc>
              <a:spcBef>
                <a:spcPts val="0"/>
              </a:spcBef>
              <a:spcAft>
                <a:spcPts val="0"/>
              </a:spcAft>
              <a:buClr>
                <a:schemeClr val="dk1"/>
              </a:buClr>
              <a:buSzPts val="2000"/>
              <a:buChar char="◦"/>
            </a:pPr>
            <a:r>
              <a:rPr b="0" i="0" lang="fa-IR" sz="2000" u="none" cap="none" strike="noStrike">
                <a:solidFill>
                  <a:schemeClr val="dk1"/>
                </a:solidFill>
                <a:latin typeface="Arial"/>
                <a:ea typeface="Arial"/>
                <a:cs typeface="Arial"/>
                <a:sym typeface="Arial"/>
              </a:rPr>
              <a:t>توانایی پیش‌بینی تغییرات و برنامه‌ریزی برای آن‌ها</a:t>
            </a:r>
            <a:endParaRPr b="0" i="0" sz="2000" u="none" cap="none" strike="noStrike">
              <a:solidFill>
                <a:schemeClr val="dk1"/>
              </a:solidFill>
              <a:latin typeface="Arial"/>
              <a:ea typeface="Arial"/>
              <a:cs typeface="Arial"/>
              <a:sym typeface="Arial"/>
            </a:endParaRPr>
          </a:p>
          <a:p>
            <a:pPr indent="-182880" lvl="0" marL="182880" rtl="1" algn="r">
              <a:lnSpc>
                <a:spcPct val="200000"/>
              </a:lnSpc>
              <a:spcBef>
                <a:spcPts val="0"/>
              </a:spcBef>
              <a:spcAft>
                <a:spcPts val="0"/>
              </a:spcAft>
              <a:buClr>
                <a:schemeClr val="dk1"/>
              </a:buClr>
              <a:buSzPts val="2000"/>
              <a:buChar char="◦"/>
            </a:pPr>
            <a:r>
              <a:rPr b="0" i="0" lang="fa-IR" sz="2000" u="none" cap="none" strike="noStrike">
                <a:solidFill>
                  <a:schemeClr val="dk1"/>
                </a:solidFill>
                <a:latin typeface="Arial"/>
                <a:ea typeface="Arial"/>
                <a:cs typeface="Arial"/>
                <a:sym typeface="Arial"/>
              </a:rPr>
              <a:t>مدیریت عدم‌قطعیت‌ها و بهره‌برداری از فرصت‌ها</a:t>
            </a:r>
            <a:endParaRPr b="0" i="0" sz="2000" u="none" cap="none" strike="noStrike">
              <a:solidFill>
                <a:schemeClr val="dk1"/>
              </a:solidFill>
              <a:latin typeface="Arial"/>
              <a:ea typeface="Arial"/>
              <a:cs typeface="Arial"/>
              <a:sym typeface="Arial"/>
            </a:endParaRPr>
          </a:p>
          <a:p>
            <a:pPr indent="-182880" lvl="0" marL="182880" rtl="1" algn="r">
              <a:lnSpc>
                <a:spcPct val="200000"/>
              </a:lnSpc>
              <a:spcBef>
                <a:spcPts val="0"/>
              </a:spcBef>
              <a:spcAft>
                <a:spcPts val="0"/>
              </a:spcAft>
              <a:buClr>
                <a:schemeClr val="dk1"/>
              </a:buClr>
              <a:buSzPts val="2000"/>
              <a:buChar char="◦"/>
            </a:pPr>
            <a:r>
              <a:rPr b="0" i="0" lang="fa-IR" sz="2000" u="none" cap="none" strike="noStrike">
                <a:solidFill>
                  <a:schemeClr val="dk1"/>
                </a:solidFill>
                <a:latin typeface="Arial"/>
                <a:ea typeface="Arial"/>
                <a:cs typeface="Arial"/>
                <a:sym typeface="Arial"/>
              </a:rPr>
              <a:t>ایجاد مزیت رقابتی در محیط‌های پویا </a:t>
            </a:r>
            <a:endParaRPr/>
          </a:p>
        </p:txBody>
      </p:sp>
      <p:pic>
        <p:nvPicPr>
          <p:cNvPr descr="U.S. GAO Launches Center For Strategic Foresight - School of International  Futures" id="133" name="Google Shape;133;p2"/>
          <p:cNvPicPr preferRelativeResize="0"/>
          <p:nvPr/>
        </p:nvPicPr>
        <p:blipFill rotWithShape="1">
          <a:blip r:embed="rId4">
            <a:alphaModFix/>
          </a:blip>
          <a:srcRect b="0" l="0" r="0" t="0"/>
          <a:stretch/>
        </p:blipFill>
        <p:spPr>
          <a:xfrm>
            <a:off x="1396487" y="2150876"/>
            <a:ext cx="4699513" cy="36327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38" name="Shape 138"/>
        <p:cNvGrpSpPr/>
        <p:nvPr/>
      </p:nvGrpSpPr>
      <p:grpSpPr>
        <a:xfrm>
          <a:off x="0" y="0"/>
          <a:ext cx="0" cy="0"/>
          <a:chOff x="0" y="0"/>
          <a:chExt cx="0" cy="0"/>
        </a:xfrm>
      </p:grpSpPr>
      <p:sp>
        <p:nvSpPr>
          <p:cNvPr id="139" name="Google Shape;139;p3"/>
          <p:cNvSpPr txBox="1"/>
          <p:nvPr>
            <p:ph idx="1" type="body"/>
          </p:nvPr>
        </p:nvSpPr>
        <p:spPr>
          <a:xfrm>
            <a:off x="6897757" y="2231439"/>
            <a:ext cx="4376507" cy="2550698"/>
          </a:xfrm>
          <a:prstGeom prst="rect">
            <a:avLst/>
          </a:prstGeom>
          <a:noFill/>
          <a:ln>
            <a:noFill/>
          </a:ln>
        </p:spPr>
        <p:txBody>
          <a:bodyPr anchorCtr="0" anchor="ctr" bIns="45700" lIns="91425" spcFirstLastPara="1" rIns="91425" wrap="square" tIns="45700">
            <a:spAutoFit/>
          </a:bodyPr>
          <a:lstStyle/>
          <a:p>
            <a:pPr indent="0" lvl="0" marL="0" rtl="1" algn="just">
              <a:lnSpc>
                <a:spcPct val="150000"/>
              </a:lnSpc>
              <a:spcBef>
                <a:spcPts val="0"/>
              </a:spcBef>
              <a:spcAft>
                <a:spcPts val="0"/>
              </a:spcAft>
              <a:buClr>
                <a:schemeClr val="dk1"/>
              </a:buClr>
              <a:buSzPts val="1800"/>
              <a:buNone/>
            </a:pPr>
            <a:r>
              <a:rPr b="0" i="0" lang="fa-IR" sz="1800" u="none" cap="none" strike="noStrike">
                <a:solidFill>
                  <a:schemeClr val="dk1"/>
                </a:solidFill>
                <a:latin typeface="Arial"/>
                <a:ea typeface="Arial"/>
                <a:cs typeface="Arial"/>
                <a:sym typeface="Arial"/>
              </a:rPr>
              <a:t>اجزای کلیدی:</a:t>
            </a:r>
            <a:endParaRPr b="0" i="0" sz="1800" u="none" cap="none" strike="noStrike">
              <a:solidFill>
                <a:schemeClr val="dk1"/>
              </a:solidFill>
              <a:latin typeface="Arial"/>
              <a:ea typeface="Arial"/>
              <a:cs typeface="Arial"/>
              <a:sym typeface="Arial"/>
            </a:endParaRPr>
          </a:p>
          <a:p>
            <a:pPr indent="-182880" lvl="0" marL="182880" rtl="1" algn="just">
              <a:lnSpc>
                <a:spcPct val="150000"/>
              </a:lnSpc>
              <a:spcBef>
                <a:spcPts val="0"/>
              </a:spcBef>
              <a:spcAft>
                <a:spcPts val="0"/>
              </a:spcAft>
              <a:buClr>
                <a:schemeClr val="dk1"/>
              </a:buClr>
              <a:buSzPts val="1800"/>
              <a:buChar char="◦"/>
            </a:pPr>
            <a:r>
              <a:rPr b="0" i="0" lang="fa-IR" sz="1800" u="none" cap="none" strike="noStrike">
                <a:solidFill>
                  <a:schemeClr val="dk1"/>
                </a:solidFill>
                <a:latin typeface="Arial"/>
                <a:ea typeface="Arial"/>
                <a:cs typeface="Arial"/>
                <a:sym typeface="Arial"/>
              </a:rPr>
              <a:t>پیش‌بینی و تحلیل روندهای آینده</a:t>
            </a:r>
            <a:endParaRPr b="0" i="0" sz="1800" u="none" cap="none" strike="noStrike">
              <a:solidFill>
                <a:schemeClr val="dk1"/>
              </a:solidFill>
              <a:latin typeface="Arial"/>
              <a:ea typeface="Arial"/>
              <a:cs typeface="Arial"/>
              <a:sym typeface="Arial"/>
            </a:endParaRPr>
          </a:p>
          <a:p>
            <a:pPr indent="-182880" lvl="0" marL="182880" rtl="1" algn="just">
              <a:lnSpc>
                <a:spcPct val="150000"/>
              </a:lnSpc>
              <a:spcBef>
                <a:spcPts val="0"/>
              </a:spcBef>
              <a:spcAft>
                <a:spcPts val="0"/>
              </a:spcAft>
              <a:buClr>
                <a:schemeClr val="dk1"/>
              </a:buClr>
              <a:buSzPts val="1800"/>
              <a:buChar char="◦"/>
            </a:pPr>
            <a:r>
              <a:rPr b="0" i="0" lang="fa-IR" sz="1800" u="none" cap="none" strike="noStrike">
                <a:solidFill>
                  <a:schemeClr val="dk1"/>
                </a:solidFill>
                <a:latin typeface="Arial"/>
                <a:ea typeface="Arial"/>
                <a:cs typeface="Arial"/>
                <a:sym typeface="Arial"/>
              </a:rPr>
              <a:t>انطباق سریع با تغییرات محیطی</a:t>
            </a:r>
            <a:endParaRPr b="0" i="0" sz="1800" u="none" cap="none" strike="noStrike">
              <a:solidFill>
                <a:schemeClr val="dk1"/>
              </a:solidFill>
              <a:latin typeface="Arial"/>
              <a:ea typeface="Arial"/>
              <a:cs typeface="Arial"/>
              <a:sym typeface="Arial"/>
            </a:endParaRPr>
          </a:p>
          <a:p>
            <a:pPr indent="-182880" lvl="0" marL="182880" rtl="1" algn="just">
              <a:lnSpc>
                <a:spcPct val="150000"/>
              </a:lnSpc>
              <a:spcBef>
                <a:spcPts val="0"/>
              </a:spcBef>
              <a:spcAft>
                <a:spcPts val="0"/>
              </a:spcAft>
              <a:buClr>
                <a:schemeClr val="dk1"/>
              </a:buClr>
              <a:buSzPts val="1800"/>
              <a:buChar char="◦"/>
            </a:pPr>
            <a:r>
              <a:rPr b="0" i="0" lang="fa-IR" sz="1800" u="none" cap="none" strike="noStrike">
                <a:solidFill>
                  <a:schemeClr val="dk1"/>
                </a:solidFill>
                <a:latin typeface="Arial"/>
                <a:ea typeface="Arial"/>
                <a:cs typeface="Arial"/>
                <a:sym typeface="Arial"/>
              </a:rPr>
              <a:t>توسعه خلاقیت و نوآوری</a:t>
            </a:r>
            <a:endParaRPr b="0" i="0" sz="1800" u="none" cap="none" strike="noStrike">
              <a:solidFill>
                <a:schemeClr val="dk1"/>
              </a:solidFill>
              <a:latin typeface="Arial"/>
              <a:ea typeface="Arial"/>
              <a:cs typeface="Arial"/>
              <a:sym typeface="Arial"/>
            </a:endParaRPr>
          </a:p>
          <a:p>
            <a:pPr indent="-182880" lvl="0" marL="182880" rtl="1" algn="just">
              <a:lnSpc>
                <a:spcPct val="150000"/>
              </a:lnSpc>
              <a:spcBef>
                <a:spcPts val="0"/>
              </a:spcBef>
              <a:spcAft>
                <a:spcPts val="0"/>
              </a:spcAft>
              <a:buClr>
                <a:schemeClr val="dk1"/>
              </a:buClr>
              <a:buSzPts val="1800"/>
              <a:buChar char="◦"/>
            </a:pPr>
            <a:r>
              <a:rPr b="0" i="0" lang="fa-IR" sz="1800" u="none" cap="none" strike="noStrike">
                <a:solidFill>
                  <a:schemeClr val="dk1"/>
                </a:solidFill>
                <a:latin typeface="Arial"/>
                <a:ea typeface="Arial"/>
                <a:cs typeface="Arial"/>
                <a:sym typeface="Arial"/>
              </a:rPr>
              <a:t>ایجاد فرهنگ یادگیری و بهبود مستمر</a:t>
            </a:r>
            <a:endParaRPr b="0" i="0" sz="1800" u="none" cap="none" strike="noStrike">
              <a:solidFill>
                <a:schemeClr val="dk1"/>
              </a:solidFill>
              <a:latin typeface="Arial"/>
              <a:ea typeface="Arial"/>
              <a:cs typeface="Arial"/>
              <a:sym typeface="Arial"/>
            </a:endParaRPr>
          </a:p>
          <a:p>
            <a:pPr indent="-182880" lvl="0" marL="182880" rtl="1" algn="just">
              <a:lnSpc>
                <a:spcPct val="150000"/>
              </a:lnSpc>
              <a:spcBef>
                <a:spcPts val="0"/>
              </a:spcBef>
              <a:spcAft>
                <a:spcPts val="0"/>
              </a:spcAft>
              <a:buClr>
                <a:schemeClr val="dk1"/>
              </a:buClr>
              <a:buSzPts val="1800"/>
              <a:buChar char="◦"/>
            </a:pPr>
            <a:r>
              <a:rPr b="0" i="0" lang="fa-IR" sz="1800" u="none" cap="none" strike="noStrike">
                <a:solidFill>
                  <a:schemeClr val="dk1"/>
                </a:solidFill>
                <a:latin typeface="Arial"/>
                <a:ea typeface="Arial"/>
                <a:cs typeface="Arial"/>
                <a:sym typeface="Arial"/>
              </a:rPr>
              <a:t>استفاده هوشمندانه از فناوری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144" name="Shape 144"/>
        <p:cNvGrpSpPr/>
        <p:nvPr/>
      </p:nvGrpSpPr>
      <p:grpSpPr>
        <a:xfrm>
          <a:off x="0" y="0"/>
          <a:ext cx="0" cy="0"/>
          <a:chOff x="0" y="0"/>
          <a:chExt cx="0" cy="0"/>
        </a:xfrm>
      </p:grpSpPr>
      <p:sp>
        <p:nvSpPr>
          <p:cNvPr id="145" name="Google Shape;145;p4"/>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آینده‌نگاری و چابکی</a:t>
            </a:r>
            <a:endParaRPr/>
          </a:p>
        </p:txBody>
      </p:sp>
      <p:sp>
        <p:nvSpPr>
          <p:cNvPr id="146" name="Google Shape;146;p4"/>
          <p:cNvSpPr txBox="1"/>
          <p:nvPr>
            <p:ph idx="1" type="body"/>
          </p:nvPr>
        </p:nvSpPr>
        <p:spPr>
          <a:xfrm>
            <a:off x="7042973" y="2877814"/>
            <a:ext cx="4450577" cy="1320361"/>
          </a:xfrm>
          <a:prstGeom prst="rect">
            <a:avLst/>
          </a:prstGeom>
          <a:noFill/>
          <a:ln>
            <a:noFill/>
          </a:ln>
        </p:spPr>
        <p:txBody>
          <a:bodyPr anchorCtr="0" anchor="ctr" bIns="45700" lIns="91425" spcFirstLastPara="1" rIns="91425" wrap="square" tIns="45700">
            <a:spAutoFit/>
          </a:bodyPr>
          <a:lstStyle/>
          <a:p>
            <a:pPr indent="-182880" lvl="0" marL="182880" rtl="1" algn="r">
              <a:lnSpc>
                <a:spcPct val="120000"/>
              </a:lnSpc>
              <a:spcBef>
                <a:spcPts val="0"/>
              </a:spcBef>
              <a:spcAft>
                <a:spcPts val="0"/>
              </a:spcAft>
              <a:buSzPts val="1800"/>
              <a:buFont typeface="Arial"/>
              <a:buChar char="•"/>
            </a:pPr>
            <a:r>
              <a:rPr lang="fa-IR" sz="1800"/>
              <a:t>آینده‌نگاری: تحلیل سناریوها و پیش‌بینی تغییرات بلندمدت</a:t>
            </a:r>
            <a:endParaRPr/>
          </a:p>
          <a:p>
            <a:pPr indent="-182880" lvl="0" marL="182880" rtl="1" algn="r">
              <a:lnSpc>
                <a:spcPct val="120000"/>
              </a:lnSpc>
              <a:spcBef>
                <a:spcPts val="900"/>
              </a:spcBef>
              <a:spcAft>
                <a:spcPts val="0"/>
              </a:spcAft>
              <a:buSzPts val="1800"/>
              <a:buFont typeface="Arial"/>
              <a:buChar char="•"/>
            </a:pPr>
            <a:r>
              <a:rPr lang="fa-IR" sz="1800"/>
              <a:t>چابکی: توانایی تصمیم‌گیری سریع و انطباق با شرایط جدید</a:t>
            </a:r>
            <a:endParaRPr/>
          </a:p>
          <a:p>
            <a:pPr indent="-182880" lvl="0" marL="182880" rtl="1" algn="r">
              <a:lnSpc>
                <a:spcPct val="120000"/>
              </a:lnSpc>
              <a:spcBef>
                <a:spcPts val="900"/>
              </a:spcBef>
              <a:spcAft>
                <a:spcPts val="0"/>
              </a:spcAft>
              <a:buSzPts val="1800"/>
              <a:buFont typeface="Arial"/>
              <a:buChar char="•"/>
            </a:pPr>
            <a:r>
              <a:rPr lang="fa-IR" sz="1800"/>
              <a:t>نمونه عملی: Zoom در دوران همه‌گیری</a:t>
            </a:r>
            <a:endParaRPr/>
          </a:p>
        </p:txBody>
      </p:sp>
      <p:pic>
        <p:nvPicPr>
          <p:cNvPr id="147" name="Google Shape;147;p4"/>
          <p:cNvPicPr preferRelativeResize="0"/>
          <p:nvPr/>
        </p:nvPicPr>
        <p:blipFill rotWithShape="1">
          <a:blip r:embed="rId4">
            <a:alphaModFix/>
          </a:blip>
          <a:srcRect b="0" l="0" r="0" t="0"/>
          <a:stretch/>
        </p:blipFill>
        <p:spPr>
          <a:xfrm>
            <a:off x="581891" y="2191025"/>
            <a:ext cx="6328064" cy="3156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اهمیت پایداری در Future Readiness</a:t>
            </a:r>
            <a:endParaRPr/>
          </a:p>
        </p:txBody>
      </p:sp>
      <p:sp>
        <p:nvSpPr>
          <p:cNvPr id="154" name="Google Shape;154;p5"/>
          <p:cNvSpPr txBox="1"/>
          <p:nvPr>
            <p:ph idx="1" type="body"/>
          </p:nvPr>
        </p:nvSpPr>
        <p:spPr>
          <a:xfrm>
            <a:off x="7251363" y="2653907"/>
            <a:ext cx="4242187" cy="1768176"/>
          </a:xfrm>
          <a:prstGeom prst="rect">
            <a:avLst/>
          </a:prstGeom>
          <a:noFill/>
          <a:ln>
            <a:noFill/>
          </a:ln>
        </p:spPr>
        <p:txBody>
          <a:bodyPr anchorCtr="0" anchor="ctr" bIns="45700" lIns="91425" spcFirstLastPara="1" rIns="91425" wrap="square" tIns="45700">
            <a:spAutoFit/>
          </a:bodyPr>
          <a:lstStyle/>
          <a:p>
            <a:pPr indent="-182880" lvl="0" marL="182880" rtl="1" algn="r">
              <a:lnSpc>
                <a:spcPct val="120000"/>
              </a:lnSpc>
              <a:spcBef>
                <a:spcPts val="0"/>
              </a:spcBef>
              <a:spcAft>
                <a:spcPts val="0"/>
              </a:spcAft>
              <a:buSzPts val="1800"/>
              <a:buFont typeface="Arial"/>
              <a:buChar char="•"/>
            </a:pPr>
            <a:r>
              <a:rPr lang="fa-IR" sz="1800"/>
              <a:t>تضمین بقا و رشد بلندمدت</a:t>
            </a:r>
            <a:endParaRPr/>
          </a:p>
          <a:p>
            <a:pPr indent="-182880" lvl="0" marL="182880" rtl="1" algn="r">
              <a:lnSpc>
                <a:spcPct val="120000"/>
              </a:lnSpc>
              <a:spcBef>
                <a:spcPts val="900"/>
              </a:spcBef>
              <a:spcAft>
                <a:spcPts val="0"/>
              </a:spcAft>
              <a:buSzPts val="1800"/>
              <a:buFont typeface="Arial"/>
              <a:buChar char="•"/>
            </a:pPr>
            <a:r>
              <a:rPr lang="fa-IR" sz="1800"/>
              <a:t>کاهش ریسک‌های مرتبط با تغییرات اقلیمی و اجتماعی</a:t>
            </a:r>
            <a:endParaRPr/>
          </a:p>
          <a:p>
            <a:pPr indent="-182880" lvl="0" marL="182880" rtl="1" algn="r">
              <a:lnSpc>
                <a:spcPct val="120000"/>
              </a:lnSpc>
              <a:spcBef>
                <a:spcPts val="900"/>
              </a:spcBef>
              <a:spcAft>
                <a:spcPts val="0"/>
              </a:spcAft>
              <a:buSzPts val="1800"/>
              <a:buFont typeface="Arial"/>
              <a:buChar char="•"/>
            </a:pPr>
            <a:r>
              <a:rPr lang="fa-IR" sz="1800"/>
              <a:t>همسویی استراتژی‌ها با اهداف زیست‌محیطی و اجتماعی</a:t>
            </a:r>
            <a:endParaRPr/>
          </a:p>
          <a:p>
            <a:pPr indent="-182880" lvl="0" marL="182880" rtl="1" algn="r">
              <a:lnSpc>
                <a:spcPct val="120000"/>
              </a:lnSpc>
              <a:spcBef>
                <a:spcPts val="900"/>
              </a:spcBef>
              <a:spcAft>
                <a:spcPts val="0"/>
              </a:spcAft>
              <a:buSzPts val="1800"/>
              <a:buFont typeface="Arial"/>
              <a:buChar char="•"/>
            </a:pPr>
            <a:r>
              <a:rPr lang="fa-IR" sz="1800"/>
              <a:t>ایجاد مزیت رقابتی پایدار در بازارهای جهانی</a:t>
            </a:r>
            <a:endParaRPr/>
          </a:p>
        </p:txBody>
      </p:sp>
      <p:pic>
        <p:nvPicPr>
          <p:cNvPr id="155" name="Google Shape;155;p5"/>
          <p:cNvPicPr preferRelativeResize="0"/>
          <p:nvPr/>
        </p:nvPicPr>
        <p:blipFill rotWithShape="1">
          <a:blip r:embed="rId3">
            <a:alphaModFix/>
          </a:blip>
          <a:srcRect b="0" l="0" r="0" t="0"/>
          <a:stretch/>
        </p:blipFill>
        <p:spPr>
          <a:xfrm>
            <a:off x="768913" y="1822310"/>
            <a:ext cx="5398683" cy="4393096"/>
          </a:xfrm>
          <a:prstGeom prst="rect">
            <a:avLst/>
          </a:prstGeom>
          <a:noFill/>
          <a:ln>
            <a:noFill/>
          </a:ln>
          <a:effectLst>
            <a:outerShdw blurRad="50800" rotWithShape="0" algn="t" dir="5400000" dist="38100">
              <a:srgbClr val="000000">
                <a:alpha val="4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کاربردهای Future Readiness</a:t>
            </a:r>
            <a:endParaRPr/>
          </a:p>
        </p:txBody>
      </p:sp>
      <p:sp>
        <p:nvSpPr>
          <p:cNvPr id="162" name="Google Shape;162;p6"/>
          <p:cNvSpPr txBox="1"/>
          <p:nvPr>
            <p:ph idx="1" type="body"/>
          </p:nvPr>
        </p:nvSpPr>
        <p:spPr>
          <a:xfrm>
            <a:off x="9646249" y="1994969"/>
            <a:ext cx="1847301" cy="3901068"/>
          </a:xfrm>
          <a:prstGeom prst="rect">
            <a:avLst/>
          </a:prstGeom>
          <a:noFill/>
          <a:ln>
            <a:noFill/>
          </a:ln>
        </p:spPr>
        <p:txBody>
          <a:bodyPr anchorCtr="0" anchor="ctr" bIns="45700" lIns="91425" spcFirstLastPara="1" rIns="91425" wrap="square" tIns="45700">
            <a:spAutoFit/>
          </a:bodyPr>
          <a:lstStyle/>
          <a:p>
            <a:pPr indent="-182880" lvl="0" marL="182880" rtl="1" algn="r">
              <a:lnSpc>
                <a:spcPct val="100000"/>
              </a:lnSpc>
              <a:spcBef>
                <a:spcPts val="0"/>
              </a:spcBef>
              <a:spcAft>
                <a:spcPts val="0"/>
              </a:spcAft>
              <a:buSzPts val="1800"/>
              <a:buFont typeface="Arial"/>
              <a:buChar char="•"/>
            </a:pPr>
            <a:r>
              <a:rPr lang="fa-IR" sz="1800">
                <a:latin typeface="Arial"/>
                <a:ea typeface="Arial"/>
                <a:cs typeface="Arial"/>
                <a:sym typeface="Arial"/>
              </a:rPr>
              <a:t>آموزش</a:t>
            </a:r>
            <a:endParaRPr/>
          </a:p>
          <a:p>
            <a:pPr indent="-182880" lvl="0" marL="182880" rtl="1" algn="r">
              <a:lnSpc>
                <a:spcPct val="100000"/>
              </a:lnSpc>
              <a:spcBef>
                <a:spcPts val="900"/>
              </a:spcBef>
              <a:spcAft>
                <a:spcPts val="0"/>
              </a:spcAft>
              <a:buSzPts val="1800"/>
              <a:buFont typeface="Arial"/>
              <a:buChar char="•"/>
            </a:pPr>
            <a:r>
              <a:rPr lang="fa-IR" sz="1800">
                <a:latin typeface="Arial"/>
                <a:ea typeface="Arial"/>
                <a:cs typeface="Arial"/>
                <a:sym typeface="Arial"/>
              </a:rPr>
              <a:t>کسب‌وکار</a:t>
            </a:r>
            <a:endParaRPr/>
          </a:p>
          <a:p>
            <a:pPr indent="-182880" lvl="0" marL="182880" rtl="1" algn="r">
              <a:lnSpc>
                <a:spcPct val="100000"/>
              </a:lnSpc>
              <a:spcBef>
                <a:spcPts val="900"/>
              </a:spcBef>
              <a:spcAft>
                <a:spcPts val="0"/>
              </a:spcAft>
              <a:buSzPts val="1800"/>
              <a:buFont typeface="Arial"/>
              <a:buChar char="•"/>
            </a:pPr>
            <a:r>
              <a:rPr lang="fa-IR" sz="1800">
                <a:latin typeface="Arial"/>
                <a:ea typeface="Arial"/>
                <a:cs typeface="Arial"/>
                <a:sym typeface="Arial"/>
              </a:rPr>
              <a:t>سیاست‌گذاری</a:t>
            </a:r>
            <a:endParaRPr/>
          </a:p>
          <a:p>
            <a:pPr indent="-182880" lvl="0" marL="182880" rtl="1" algn="r">
              <a:lnSpc>
                <a:spcPct val="100000"/>
              </a:lnSpc>
              <a:spcBef>
                <a:spcPts val="900"/>
              </a:spcBef>
              <a:spcAft>
                <a:spcPts val="0"/>
              </a:spcAft>
              <a:buSzPts val="1800"/>
              <a:buFont typeface="Arial"/>
              <a:buChar char="•"/>
            </a:pPr>
            <a:r>
              <a:rPr lang="fa-IR" sz="1800">
                <a:latin typeface="Arial"/>
                <a:ea typeface="Arial"/>
                <a:cs typeface="Arial"/>
                <a:sym typeface="Arial"/>
              </a:rPr>
              <a:t>فناوری</a:t>
            </a:r>
            <a:endParaRPr/>
          </a:p>
          <a:p>
            <a:pPr indent="-182880" lvl="0" marL="182880" rtl="1" algn="r">
              <a:lnSpc>
                <a:spcPct val="100000"/>
              </a:lnSpc>
              <a:spcBef>
                <a:spcPts val="900"/>
              </a:spcBef>
              <a:spcAft>
                <a:spcPts val="0"/>
              </a:spcAft>
              <a:buSzPts val="1800"/>
              <a:buFont typeface="Arial"/>
              <a:buChar char="•"/>
            </a:pPr>
            <a:r>
              <a:rPr lang="fa-IR" sz="1800"/>
              <a:t>بهداشت و درمان</a:t>
            </a:r>
            <a:endParaRPr/>
          </a:p>
          <a:p>
            <a:pPr indent="-182880" lvl="0" marL="182880" rtl="1" algn="r">
              <a:lnSpc>
                <a:spcPct val="100000"/>
              </a:lnSpc>
              <a:spcBef>
                <a:spcPts val="900"/>
              </a:spcBef>
              <a:spcAft>
                <a:spcPts val="0"/>
              </a:spcAft>
              <a:buSzPts val="1800"/>
              <a:buFont typeface="Arial"/>
              <a:buChar char="•"/>
            </a:pPr>
            <a:r>
              <a:rPr lang="fa-IR" sz="1800">
                <a:latin typeface="Arial"/>
                <a:ea typeface="Arial"/>
                <a:cs typeface="Arial"/>
                <a:sym typeface="Arial"/>
              </a:rPr>
              <a:t>حمل‌ونقل</a:t>
            </a:r>
            <a:endParaRPr/>
          </a:p>
          <a:p>
            <a:pPr indent="-182880" lvl="0" marL="182880" rtl="1" algn="r">
              <a:lnSpc>
                <a:spcPct val="100000"/>
              </a:lnSpc>
              <a:spcBef>
                <a:spcPts val="900"/>
              </a:spcBef>
              <a:spcAft>
                <a:spcPts val="0"/>
              </a:spcAft>
              <a:buSzPts val="1800"/>
              <a:buFont typeface="Arial"/>
              <a:buChar char="•"/>
            </a:pPr>
            <a:r>
              <a:rPr lang="fa-IR" sz="1800"/>
              <a:t>انرژی و محیط زیست</a:t>
            </a:r>
            <a:endParaRPr/>
          </a:p>
          <a:p>
            <a:pPr indent="-182880" lvl="0" marL="182880" rtl="1" algn="r">
              <a:lnSpc>
                <a:spcPct val="100000"/>
              </a:lnSpc>
              <a:spcBef>
                <a:spcPts val="900"/>
              </a:spcBef>
              <a:spcAft>
                <a:spcPts val="0"/>
              </a:spcAft>
              <a:buSzPts val="1800"/>
              <a:buFont typeface="Arial"/>
              <a:buChar char="•"/>
            </a:pPr>
            <a:r>
              <a:rPr lang="fa-IR" sz="1800"/>
              <a:t>امنیت و دفاع</a:t>
            </a:r>
            <a:endParaRPr/>
          </a:p>
          <a:p>
            <a:pPr indent="-182880" lvl="0" marL="182880" rtl="1" algn="r">
              <a:lnSpc>
                <a:spcPct val="100000"/>
              </a:lnSpc>
              <a:spcBef>
                <a:spcPts val="900"/>
              </a:spcBef>
              <a:spcAft>
                <a:spcPts val="0"/>
              </a:spcAft>
              <a:buSzPts val="1800"/>
              <a:buFont typeface="Arial"/>
              <a:buChar char="•"/>
            </a:pPr>
            <a:r>
              <a:rPr lang="fa-IR" sz="1800"/>
              <a:t>کشاورزی و غذا</a:t>
            </a:r>
            <a:endParaRPr/>
          </a:p>
          <a:p>
            <a:pPr indent="-182880" lvl="0" marL="182880" rtl="1" algn="r">
              <a:lnSpc>
                <a:spcPct val="100000"/>
              </a:lnSpc>
              <a:spcBef>
                <a:spcPts val="900"/>
              </a:spcBef>
              <a:spcAft>
                <a:spcPts val="0"/>
              </a:spcAft>
              <a:buSzPts val="1800"/>
              <a:buFont typeface="Arial"/>
              <a:buChar char="•"/>
            </a:pPr>
            <a:r>
              <a:rPr lang="fa-IR" sz="1800"/>
              <a:t>مدیریت بحران</a:t>
            </a:r>
            <a:endParaRPr/>
          </a:p>
        </p:txBody>
      </p:sp>
      <p:pic>
        <p:nvPicPr>
          <p:cNvPr descr="Sustainable Development Stock Photos, Images and Backgrounds for Free  Download" id="163" name="Google Shape;163;p6"/>
          <p:cNvPicPr preferRelativeResize="0"/>
          <p:nvPr/>
        </p:nvPicPr>
        <p:blipFill rotWithShape="1">
          <a:blip r:embed="rId3">
            <a:alphaModFix/>
          </a:blip>
          <a:srcRect b="0" l="0" r="0" t="0"/>
          <a:stretch/>
        </p:blipFill>
        <p:spPr>
          <a:xfrm>
            <a:off x="1066800" y="2512515"/>
            <a:ext cx="6074465" cy="326584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7"/>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نتیجه‌گیری Future Readiness</a:t>
            </a:r>
            <a:endParaRPr/>
          </a:p>
        </p:txBody>
      </p:sp>
      <p:sp>
        <p:nvSpPr>
          <p:cNvPr id="170" name="Google Shape;170;p7"/>
          <p:cNvSpPr txBox="1"/>
          <p:nvPr>
            <p:ph idx="1" type="body"/>
          </p:nvPr>
        </p:nvSpPr>
        <p:spPr>
          <a:xfrm>
            <a:off x="8469645" y="2430000"/>
            <a:ext cx="3023905" cy="2215991"/>
          </a:xfrm>
          <a:prstGeom prst="rect">
            <a:avLst/>
          </a:prstGeom>
          <a:noFill/>
          <a:ln>
            <a:noFill/>
          </a:ln>
        </p:spPr>
        <p:txBody>
          <a:bodyPr anchorCtr="0" anchor="ctr" bIns="45700" lIns="91425" spcFirstLastPara="1" rIns="91425" wrap="square" tIns="45700">
            <a:spAutoFit/>
          </a:bodyPr>
          <a:lstStyle/>
          <a:p>
            <a:pPr indent="-182880" lvl="0" marL="182880" rtl="1" algn="r">
              <a:lnSpc>
                <a:spcPct val="120000"/>
              </a:lnSpc>
              <a:spcBef>
                <a:spcPts val="0"/>
              </a:spcBef>
              <a:spcAft>
                <a:spcPts val="0"/>
              </a:spcAft>
              <a:buSzPts val="1800"/>
              <a:buFont typeface="Arial"/>
              <a:buChar char="•"/>
            </a:pPr>
            <a:r>
              <a:rPr lang="fa-IR" sz="1800"/>
              <a:t>آینده‌نگاری و تحلیل روندها</a:t>
            </a:r>
            <a:endParaRPr/>
          </a:p>
          <a:p>
            <a:pPr indent="-182880" lvl="0" marL="182880" rtl="1" algn="r">
              <a:lnSpc>
                <a:spcPct val="120000"/>
              </a:lnSpc>
              <a:spcBef>
                <a:spcPts val="900"/>
              </a:spcBef>
              <a:spcAft>
                <a:spcPts val="0"/>
              </a:spcAft>
              <a:buSzPts val="1800"/>
              <a:buFont typeface="Arial"/>
              <a:buChar char="•"/>
            </a:pPr>
            <a:r>
              <a:rPr lang="fa-IR" sz="1800"/>
              <a:t>چابکی و سازگاری در برابر تغییرات</a:t>
            </a:r>
            <a:endParaRPr/>
          </a:p>
          <a:p>
            <a:pPr indent="-182880" lvl="0" marL="182880" rtl="1" algn="r">
              <a:lnSpc>
                <a:spcPct val="120000"/>
              </a:lnSpc>
              <a:spcBef>
                <a:spcPts val="900"/>
              </a:spcBef>
              <a:spcAft>
                <a:spcPts val="0"/>
              </a:spcAft>
              <a:buSzPts val="1800"/>
              <a:buFont typeface="Arial"/>
              <a:buChar char="•"/>
            </a:pPr>
            <a:r>
              <a:rPr lang="fa-IR" sz="1800"/>
              <a:t>توسعه نوآوری و خلاقیت</a:t>
            </a:r>
            <a:endParaRPr/>
          </a:p>
          <a:p>
            <a:pPr indent="-182880" lvl="0" marL="182880" rtl="1" algn="r">
              <a:lnSpc>
                <a:spcPct val="120000"/>
              </a:lnSpc>
              <a:spcBef>
                <a:spcPts val="900"/>
              </a:spcBef>
              <a:spcAft>
                <a:spcPts val="0"/>
              </a:spcAft>
              <a:buSzPts val="1800"/>
              <a:buFont typeface="Arial"/>
              <a:buChar char="•"/>
            </a:pPr>
            <a:r>
              <a:rPr lang="fa-IR" sz="1800"/>
              <a:t>ایجاد فرهنگ یادگیری مداوم</a:t>
            </a:r>
            <a:endParaRPr/>
          </a:p>
          <a:p>
            <a:pPr indent="-182880" lvl="0" marL="182880" rtl="1" algn="r">
              <a:lnSpc>
                <a:spcPct val="120000"/>
              </a:lnSpc>
              <a:spcBef>
                <a:spcPts val="900"/>
              </a:spcBef>
              <a:spcAft>
                <a:spcPts val="0"/>
              </a:spcAft>
              <a:buSzPts val="1800"/>
              <a:buFont typeface="Arial"/>
              <a:buChar char="•"/>
            </a:pPr>
            <a:r>
              <a:rPr lang="fa-IR" sz="1800"/>
              <a:t>تمرکز بر پایداری و مسئولیت اجتماعی</a:t>
            </a:r>
            <a:endParaRPr/>
          </a:p>
        </p:txBody>
      </p:sp>
      <p:pic>
        <p:nvPicPr>
          <p:cNvPr descr="Culture of Continuous Learning: Excellence with a Learning Culture" id="171" name="Google Shape;171;p7"/>
          <p:cNvPicPr preferRelativeResize="0"/>
          <p:nvPr/>
        </p:nvPicPr>
        <p:blipFill rotWithShape="1">
          <a:blip r:embed="rId3">
            <a:alphaModFix/>
          </a:blip>
          <a:srcRect b="0" l="0" r="0" t="0"/>
          <a:stretch/>
        </p:blipFill>
        <p:spPr>
          <a:xfrm>
            <a:off x="1191491" y="1795532"/>
            <a:ext cx="5624343" cy="37514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8"/>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تعریف و معرفی Future FITness</a:t>
            </a:r>
            <a:endParaRPr/>
          </a:p>
        </p:txBody>
      </p:sp>
      <p:sp>
        <p:nvSpPr>
          <p:cNvPr id="178" name="Google Shape;178;p8"/>
          <p:cNvSpPr txBox="1"/>
          <p:nvPr>
            <p:ph idx="1" type="body"/>
          </p:nvPr>
        </p:nvSpPr>
        <p:spPr>
          <a:xfrm>
            <a:off x="550717" y="2646843"/>
            <a:ext cx="11193571" cy="1719958"/>
          </a:xfrm>
          <a:prstGeom prst="rect">
            <a:avLst/>
          </a:prstGeom>
          <a:noFill/>
          <a:ln>
            <a:noFill/>
          </a:ln>
        </p:spPr>
        <p:txBody>
          <a:bodyPr anchorCtr="0" anchor="ctr" bIns="45700" lIns="91425" spcFirstLastPara="1" rIns="91425" wrap="square" tIns="45700">
            <a:spAutoFit/>
          </a:bodyPr>
          <a:lstStyle/>
          <a:p>
            <a:pPr indent="0" lvl="0" marL="0" rtl="1" algn="r">
              <a:lnSpc>
                <a:spcPct val="120000"/>
              </a:lnSpc>
              <a:spcBef>
                <a:spcPts val="0"/>
              </a:spcBef>
              <a:spcAft>
                <a:spcPts val="0"/>
              </a:spcAft>
              <a:buSzPts val="1400"/>
              <a:buNone/>
            </a:pPr>
            <a:r>
              <a:rPr b="1" lang="fa-IR"/>
              <a:t>Future FITness </a:t>
            </a:r>
            <a:r>
              <a:rPr b="1" lang="fa-IR">
                <a:latin typeface="Arial"/>
                <a:ea typeface="Arial"/>
                <a:cs typeface="Arial"/>
                <a:sym typeface="Arial"/>
              </a:rPr>
              <a:t>چیست؟</a:t>
            </a:r>
            <a:endParaRPr/>
          </a:p>
          <a:p>
            <a:pPr indent="-285750" lvl="1" marL="742950" rtl="1" algn="r">
              <a:lnSpc>
                <a:spcPct val="100000"/>
              </a:lnSpc>
              <a:spcBef>
                <a:spcPts val="500"/>
              </a:spcBef>
              <a:spcAft>
                <a:spcPts val="0"/>
              </a:spcAft>
              <a:buSzPts val="1200"/>
              <a:buFont typeface="Arial"/>
              <a:buChar char="•"/>
            </a:pPr>
            <a:r>
              <a:rPr lang="fa-IR"/>
              <a:t>مفهوم تناسب با آینده (Future FITness) به معنای توانایی مداوم افراد و سازمان‌ها برای حفظ عملکرد بهینه و موفقیت در مواجهه با تغییرات سریع و محیط‌های پیچیده است.</a:t>
            </a:r>
            <a:endParaRPr/>
          </a:p>
          <a:p>
            <a:pPr indent="-285750" lvl="1" marL="742950" rtl="1" algn="r">
              <a:lnSpc>
                <a:spcPct val="100000"/>
              </a:lnSpc>
              <a:spcBef>
                <a:spcPts val="500"/>
              </a:spcBef>
              <a:spcAft>
                <a:spcPts val="0"/>
              </a:spcAft>
              <a:buSzPts val="1200"/>
              <a:buFont typeface="Arial"/>
              <a:buChar char="•"/>
            </a:pPr>
            <a:r>
              <a:rPr lang="fa-IR"/>
              <a:t>این مفهوم بر پایداری، انطباق‌پذیری و نوآوری تأکید دارد.</a:t>
            </a:r>
            <a:endParaRPr/>
          </a:p>
          <a:p>
            <a:pPr indent="0" lvl="0" marL="0" rtl="1" algn="r">
              <a:lnSpc>
                <a:spcPct val="120000"/>
              </a:lnSpc>
              <a:spcBef>
                <a:spcPts val="900"/>
              </a:spcBef>
              <a:spcAft>
                <a:spcPts val="0"/>
              </a:spcAft>
              <a:buSzPts val="1400"/>
              <a:buNone/>
            </a:pPr>
            <a:r>
              <a:rPr b="1" lang="fa-IR"/>
              <a:t>تفاوت با Future Readiness:</a:t>
            </a:r>
            <a:endParaRPr/>
          </a:p>
          <a:p>
            <a:pPr indent="-285750" lvl="1" marL="742950" rtl="1" algn="r">
              <a:lnSpc>
                <a:spcPct val="100000"/>
              </a:lnSpc>
              <a:spcBef>
                <a:spcPts val="500"/>
              </a:spcBef>
              <a:spcAft>
                <a:spcPts val="0"/>
              </a:spcAft>
              <a:buSzPts val="1200"/>
              <a:buFont typeface="Arial"/>
              <a:buChar char="•"/>
            </a:pPr>
            <a:r>
              <a:rPr lang="fa-IR"/>
              <a:t>آمادگی برای آینده (Future Readiness) بیشتر بر پیش‌بینی و برنامه‌ریزی متمرکز است.</a:t>
            </a:r>
            <a:endParaRPr/>
          </a:p>
          <a:p>
            <a:pPr indent="-285750" lvl="1" marL="742950" rtl="1" algn="r">
              <a:lnSpc>
                <a:spcPct val="100000"/>
              </a:lnSpc>
              <a:spcBef>
                <a:spcPts val="500"/>
              </a:spcBef>
              <a:spcAft>
                <a:spcPts val="0"/>
              </a:spcAft>
              <a:buSzPts val="1200"/>
              <a:buFont typeface="Arial"/>
              <a:buChar char="•"/>
            </a:pPr>
            <a:r>
              <a:rPr lang="fa-IR"/>
              <a:t>تناسب با آینده (Future FITness) بر ظرفیت مداوم برای سازگاری و بهینه‌سازی تأکید دارد.</a:t>
            </a:r>
            <a:endParaRPr/>
          </a:p>
        </p:txBody>
      </p:sp>
      <p:pic>
        <p:nvPicPr>
          <p:cNvPr descr="Future-Fit Business Benchmark - Future-Fit Business" id="179" name="Google Shape;179;p8"/>
          <p:cNvPicPr preferRelativeResize="0"/>
          <p:nvPr/>
        </p:nvPicPr>
        <p:blipFill rotWithShape="1">
          <a:blip r:embed="rId3">
            <a:alphaModFix/>
          </a:blip>
          <a:srcRect b="0" l="0" r="0" t="0"/>
          <a:stretch/>
        </p:blipFill>
        <p:spPr>
          <a:xfrm>
            <a:off x="810491" y="3365011"/>
            <a:ext cx="2736624" cy="27366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9"/>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خاستگاه و بنیان‌گذار: رنه روهربک</a:t>
            </a:r>
            <a:endParaRPr/>
          </a:p>
        </p:txBody>
      </p:sp>
      <p:sp>
        <p:nvSpPr>
          <p:cNvPr id="186" name="Google Shape;186;p9"/>
          <p:cNvSpPr txBox="1"/>
          <p:nvPr>
            <p:ph idx="1" type="body"/>
          </p:nvPr>
        </p:nvSpPr>
        <p:spPr>
          <a:xfrm>
            <a:off x="550717" y="2770467"/>
            <a:ext cx="11193571" cy="1472711"/>
          </a:xfrm>
          <a:prstGeom prst="rect">
            <a:avLst/>
          </a:prstGeom>
          <a:noFill/>
          <a:ln>
            <a:noFill/>
          </a:ln>
        </p:spPr>
        <p:txBody>
          <a:bodyPr anchorCtr="0" anchor="ctr" bIns="45700" lIns="91425" spcFirstLastPara="1" rIns="91425" wrap="square" tIns="45700">
            <a:spAutoFit/>
          </a:bodyPr>
          <a:lstStyle/>
          <a:p>
            <a:pPr indent="0" lvl="0" marL="0" rtl="1" algn="r">
              <a:lnSpc>
                <a:spcPct val="120000"/>
              </a:lnSpc>
              <a:spcBef>
                <a:spcPts val="0"/>
              </a:spcBef>
              <a:spcAft>
                <a:spcPts val="0"/>
              </a:spcAft>
              <a:buSzPts val="1400"/>
              <a:buNone/>
            </a:pPr>
            <a:r>
              <a:rPr b="1" lang="fa-IR"/>
              <a:t>معرفی: مفهوم Future Fitness توسط پروفسور رنه روهربک (René Rohrbeck) در دانشگاه آرهوس توسعه یافت.</a:t>
            </a:r>
            <a:endParaRPr/>
          </a:p>
          <a:p>
            <a:pPr indent="0" lvl="0" marL="0" rtl="1" algn="r">
              <a:lnSpc>
                <a:spcPct val="120000"/>
              </a:lnSpc>
              <a:spcBef>
                <a:spcPts val="900"/>
              </a:spcBef>
              <a:spcAft>
                <a:spcPts val="0"/>
              </a:spcAft>
              <a:buSzPts val="1400"/>
              <a:buNone/>
            </a:pPr>
            <a:r>
              <a:rPr b="1" lang="fa-IR"/>
              <a:t>پایه تحقیقاتی: حاصل تحقیقات طولی بر روی شرکت‌ها و ارتباط مستقیم بین آینده‌نگری و عملکرد مالی.</a:t>
            </a:r>
            <a:endParaRPr/>
          </a:p>
          <a:p>
            <a:pPr indent="0" lvl="0" marL="0" rtl="1" algn="r">
              <a:lnSpc>
                <a:spcPct val="120000"/>
              </a:lnSpc>
              <a:spcBef>
                <a:spcPts val="900"/>
              </a:spcBef>
              <a:spcAft>
                <a:spcPts val="0"/>
              </a:spcAft>
              <a:buSzPts val="1400"/>
              <a:buNone/>
            </a:pPr>
            <a:r>
              <a:rPr b="1" lang="fa-IR"/>
              <a:t>یافته کلیدی: شرکت‌های با "آمادگی برای آینده" (Future Preparedness) به طور متوسط ۳۳٪ سودآوری بیشتر و ۲۰۰٪ رشد ارزش بازار بالاتری داشتند.</a:t>
            </a:r>
            <a:endParaRPr/>
          </a:p>
          <a:p>
            <a:pPr indent="0" lvl="0" marL="0" rtl="1" algn="r">
              <a:lnSpc>
                <a:spcPct val="120000"/>
              </a:lnSpc>
              <a:spcBef>
                <a:spcPts val="900"/>
              </a:spcBef>
              <a:spcAft>
                <a:spcPts val="0"/>
              </a:spcAft>
              <a:buSzPts val="1400"/>
              <a:buNone/>
            </a:pPr>
            <a:r>
              <a:rPr b="1" lang="fa-IR"/>
              <a:t>هدف اصلی: تبدیل آینده‌نگاری از یک فعالیت تئوریک به یک قابلیت سازمانی (Organizational Capability) قابل اندازه‌گیری.</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0"/>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رمزگشایی از FITness: یک فرمول استراتژیک</a:t>
            </a:r>
            <a:endParaRPr/>
          </a:p>
        </p:txBody>
      </p:sp>
      <p:sp>
        <p:nvSpPr>
          <p:cNvPr id="193" name="Google Shape;193;p10"/>
          <p:cNvSpPr txBox="1"/>
          <p:nvPr>
            <p:ph idx="1" type="body"/>
          </p:nvPr>
        </p:nvSpPr>
        <p:spPr>
          <a:xfrm>
            <a:off x="550717" y="2034882"/>
            <a:ext cx="11193571" cy="2943883"/>
          </a:xfrm>
          <a:prstGeom prst="rect">
            <a:avLst/>
          </a:prstGeom>
          <a:noFill/>
          <a:ln>
            <a:noFill/>
          </a:ln>
        </p:spPr>
        <p:txBody>
          <a:bodyPr anchorCtr="0" anchor="ctr" bIns="45700" lIns="91425" spcFirstLastPara="1" rIns="91425" wrap="square" tIns="45700">
            <a:spAutoFit/>
          </a:bodyPr>
          <a:lstStyle/>
          <a:p>
            <a:pPr indent="-182880" lvl="0" marL="182880" rtl="1" algn="r">
              <a:lnSpc>
                <a:spcPct val="120000"/>
              </a:lnSpc>
              <a:spcBef>
                <a:spcPts val="0"/>
              </a:spcBef>
              <a:spcAft>
                <a:spcPts val="0"/>
              </a:spcAft>
              <a:buSzPts val="1400"/>
              <a:buFont typeface="Arial"/>
              <a:buChar char="•"/>
            </a:pPr>
            <a:r>
              <a:rPr lang="fa-IR">
                <a:latin typeface="Times New Roman"/>
                <a:ea typeface="Times New Roman"/>
                <a:cs typeface="Times New Roman"/>
                <a:sym typeface="Times New Roman"/>
              </a:rPr>
              <a:t>انتخاب کلمه </a:t>
            </a:r>
            <a:r>
              <a:rPr b="1" lang="fa-IR">
                <a:latin typeface="Times New Roman"/>
                <a:ea typeface="Times New Roman"/>
                <a:cs typeface="Times New Roman"/>
                <a:sym typeface="Times New Roman"/>
              </a:rPr>
              <a:t>FITness</a:t>
            </a:r>
            <a:r>
              <a:rPr lang="fa-IR">
                <a:latin typeface="Times New Roman"/>
                <a:ea typeface="Times New Roman"/>
                <a:cs typeface="Times New Roman"/>
                <a:sym typeface="Times New Roman"/>
              </a:rPr>
              <a:t> یک بازی هوشمندانه با کلمات و یک مفهوم عمیق است.</a:t>
            </a:r>
            <a:endParaRPr/>
          </a:p>
          <a:p>
            <a:pPr indent="-182880" lvl="0" marL="182880" rtl="1" algn="r">
              <a:lnSpc>
                <a:spcPct val="120000"/>
              </a:lnSpc>
              <a:spcBef>
                <a:spcPts val="900"/>
              </a:spcBef>
              <a:spcAft>
                <a:spcPts val="0"/>
              </a:spcAft>
              <a:buSzPts val="1400"/>
              <a:buFont typeface="Arial"/>
              <a:buChar char="•"/>
            </a:pPr>
            <a:r>
              <a:rPr lang="fa-IR">
                <a:latin typeface="Times New Roman"/>
                <a:ea typeface="Times New Roman"/>
                <a:cs typeface="Times New Roman"/>
                <a:sym typeface="Times New Roman"/>
              </a:rPr>
              <a:t>این نام هم به معنای لغوی </a:t>
            </a:r>
            <a:r>
              <a:rPr b="1" lang="fa-IR">
                <a:latin typeface="Times New Roman"/>
                <a:ea typeface="Times New Roman"/>
                <a:cs typeface="Times New Roman"/>
                <a:sym typeface="Times New Roman"/>
              </a:rPr>
              <a:t>"تناسب، ورزیدگی و چالاکی"</a:t>
            </a:r>
            <a:r>
              <a:rPr lang="fa-IR">
                <a:latin typeface="Times New Roman"/>
                <a:ea typeface="Times New Roman"/>
                <a:cs typeface="Times New Roman"/>
                <a:sym typeface="Times New Roman"/>
              </a:rPr>
              <a:t> برای مواجهه با آینده اشاره دارد و هم یک </a:t>
            </a:r>
            <a:r>
              <a:rPr b="1" lang="fa-IR">
                <a:latin typeface="Times New Roman"/>
                <a:ea typeface="Times New Roman"/>
                <a:cs typeface="Times New Roman"/>
                <a:sym typeface="Times New Roman"/>
              </a:rPr>
              <a:t>سرواژه (Acronym) </a:t>
            </a:r>
            <a:r>
              <a:rPr lang="fa-IR">
                <a:latin typeface="Times New Roman"/>
                <a:ea typeface="Times New Roman"/>
                <a:cs typeface="Times New Roman"/>
                <a:sym typeface="Times New Roman"/>
              </a:rPr>
              <a:t>کلیدی است:</a:t>
            </a:r>
            <a:endParaRPr/>
          </a:p>
          <a:p>
            <a:pPr indent="-182880" lvl="0" marL="182880" rtl="1" algn="r">
              <a:lnSpc>
                <a:spcPct val="120000"/>
              </a:lnSpc>
              <a:spcBef>
                <a:spcPts val="900"/>
              </a:spcBef>
              <a:spcAft>
                <a:spcPts val="0"/>
              </a:spcAft>
              <a:buSzPts val="1400"/>
              <a:buFont typeface="Arial"/>
              <a:buChar char="•"/>
            </a:pPr>
            <a:r>
              <a:rPr b="1" lang="fa-IR">
                <a:latin typeface="Times New Roman"/>
                <a:ea typeface="Times New Roman"/>
                <a:cs typeface="Times New Roman"/>
                <a:sym typeface="Times New Roman"/>
              </a:rPr>
              <a:t>F = Foresight (آینده‌نگاری):</a:t>
            </a:r>
            <a:endParaRPr>
              <a:latin typeface="Times New Roman"/>
              <a:ea typeface="Times New Roman"/>
              <a:cs typeface="Times New Roman"/>
              <a:sym typeface="Times New Roman"/>
            </a:endParaRPr>
          </a:p>
          <a:p>
            <a:pPr indent="-285750" lvl="1" marL="742950" rtl="1" algn="r">
              <a:lnSpc>
                <a:spcPct val="100000"/>
              </a:lnSpc>
              <a:spcBef>
                <a:spcPts val="500"/>
              </a:spcBef>
              <a:spcAft>
                <a:spcPts val="0"/>
              </a:spcAft>
              <a:buSzPts val="1200"/>
              <a:buFont typeface="Arial"/>
              <a:buChar char="•"/>
            </a:pPr>
            <a:r>
              <a:rPr lang="fa-IR">
                <a:latin typeface="Times New Roman"/>
                <a:ea typeface="Times New Roman"/>
                <a:cs typeface="Times New Roman"/>
                <a:sym typeface="Times New Roman"/>
              </a:rPr>
              <a:t>توانایی دیدن و درک آینده. این همان فازهای </a:t>
            </a:r>
            <a:r>
              <a:rPr b="1" lang="fa-IR">
                <a:latin typeface="Times New Roman"/>
                <a:ea typeface="Times New Roman"/>
                <a:cs typeface="Times New Roman"/>
                <a:sym typeface="Times New Roman"/>
              </a:rPr>
              <a:t>Perceiving</a:t>
            </a:r>
            <a:r>
              <a:rPr lang="fa-IR">
                <a:latin typeface="Times New Roman"/>
                <a:ea typeface="Times New Roman"/>
                <a:cs typeface="Times New Roman"/>
                <a:sym typeface="Times New Roman"/>
              </a:rPr>
              <a:t> و </a:t>
            </a:r>
            <a:r>
              <a:rPr b="1" lang="fa-IR">
                <a:latin typeface="Times New Roman"/>
                <a:ea typeface="Times New Roman"/>
                <a:cs typeface="Times New Roman"/>
                <a:sym typeface="Times New Roman"/>
              </a:rPr>
              <a:t>Prospecting</a:t>
            </a:r>
            <a:r>
              <a:rPr lang="fa-IR">
                <a:latin typeface="Times New Roman"/>
                <a:ea typeface="Times New Roman"/>
                <a:cs typeface="Times New Roman"/>
                <a:sym typeface="Times New Roman"/>
              </a:rPr>
              <a:t> است.</a:t>
            </a:r>
            <a:endParaRPr/>
          </a:p>
          <a:p>
            <a:pPr indent="-182880" lvl="0" marL="182880" rtl="1" algn="r">
              <a:lnSpc>
                <a:spcPct val="120000"/>
              </a:lnSpc>
              <a:spcBef>
                <a:spcPts val="900"/>
              </a:spcBef>
              <a:spcAft>
                <a:spcPts val="0"/>
              </a:spcAft>
              <a:buSzPts val="1400"/>
              <a:buFont typeface="Arial"/>
              <a:buChar char="•"/>
            </a:pPr>
            <a:r>
              <a:rPr b="1" lang="fa-IR">
                <a:latin typeface="Times New Roman"/>
                <a:ea typeface="Times New Roman"/>
                <a:cs typeface="Times New Roman"/>
                <a:sym typeface="Times New Roman"/>
              </a:rPr>
              <a:t>I = Innovation (نوآوری):</a:t>
            </a:r>
            <a:endParaRPr>
              <a:latin typeface="Times New Roman"/>
              <a:ea typeface="Times New Roman"/>
              <a:cs typeface="Times New Roman"/>
              <a:sym typeface="Times New Roman"/>
            </a:endParaRPr>
          </a:p>
          <a:p>
            <a:pPr indent="-285750" lvl="1" marL="742950" rtl="1" algn="r">
              <a:lnSpc>
                <a:spcPct val="100000"/>
              </a:lnSpc>
              <a:spcBef>
                <a:spcPts val="500"/>
              </a:spcBef>
              <a:spcAft>
                <a:spcPts val="0"/>
              </a:spcAft>
              <a:buSzPts val="1200"/>
              <a:buFont typeface="Arial"/>
              <a:buChar char="•"/>
            </a:pPr>
            <a:r>
              <a:rPr lang="fa-IR">
                <a:latin typeface="Times New Roman"/>
                <a:ea typeface="Times New Roman"/>
                <a:cs typeface="Times New Roman"/>
                <a:sym typeface="Times New Roman"/>
              </a:rPr>
              <a:t>توانایی خلق و ساختن چیزهای جدید بر اساس بینش آینده. این همان فاز </a:t>
            </a:r>
            <a:r>
              <a:rPr b="1" lang="fa-IR">
                <a:latin typeface="Times New Roman"/>
                <a:ea typeface="Times New Roman"/>
                <a:cs typeface="Times New Roman"/>
                <a:sym typeface="Times New Roman"/>
              </a:rPr>
              <a:t>Probing</a:t>
            </a:r>
            <a:r>
              <a:rPr lang="fa-IR">
                <a:latin typeface="Times New Roman"/>
                <a:ea typeface="Times New Roman"/>
                <a:cs typeface="Times New Roman"/>
                <a:sym typeface="Times New Roman"/>
              </a:rPr>
              <a:t> و نقش‌های سه‌گانه (آغازگر، استراتژیست، مخالف) است.</a:t>
            </a:r>
            <a:endParaRPr/>
          </a:p>
          <a:p>
            <a:pPr indent="-182880" lvl="0" marL="182880" rtl="1" algn="r">
              <a:lnSpc>
                <a:spcPct val="120000"/>
              </a:lnSpc>
              <a:spcBef>
                <a:spcPts val="900"/>
              </a:spcBef>
              <a:spcAft>
                <a:spcPts val="0"/>
              </a:spcAft>
              <a:buSzPts val="1400"/>
              <a:buFont typeface="Arial"/>
              <a:buChar char="•"/>
            </a:pPr>
            <a:r>
              <a:rPr b="1" lang="fa-IR">
                <a:latin typeface="Times New Roman"/>
                <a:ea typeface="Times New Roman"/>
                <a:cs typeface="Times New Roman"/>
                <a:sym typeface="Times New Roman"/>
              </a:rPr>
              <a:t>T = Transformation (تحول):</a:t>
            </a:r>
            <a:endParaRPr>
              <a:latin typeface="Times New Roman"/>
              <a:ea typeface="Times New Roman"/>
              <a:cs typeface="Times New Roman"/>
              <a:sym typeface="Times New Roman"/>
            </a:endParaRPr>
          </a:p>
          <a:p>
            <a:pPr indent="-285750" lvl="1" marL="742950" rtl="1" algn="r">
              <a:lnSpc>
                <a:spcPct val="100000"/>
              </a:lnSpc>
              <a:spcBef>
                <a:spcPts val="500"/>
              </a:spcBef>
              <a:spcAft>
                <a:spcPts val="0"/>
              </a:spcAft>
              <a:buSzPts val="1200"/>
              <a:buFont typeface="Arial"/>
              <a:buChar char="•"/>
            </a:pPr>
            <a:r>
              <a:rPr b="1" lang="fa-IR">
                <a:latin typeface="Times New Roman"/>
                <a:ea typeface="Times New Roman"/>
                <a:cs typeface="Times New Roman"/>
                <a:sym typeface="Times New Roman"/>
              </a:rPr>
              <a:t>هدف نهایی.</a:t>
            </a:r>
            <a:r>
              <a:rPr lang="fa-IR">
                <a:latin typeface="Times New Roman"/>
                <a:ea typeface="Times New Roman"/>
                <a:cs typeface="Times New Roman"/>
                <a:sym typeface="Times New Roman"/>
              </a:rPr>
              <a:t> توانایی تغییر بنیادین سازمان برای موفقیت پایدار. این یعنی آینده‌نگری و نوآوری به تغییر DNA سازمان منجر شود.</a:t>
            </a:r>
            <a:endParaRPr/>
          </a:p>
          <a:p>
            <a:pPr indent="-182880" lvl="0" marL="182880" rtl="1" algn="r">
              <a:lnSpc>
                <a:spcPct val="120000"/>
              </a:lnSpc>
              <a:spcBef>
                <a:spcPts val="900"/>
              </a:spcBef>
              <a:spcAft>
                <a:spcPts val="0"/>
              </a:spcAft>
              <a:buSzPts val="1400"/>
              <a:buChar char="◦"/>
            </a:pPr>
            <a:r>
              <a:rPr b="1" lang="fa-IR">
                <a:latin typeface="Times New Roman"/>
                <a:ea typeface="Times New Roman"/>
                <a:cs typeface="Times New Roman"/>
                <a:sym typeface="Times New Roman"/>
              </a:rPr>
              <a:t>فرمول موفقیت: آینده‌نگری (F) به نوآوری (I) منجر می‌شود و نوآوری، تحول (T) را ممکن می‌سازد.</a:t>
            </a:r>
            <a:endParaRPr>
              <a:latin typeface="Times New Roman"/>
              <a:ea typeface="Times New Roman"/>
              <a:cs typeface="Times New Roman"/>
              <a:sym typeface="Times New Roman"/>
            </a:endParaRPr>
          </a:p>
        </p:txBody>
      </p:sp>
      <p:pic>
        <p:nvPicPr>
          <p:cNvPr descr="Digital Transformation — an endless journey towards perfection | IT Svit" id="194" name="Google Shape;194;p10"/>
          <p:cNvPicPr preferRelativeResize="0"/>
          <p:nvPr/>
        </p:nvPicPr>
        <p:blipFill rotWithShape="1">
          <a:blip r:embed="rId3">
            <a:alphaModFix/>
          </a:blip>
          <a:srcRect b="0" l="0" r="0" t="0"/>
          <a:stretch/>
        </p:blipFill>
        <p:spPr>
          <a:xfrm>
            <a:off x="550717" y="3014615"/>
            <a:ext cx="3792683" cy="19848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1"/>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آناتومی Future FITness: مدل دوگانه روهربک</a:t>
            </a:r>
            <a:endParaRPr/>
          </a:p>
        </p:txBody>
      </p:sp>
      <p:sp>
        <p:nvSpPr>
          <p:cNvPr id="201" name="Google Shape;201;p11"/>
          <p:cNvSpPr txBox="1"/>
          <p:nvPr>
            <p:ph idx="1" type="body"/>
          </p:nvPr>
        </p:nvSpPr>
        <p:spPr>
          <a:xfrm>
            <a:off x="550717" y="2209545"/>
            <a:ext cx="11193571" cy="2594556"/>
          </a:xfrm>
          <a:prstGeom prst="rect">
            <a:avLst/>
          </a:prstGeom>
          <a:noFill/>
          <a:ln>
            <a:noFill/>
          </a:ln>
        </p:spPr>
        <p:txBody>
          <a:bodyPr anchorCtr="0" anchor="ctr" bIns="45700" lIns="91425" spcFirstLastPara="1" rIns="91425" wrap="square" tIns="45700">
            <a:spAutoFit/>
          </a:bodyPr>
          <a:lstStyle/>
          <a:p>
            <a:pPr indent="0" lvl="0" marL="0" rtl="1" algn="r">
              <a:lnSpc>
                <a:spcPct val="120000"/>
              </a:lnSpc>
              <a:spcBef>
                <a:spcPts val="0"/>
              </a:spcBef>
              <a:spcAft>
                <a:spcPts val="0"/>
              </a:spcAft>
              <a:buSzPts val="1400"/>
              <a:buNone/>
            </a:pPr>
            <a:r>
              <a:rPr b="1" lang="fa-IR"/>
              <a:t>۱. مدل بلوغ (Maturity Model): </a:t>
            </a:r>
            <a:endParaRPr/>
          </a:p>
          <a:p>
            <a:pPr indent="0" lvl="0" marL="0" rtl="1" algn="r">
              <a:lnSpc>
                <a:spcPct val="120000"/>
              </a:lnSpc>
              <a:spcBef>
                <a:spcPts val="900"/>
              </a:spcBef>
              <a:spcAft>
                <a:spcPts val="0"/>
              </a:spcAft>
              <a:buSzPts val="1400"/>
              <a:buNone/>
            </a:pPr>
            <a:r>
              <a:rPr b="1" lang="fa-IR"/>
              <a:t>سنجش توانایی سازمان در ۵ بعد: اطلاعات، روش‌ها، افراد، سازمان رسمی و فرهنگ.</a:t>
            </a:r>
            <a:endParaRPr/>
          </a:p>
          <a:p>
            <a:pPr indent="0" lvl="0" marL="0" rtl="1" algn="r">
              <a:lnSpc>
                <a:spcPct val="120000"/>
              </a:lnSpc>
              <a:spcBef>
                <a:spcPts val="900"/>
              </a:spcBef>
              <a:spcAft>
                <a:spcPts val="0"/>
              </a:spcAft>
              <a:buSzPts val="1400"/>
              <a:buNone/>
            </a:pPr>
            <a:r>
              <a:rPr b="1" lang="fa-IR"/>
              <a:t>۲. فرآیند پویا (Dynamic Process): </a:t>
            </a:r>
            <a:endParaRPr/>
          </a:p>
          <a:p>
            <a:pPr indent="0" lvl="0" marL="0" rtl="1" algn="r">
              <a:lnSpc>
                <a:spcPct val="120000"/>
              </a:lnSpc>
              <a:spcBef>
                <a:spcPts val="900"/>
              </a:spcBef>
              <a:spcAft>
                <a:spcPts val="0"/>
              </a:spcAft>
              <a:buSzPts val="1400"/>
              <a:buNone/>
            </a:pPr>
            <a:r>
              <a:rPr b="1" lang="fa-IR"/>
              <a:t>	تشریح فعالیت‌های آینده‌نگری در ۳ فاز تکرارشونده:</a:t>
            </a:r>
            <a:endParaRPr/>
          </a:p>
          <a:p>
            <a:pPr indent="0" lvl="0" marL="0" rtl="1" algn="r">
              <a:lnSpc>
                <a:spcPct val="120000"/>
              </a:lnSpc>
              <a:spcBef>
                <a:spcPts val="900"/>
              </a:spcBef>
              <a:spcAft>
                <a:spcPts val="0"/>
              </a:spcAft>
              <a:buSzPts val="1400"/>
              <a:buNone/>
            </a:pPr>
            <a:r>
              <a:rPr b="1" lang="fa-IR"/>
              <a:t>		درک کردن (Perceiving): شناسایی سیگنال‌های تغییر.</a:t>
            </a:r>
            <a:endParaRPr/>
          </a:p>
          <a:p>
            <a:pPr indent="0" lvl="0" marL="0" rtl="1" algn="r">
              <a:lnSpc>
                <a:spcPct val="120000"/>
              </a:lnSpc>
              <a:spcBef>
                <a:spcPts val="900"/>
              </a:spcBef>
              <a:spcAft>
                <a:spcPts val="0"/>
              </a:spcAft>
              <a:buSzPts val="1400"/>
              <a:buNone/>
            </a:pPr>
            <a:r>
              <a:rPr b="1" lang="fa-IR"/>
              <a:t>		کاوش کردن (Prospecting):  تبدیل سیگنال‌ها به بینش (با ابزارهایی مثل سناریوسازی).</a:t>
            </a:r>
            <a:endParaRPr/>
          </a:p>
          <a:p>
            <a:pPr indent="0" lvl="0" marL="0" rtl="1" algn="r">
              <a:lnSpc>
                <a:spcPct val="120000"/>
              </a:lnSpc>
              <a:spcBef>
                <a:spcPts val="900"/>
              </a:spcBef>
              <a:spcAft>
                <a:spcPts val="0"/>
              </a:spcAft>
              <a:buSzPts val="1400"/>
              <a:buNone/>
            </a:pPr>
            <a:r>
              <a:rPr b="1" lang="fa-IR"/>
              <a:t>		آزمودن (Probing):  اقدام و آزمایش ایده‌ها (با ساخت نمونه اولیه).</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2"/>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ابعاد مدل Future FITness</a:t>
            </a:r>
            <a:endParaRPr/>
          </a:p>
        </p:txBody>
      </p:sp>
      <p:sp>
        <p:nvSpPr>
          <p:cNvPr id="208" name="Google Shape;208;p12"/>
          <p:cNvSpPr txBox="1"/>
          <p:nvPr>
            <p:ph idx="1" type="body"/>
          </p:nvPr>
        </p:nvSpPr>
        <p:spPr>
          <a:xfrm>
            <a:off x="550863" y="1920008"/>
            <a:ext cx="10946372" cy="4062651"/>
          </a:xfrm>
          <a:prstGeom prst="rect">
            <a:avLst/>
          </a:prstGeom>
          <a:noFill/>
          <a:ln>
            <a:noFill/>
          </a:ln>
        </p:spPr>
        <p:txBody>
          <a:bodyPr anchorCtr="0" anchor="ctr" bIns="45700" lIns="91425" spcFirstLastPara="1" rIns="91425" wrap="square" tIns="45700">
            <a:spAutoFit/>
          </a:bodyPr>
          <a:lstStyle/>
          <a:p>
            <a:pPr indent="0" lvl="0" marL="0" marR="0" rtl="1" algn="r">
              <a:lnSpc>
                <a:spcPct val="100000"/>
              </a:lnSpc>
              <a:spcBef>
                <a:spcPts val="0"/>
              </a:spcBef>
              <a:spcAft>
                <a:spcPts val="0"/>
              </a:spcAft>
              <a:buClr>
                <a:schemeClr val="dk1"/>
              </a:buClr>
              <a:buSzPts val="1800"/>
              <a:buNone/>
            </a:pPr>
            <a:r>
              <a:rPr b="1" i="0" lang="fa-IR" sz="1800" u="none" cap="none" strike="noStrike">
                <a:solidFill>
                  <a:schemeClr val="dk1"/>
                </a:solidFill>
                <a:latin typeface="Times New Roman"/>
                <a:ea typeface="Times New Roman"/>
                <a:cs typeface="Times New Roman"/>
                <a:sym typeface="Times New Roman"/>
              </a:rPr>
              <a:t>فاز ۱: درک کردن (Perceiving):</a:t>
            </a:r>
            <a:endParaRPr b="0" i="0" sz="1800" u="none" cap="none" strike="noStrike">
              <a:solidFill>
                <a:schemeClr val="dk1"/>
              </a:solidFill>
              <a:latin typeface="Times New Roman"/>
              <a:ea typeface="Times New Roman"/>
              <a:cs typeface="Times New Roman"/>
              <a:sym typeface="Times New Roman"/>
            </a:endParaRPr>
          </a:p>
          <a:p>
            <a:pPr indent="-182880" lvl="1" marL="457200" rtl="1" algn="r">
              <a:lnSpc>
                <a:spcPct val="100000"/>
              </a:lnSpc>
              <a:spcBef>
                <a:spcPts val="1200"/>
              </a:spcBef>
              <a:spcAft>
                <a:spcPts val="0"/>
              </a:spcAft>
              <a:buClr>
                <a:schemeClr val="dk1"/>
              </a:buClr>
              <a:buSzPts val="1600"/>
              <a:buChar char="◦"/>
            </a:pPr>
            <a:r>
              <a:rPr b="0" i="0" lang="fa-IR" sz="1600" u="none" cap="none" strike="noStrike">
                <a:solidFill>
                  <a:schemeClr val="dk1"/>
                </a:solidFill>
                <a:latin typeface="Times New Roman"/>
                <a:ea typeface="Times New Roman"/>
                <a:cs typeface="Times New Roman"/>
                <a:sym typeface="Times New Roman"/>
              </a:rPr>
              <a:t>توانایی شناسایی و درک تغییرات محیطی، روندها و سیگنال‌های ضعیف. </a:t>
            </a:r>
            <a:endParaRPr/>
          </a:p>
          <a:p>
            <a:pPr indent="-182880" lvl="1" marL="457200" rtl="1" algn="r">
              <a:lnSpc>
                <a:spcPct val="100000"/>
              </a:lnSpc>
              <a:spcBef>
                <a:spcPts val="1200"/>
              </a:spcBef>
              <a:spcAft>
                <a:spcPts val="0"/>
              </a:spcAft>
              <a:buClr>
                <a:schemeClr val="dk1"/>
              </a:buClr>
              <a:buSzPts val="1600"/>
              <a:buChar char="◦"/>
            </a:pPr>
            <a:r>
              <a:rPr b="0" i="0" lang="fa-IR" sz="1600" u="none" cap="none" strike="noStrike">
                <a:solidFill>
                  <a:schemeClr val="dk1"/>
                </a:solidFill>
                <a:latin typeface="Times New Roman"/>
                <a:ea typeface="Times New Roman"/>
                <a:cs typeface="Times New Roman"/>
                <a:sym typeface="Times New Roman"/>
              </a:rPr>
              <a:t>ابزارها: رصد محیطی (Environmental Scanning) و تحلیل روندها. </a:t>
            </a:r>
            <a:endParaRPr/>
          </a:p>
          <a:p>
            <a:pPr indent="0" lvl="0" marL="0" marR="0" rtl="1" algn="r">
              <a:lnSpc>
                <a:spcPct val="100000"/>
              </a:lnSpc>
              <a:spcBef>
                <a:spcPts val="1200"/>
              </a:spcBef>
              <a:spcAft>
                <a:spcPts val="0"/>
              </a:spcAft>
              <a:buClr>
                <a:schemeClr val="dk1"/>
              </a:buClr>
              <a:buSzPts val="1800"/>
              <a:buNone/>
            </a:pPr>
            <a:r>
              <a:rPr b="1" i="0" lang="fa-IR" sz="1800" u="none" cap="none" strike="noStrike">
                <a:solidFill>
                  <a:schemeClr val="dk1"/>
                </a:solidFill>
                <a:latin typeface="Times New Roman"/>
                <a:ea typeface="Times New Roman"/>
                <a:cs typeface="Times New Roman"/>
                <a:sym typeface="Times New Roman"/>
              </a:rPr>
              <a:t>فاز ۲: کاوش کردن (Prospecting / Interpreting):</a:t>
            </a:r>
            <a:endParaRPr b="0" i="0" sz="1800" u="none" cap="none" strike="noStrike">
              <a:solidFill>
                <a:schemeClr val="dk1"/>
              </a:solidFill>
              <a:latin typeface="Times New Roman"/>
              <a:ea typeface="Times New Roman"/>
              <a:cs typeface="Times New Roman"/>
              <a:sym typeface="Times New Roman"/>
            </a:endParaRPr>
          </a:p>
          <a:p>
            <a:pPr indent="-182880" lvl="1" marL="457200" rtl="1" algn="r">
              <a:lnSpc>
                <a:spcPct val="100000"/>
              </a:lnSpc>
              <a:spcBef>
                <a:spcPts val="1200"/>
              </a:spcBef>
              <a:spcAft>
                <a:spcPts val="0"/>
              </a:spcAft>
              <a:buClr>
                <a:schemeClr val="dk1"/>
              </a:buClr>
              <a:buSzPts val="1600"/>
              <a:buChar char="◦"/>
            </a:pPr>
            <a:r>
              <a:rPr b="0" i="0" lang="fa-IR" sz="1600" u="none" cap="none" strike="noStrike">
                <a:solidFill>
                  <a:schemeClr val="dk1"/>
                </a:solidFill>
                <a:latin typeface="Times New Roman"/>
                <a:ea typeface="Times New Roman"/>
                <a:cs typeface="Times New Roman"/>
                <a:sym typeface="Times New Roman"/>
              </a:rPr>
              <a:t>توانایی تحلیل، درک معنای روندها و تبدیل آن‌ها به بینش راهبردی. </a:t>
            </a:r>
            <a:endParaRPr/>
          </a:p>
          <a:p>
            <a:pPr indent="-182880" lvl="1" marL="457200" rtl="1" algn="r">
              <a:lnSpc>
                <a:spcPct val="100000"/>
              </a:lnSpc>
              <a:spcBef>
                <a:spcPts val="1200"/>
              </a:spcBef>
              <a:spcAft>
                <a:spcPts val="0"/>
              </a:spcAft>
              <a:buClr>
                <a:schemeClr val="dk1"/>
              </a:buClr>
              <a:buSzPts val="1600"/>
              <a:buChar char="◦"/>
            </a:pPr>
            <a:r>
              <a:rPr b="0" i="0" lang="fa-IR" sz="1600" u="none" cap="none" strike="noStrike">
                <a:solidFill>
                  <a:schemeClr val="dk1"/>
                </a:solidFill>
                <a:latin typeface="Times New Roman"/>
                <a:ea typeface="Times New Roman"/>
                <a:cs typeface="Times New Roman"/>
                <a:sym typeface="Times New Roman"/>
              </a:rPr>
              <a:t>ابزارها: سناریوسازی، نقشه‌راه فناوری و ایجاد دیدگاه مشترک. </a:t>
            </a:r>
            <a:endParaRPr/>
          </a:p>
          <a:p>
            <a:pPr indent="0" lvl="0" marL="0" marR="0" rtl="1" algn="r">
              <a:lnSpc>
                <a:spcPct val="100000"/>
              </a:lnSpc>
              <a:spcBef>
                <a:spcPts val="1200"/>
              </a:spcBef>
              <a:spcAft>
                <a:spcPts val="0"/>
              </a:spcAft>
              <a:buClr>
                <a:schemeClr val="dk1"/>
              </a:buClr>
              <a:buSzPts val="1800"/>
              <a:buNone/>
            </a:pPr>
            <a:r>
              <a:rPr b="1" i="0" lang="fa-IR" sz="1800" u="none" cap="none" strike="noStrike">
                <a:solidFill>
                  <a:schemeClr val="dk1"/>
                </a:solidFill>
                <a:latin typeface="Times New Roman"/>
                <a:ea typeface="Times New Roman"/>
                <a:cs typeface="Times New Roman"/>
                <a:sym typeface="Times New Roman"/>
              </a:rPr>
              <a:t>فاز ۳: آزمودن (Probing / Responding):</a:t>
            </a:r>
            <a:endParaRPr b="0" i="0" sz="1800" u="none" cap="none" strike="noStrike">
              <a:solidFill>
                <a:schemeClr val="dk1"/>
              </a:solidFill>
              <a:latin typeface="Times New Roman"/>
              <a:ea typeface="Times New Roman"/>
              <a:cs typeface="Times New Roman"/>
              <a:sym typeface="Times New Roman"/>
            </a:endParaRPr>
          </a:p>
          <a:p>
            <a:pPr indent="-182880" lvl="1" marL="457200" rtl="1" algn="r">
              <a:lnSpc>
                <a:spcPct val="100000"/>
              </a:lnSpc>
              <a:spcBef>
                <a:spcPts val="1200"/>
              </a:spcBef>
              <a:spcAft>
                <a:spcPts val="0"/>
              </a:spcAft>
              <a:buClr>
                <a:schemeClr val="dk1"/>
              </a:buClr>
              <a:buSzPts val="1600"/>
              <a:buChar char="◦"/>
            </a:pPr>
            <a:r>
              <a:rPr b="0" i="0" lang="fa-IR" sz="1600" u="none" cap="none" strike="noStrike">
                <a:solidFill>
                  <a:schemeClr val="dk1"/>
                </a:solidFill>
                <a:latin typeface="Times New Roman"/>
                <a:ea typeface="Times New Roman"/>
                <a:cs typeface="Times New Roman"/>
                <a:sym typeface="Times New Roman"/>
              </a:rPr>
              <a:t>توانایی واکنش اثربخش و آزمایش ایده‌ها از طریق سیاست‌گذاری، نوآوری و برنامه‌ریزی انعطاف‌پذیر. </a:t>
            </a:r>
            <a:endParaRPr/>
          </a:p>
          <a:p>
            <a:pPr indent="-182880" lvl="1" marL="457200" rtl="1" algn="r">
              <a:lnSpc>
                <a:spcPct val="100000"/>
              </a:lnSpc>
              <a:spcBef>
                <a:spcPts val="1200"/>
              </a:spcBef>
              <a:spcAft>
                <a:spcPts val="0"/>
              </a:spcAft>
              <a:buClr>
                <a:schemeClr val="dk1"/>
              </a:buClr>
              <a:buSzPts val="1600"/>
              <a:buChar char="◦"/>
            </a:pPr>
            <a:r>
              <a:rPr b="0" i="0" lang="fa-IR" sz="1600" u="none" cap="none" strike="noStrike">
                <a:solidFill>
                  <a:schemeClr val="dk1"/>
                </a:solidFill>
                <a:latin typeface="Times New Roman"/>
                <a:ea typeface="Times New Roman"/>
                <a:cs typeface="Times New Roman"/>
                <a:sym typeface="Times New Roman"/>
              </a:rPr>
              <a:t>ابزارها: ساخت نمونه اولیه (Prototyping) و پروژه‌های آزمایشی.</a:t>
            </a:r>
            <a:endParaRPr/>
          </a:p>
          <a:p>
            <a:pPr indent="0" lvl="0" marL="0" marR="0" rtl="1" algn="r">
              <a:lnSpc>
                <a:spcPct val="100000"/>
              </a:lnSpc>
              <a:spcBef>
                <a:spcPts val="120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3"/>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نقش‌های استراتژیک آینده‌نگاری در سازمان</a:t>
            </a:r>
            <a:endParaRPr/>
          </a:p>
        </p:txBody>
      </p:sp>
      <p:sp>
        <p:nvSpPr>
          <p:cNvPr id="215" name="Google Shape;215;p13"/>
          <p:cNvSpPr txBox="1"/>
          <p:nvPr>
            <p:ph idx="1" type="body"/>
          </p:nvPr>
        </p:nvSpPr>
        <p:spPr>
          <a:xfrm>
            <a:off x="550717" y="2298803"/>
            <a:ext cx="11193571" cy="2416046"/>
          </a:xfrm>
          <a:prstGeom prst="rect">
            <a:avLst/>
          </a:prstGeom>
          <a:noFill/>
          <a:ln>
            <a:noFill/>
          </a:ln>
        </p:spPr>
        <p:txBody>
          <a:bodyPr anchorCtr="0" anchor="ctr" bIns="45700" lIns="91425" spcFirstLastPara="1" rIns="91425" wrap="square" tIns="45700">
            <a:spAutoFit/>
          </a:bodyPr>
          <a:lstStyle/>
          <a:p>
            <a:pPr indent="-182880" lvl="0" marL="182880" rtl="1" algn="r">
              <a:lnSpc>
                <a:spcPct val="120000"/>
              </a:lnSpc>
              <a:spcBef>
                <a:spcPts val="0"/>
              </a:spcBef>
              <a:spcAft>
                <a:spcPts val="0"/>
              </a:spcAft>
              <a:buSzPts val="2000"/>
              <a:buFont typeface="Arial"/>
              <a:buChar char="•"/>
            </a:pPr>
            <a:r>
              <a:rPr lang="fa-IR" sz="2000">
                <a:latin typeface="Times New Roman"/>
                <a:ea typeface="Times New Roman"/>
                <a:cs typeface="Times New Roman"/>
                <a:sym typeface="Times New Roman"/>
              </a:rPr>
              <a:t>آینده‌نگاری برای افزایش "ظرفیت نوآوری" سه نقش کلیدی ایفا می‌کند: </a:t>
            </a:r>
            <a:endParaRPr/>
          </a:p>
          <a:p>
            <a:pPr indent="-285750" lvl="1" marL="742950" rtl="1" algn="r">
              <a:lnSpc>
                <a:spcPct val="100000"/>
              </a:lnSpc>
              <a:spcBef>
                <a:spcPts val="500"/>
              </a:spcBef>
              <a:spcAft>
                <a:spcPts val="0"/>
              </a:spcAft>
              <a:buSzPts val="1800"/>
              <a:buFont typeface="Arial"/>
              <a:buChar char="•"/>
            </a:pPr>
            <a:r>
              <a:rPr b="1" lang="fa-IR" sz="1800">
                <a:latin typeface="Times New Roman"/>
                <a:ea typeface="Times New Roman"/>
                <a:cs typeface="Times New Roman"/>
                <a:sym typeface="Times New Roman"/>
              </a:rPr>
              <a:t>نقش استراتژیست (Strategist):</a:t>
            </a:r>
            <a:endParaRPr sz="1800">
              <a:latin typeface="Times New Roman"/>
              <a:ea typeface="Times New Roman"/>
              <a:cs typeface="Times New Roman"/>
              <a:sym typeface="Times New Roman"/>
            </a:endParaRPr>
          </a:p>
          <a:p>
            <a:pPr indent="-228600" lvl="2" marL="1143000" rtl="1" algn="r">
              <a:lnSpc>
                <a:spcPct val="100000"/>
              </a:lnSpc>
              <a:spcBef>
                <a:spcPts val="500"/>
              </a:spcBef>
              <a:spcAft>
                <a:spcPts val="0"/>
              </a:spcAft>
              <a:buSzPts val="1600"/>
              <a:buFont typeface="Arial"/>
              <a:buChar char="•"/>
            </a:pPr>
            <a:r>
              <a:rPr lang="fa-IR" sz="1600">
                <a:latin typeface="Times New Roman"/>
                <a:ea typeface="Times New Roman"/>
                <a:cs typeface="Times New Roman"/>
                <a:sym typeface="Times New Roman"/>
              </a:rPr>
              <a:t>جهت‌دهی به سبد نوآوری و تعریف چشم‌انداز.</a:t>
            </a:r>
            <a:endParaRPr/>
          </a:p>
          <a:p>
            <a:pPr indent="-285750" lvl="1" marL="742950" rtl="1" algn="r">
              <a:lnSpc>
                <a:spcPct val="100000"/>
              </a:lnSpc>
              <a:spcBef>
                <a:spcPts val="500"/>
              </a:spcBef>
              <a:spcAft>
                <a:spcPts val="0"/>
              </a:spcAft>
              <a:buSzPts val="1800"/>
              <a:buFont typeface="Arial"/>
              <a:buChar char="•"/>
            </a:pPr>
            <a:r>
              <a:rPr b="1" lang="fa-IR" sz="1800">
                <a:latin typeface="Times New Roman"/>
                <a:ea typeface="Times New Roman"/>
                <a:cs typeface="Times New Roman"/>
                <a:sym typeface="Times New Roman"/>
              </a:rPr>
              <a:t>نقش آغازگر (Initiator):</a:t>
            </a:r>
            <a:endParaRPr sz="1800">
              <a:latin typeface="Times New Roman"/>
              <a:ea typeface="Times New Roman"/>
              <a:cs typeface="Times New Roman"/>
              <a:sym typeface="Times New Roman"/>
            </a:endParaRPr>
          </a:p>
          <a:p>
            <a:pPr indent="-228600" lvl="2" marL="1143000" rtl="1" algn="r">
              <a:lnSpc>
                <a:spcPct val="100000"/>
              </a:lnSpc>
              <a:spcBef>
                <a:spcPts val="500"/>
              </a:spcBef>
              <a:spcAft>
                <a:spcPts val="0"/>
              </a:spcAft>
              <a:buSzPts val="1600"/>
              <a:buFont typeface="Arial"/>
              <a:buChar char="•"/>
            </a:pPr>
            <a:r>
              <a:rPr lang="fa-IR" sz="1600">
                <a:latin typeface="Times New Roman"/>
                <a:ea typeface="Times New Roman"/>
                <a:cs typeface="Times New Roman"/>
                <a:sym typeface="Times New Roman"/>
              </a:rPr>
              <a:t>شناسایی نیازها و فناوری‌های جدید و کلید زدن پروژه‌های نوآورانه.</a:t>
            </a:r>
            <a:endParaRPr/>
          </a:p>
          <a:p>
            <a:pPr indent="-285750" lvl="1" marL="742950" rtl="1" algn="r">
              <a:lnSpc>
                <a:spcPct val="100000"/>
              </a:lnSpc>
              <a:spcBef>
                <a:spcPts val="500"/>
              </a:spcBef>
              <a:spcAft>
                <a:spcPts val="0"/>
              </a:spcAft>
              <a:buSzPts val="1800"/>
              <a:buFont typeface="Arial"/>
              <a:buChar char="•"/>
            </a:pPr>
            <a:r>
              <a:rPr b="1" lang="fa-IR" sz="1800">
                <a:latin typeface="Times New Roman"/>
                <a:ea typeface="Times New Roman"/>
                <a:cs typeface="Times New Roman"/>
                <a:sym typeface="Times New Roman"/>
              </a:rPr>
              <a:t>نقش مخالف (Opponent):</a:t>
            </a:r>
            <a:endParaRPr sz="1800">
              <a:latin typeface="Times New Roman"/>
              <a:ea typeface="Times New Roman"/>
              <a:cs typeface="Times New Roman"/>
              <a:sym typeface="Times New Roman"/>
            </a:endParaRPr>
          </a:p>
          <a:p>
            <a:pPr indent="-228600" lvl="2" marL="1143000" rtl="1" algn="r">
              <a:lnSpc>
                <a:spcPct val="100000"/>
              </a:lnSpc>
              <a:spcBef>
                <a:spcPts val="500"/>
              </a:spcBef>
              <a:spcAft>
                <a:spcPts val="0"/>
              </a:spcAft>
              <a:buSzPts val="1600"/>
              <a:buFont typeface="Arial"/>
              <a:buChar char="•"/>
            </a:pPr>
            <a:r>
              <a:rPr lang="fa-IR" sz="1600">
                <a:latin typeface="Times New Roman"/>
                <a:ea typeface="Times New Roman"/>
                <a:cs typeface="Times New Roman"/>
                <a:sym typeface="Times New Roman"/>
              </a:rPr>
              <a:t>به چالش کشیدن مفروضات و پروژه‌های فعلی برای افزایش کیفیت نوآوری.</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4"/>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Future FITness: توانایی بقا و پیشرفت در دنیای پیچیده</a:t>
            </a:r>
            <a:endParaRPr/>
          </a:p>
        </p:txBody>
      </p:sp>
      <p:sp>
        <p:nvSpPr>
          <p:cNvPr id="222" name="Google Shape;222;p14"/>
          <p:cNvSpPr txBox="1"/>
          <p:nvPr>
            <p:ph idx="1" type="body"/>
          </p:nvPr>
        </p:nvSpPr>
        <p:spPr>
          <a:xfrm>
            <a:off x="550717" y="2846643"/>
            <a:ext cx="11193571" cy="1320361"/>
          </a:xfrm>
          <a:prstGeom prst="rect">
            <a:avLst/>
          </a:prstGeom>
          <a:noFill/>
          <a:ln>
            <a:noFill/>
          </a:ln>
        </p:spPr>
        <p:txBody>
          <a:bodyPr anchorCtr="0" anchor="ctr" bIns="45700" lIns="91425" spcFirstLastPara="1" rIns="91425" wrap="square" tIns="45700">
            <a:spAutoFit/>
          </a:bodyPr>
          <a:lstStyle/>
          <a:p>
            <a:pPr indent="-182880" lvl="0" marL="182880" rtl="1" algn="r">
              <a:lnSpc>
                <a:spcPct val="120000"/>
              </a:lnSpc>
              <a:spcBef>
                <a:spcPts val="0"/>
              </a:spcBef>
              <a:spcAft>
                <a:spcPts val="0"/>
              </a:spcAft>
              <a:buSzPts val="1800"/>
              <a:buChar char="◦"/>
            </a:pPr>
            <a:r>
              <a:rPr lang="fa-IR" sz="1800"/>
              <a:t>تمرکز بر تطبیق، نوآوری، و ایجاد مزیت رقابتی پایدار.</a:t>
            </a:r>
            <a:endParaRPr/>
          </a:p>
          <a:p>
            <a:pPr indent="-182880" lvl="0" marL="182880" rtl="1" algn="r">
              <a:lnSpc>
                <a:spcPct val="120000"/>
              </a:lnSpc>
              <a:spcBef>
                <a:spcPts val="900"/>
              </a:spcBef>
              <a:spcAft>
                <a:spcPts val="0"/>
              </a:spcAft>
              <a:buSzPts val="1800"/>
              <a:buChar char="◦"/>
            </a:pPr>
            <a:r>
              <a:rPr lang="fa-IR" sz="1800"/>
              <a:t>فراتر از پیش‌بینی؛ نیاز به ظرفیت برای رشد و تحول.</a:t>
            </a:r>
            <a:endParaRPr/>
          </a:p>
          <a:p>
            <a:pPr indent="-182880" lvl="0" marL="182880" rtl="1" algn="r">
              <a:lnSpc>
                <a:spcPct val="120000"/>
              </a:lnSpc>
              <a:spcBef>
                <a:spcPts val="900"/>
              </a:spcBef>
              <a:spcAft>
                <a:spcPts val="0"/>
              </a:spcAft>
              <a:buSzPts val="1800"/>
              <a:buChar char="◦"/>
            </a:pPr>
            <a:r>
              <a:rPr lang="fa-IR" sz="1800"/>
              <a:t>تأکید بر قابلیت‌های پویا، تفکر آینده‌نگر، و اجرای انعطاف‌پذیر.</a:t>
            </a:r>
            <a:endParaRPr/>
          </a:p>
        </p:txBody>
      </p:sp>
      <p:pic>
        <p:nvPicPr>
          <p:cNvPr descr="Future-Fit Business Benchmark - Future-Fit Business" id="223" name="Google Shape;223;p14"/>
          <p:cNvPicPr preferRelativeResize="0"/>
          <p:nvPr/>
        </p:nvPicPr>
        <p:blipFill rotWithShape="1">
          <a:blip r:embed="rId3">
            <a:alphaModFix/>
          </a:blip>
          <a:srcRect b="0" l="0" r="0" t="0"/>
          <a:stretch/>
        </p:blipFill>
        <p:spPr>
          <a:xfrm>
            <a:off x="1277630" y="1664265"/>
            <a:ext cx="4477126" cy="44771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5"/>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اجزای کلیدی Future FITness</a:t>
            </a:r>
            <a:endParaRPr/>
          </a:p>
        </p:txBody>
      </p:sp>
      <p:sp>
        <p:nvSpPr>
          <p:cNvPr id="230" name="Google Shape;230;p15"/>
          <p:cNvSpPr txBox="1"/>
          <p:nvPr>
            <p:ph idx="1" type="body"/>
          </p:nvPr>
        </p:nvSpPr>
        <p:spPr>
          <a:xfrm>
            <a:off x="2832652" y="2702758"/>
            <a:ext cx="8911637" cy="1608133"/>
          </a:xfrm>
          <a:prstGeom prst="rect">
            <a:avLst/>
          </a:prstGeom>
          <a:noFill/>
          <a:ln>
            <a:noFill/>
          </a:ln>
        </p:spPr>
        <p:txBody>
          <a:bodyPr anchorCtr="0" anchor="ctr" bIns="45700" lIns="91425" spcFirstLastPara="1" rIns="91425" wrap="square" tIns="45700">
            <a:spAutoFit/>
          </a:bodyPr>
          <a:lstStyle/>
          <a:p>
            <a:pPr indent="-182880" lvl="0" marL="182880" rtl="1" algn="r">
              <a:lnSpc>
                <a:spcPct val="120000"/>
              </a:lnSpc>
              <a:spcBef>
                <a:spcPts val="0"/>
              </a:spcBef>
              <a:spcAft>
                <a:spcPts val="0"/>
              </a:spcAft>
              <a:buSzPts val="1600"/>
              <a:buFont typeface="Arial"/>
              <a:buChar char="•"/>
            </a:pPr>
            <a:r>
              <a:rPr b="1" lang="fa-IR" sz="1600"/>
              <a:t>Dynamic Capabilities (قابلیت‌های پویا):</a:t>
            </a:r>
            <a:r>
              <a:rPr lang="fa-IR" sz="1600"/>
              <a:t> توانایی سازمان‌ها برای سازگاری، نوآوری و تغییر در مواجهه با چالش‌ها.</a:t>
            </a:r>
            <a:endParaRPr/>
          </a:p>
          <a:p>
            <a:pPr indent="-182880" lvl="0" marL="182880" rtl="1" algn="r">
              <a:lnSpc>
                <a:spcPct val="120000"/>
              </a:lnSpc>
              <a:spcBef>
                <a:spcPts val="900"/>
              </a:spcBef>
              <a:spcAft>
                <a:spcPts val="0"/>
              </a:spcAft>
              <a:buSzPts val="1600"/>
              <a:buFont typeface="Arial"/>
              <a:buChar char="•"/>
            </a:pPr>
            <a:r>
              <a:rPr b="1" lang="fa-IR" sz="1600"/>
              <a:t>Anticipatory Thinking (تفکر آینده‌نگر):</a:t>
            </a:r>
            <a:r>
              <a:rPr lang="fa-IR" sz="1600"/>
              <a:t> توانایی شناسایی فرصت‌ها و تهدیدهای بالقوه از طریق تحلیل روندها و سناریوسازی.</a:t>
            </a:r>
            <a:endParaRPr/>
          </a:p>
          <a:p>
            <a:pPr indent="-182880" lvl="0" marL="182880" rtl="1" algn="r">
              <a:lnSpc>
                <a:spcPct val="120000"/>
              </a:lnSpc>
              <a:spcBef>
                <a:spcPts val="900"/>
              </a:spcBef>
              <a:spcAft>
                <a:spcPts val="0"/>
              </a:spcAft>
              <a:buSzPts val="1600"/>
              <a:buFont typeface="Arial"/>
              <a:buChar char="•"/>
            </a:pPr>
            <a:r>
              <a:rPr b="1" lang="fa-IR" sz="1600"/>
              <a:t>Adaptive Execution (اجرای انطباقی):</a:t>
            </a:r>
            <a:r>
              <a:rPr lang="fa-IR" sz="1600"/>
              <a:t> اجرای برنامه‌ها با انعطاف‌پذیری بالا و توانایی تغییر مسیر در زمان لازم.</a:t>
            </a:r>
            <a:endParaRPr/>
          </a:p>
          <a:p>
            <a:pPr indent="-182880" lvl="0" marL="182880" rtl="1" algn="r">
              <a:lnSpc>
                <a:spcPct val="120000"/>
              </a:lnSpc>
              <a:spcBef>
                <a:spcPts val="900"/>
              </a:spcBef>
              <a:spcAft>
                <a:spcPts val="0"/>
              </a:spcAft>
              <a:buSzPts val="1600"/>
              <a:buFont typeface="Arial"/>
              <a:buChar char="•"/>
            </a:pPr>
            <a:r>
              <a:rPr b="1" lang="fa-IR" sz="1600"/>
              <a:t>Collaborative Ecosystems  (اکوسیستم‌های تعاملی):</a:t>
            </a:r>
            <a:r>
              <a:rPr lang="fa-IR" sz="1600"/>
              <a:t> ایجاد شبکه‌ای از همکاری‌ها برای ارزش‌آفرینی مشترک.</a:t>
            </a:r>
            <a:endParaRPr/>
          </a:p>
        </p:txBody>
      </p:sp>
      <p:pic>
        <p:nvPicPr>
          <p:cNvPr descr="Building Resilient Agility: Why this should be a people priority - Saville  Assessment" id="231" name="Google Shape;231;p15"/>
          <p:cNvPicPr preferRelativeResize="0"/>
          <p:nvPr/>
        </p:nvPicPr>
        <p:blipFill rotWithShape="1">
          <a:blip r:embed="rId3">
            <a:alphaModFix/>
          </a:blip>
          <a:srcRect b="0" l="0" r="0" t="0"/>
          <a:stretch/>
        </p:blipFill>
        <p:spPr>
          <a:xfrm>
            <a:off x="447711" y="2610463"/>
            <a:ext cx="2710069" cy="179272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6"/>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اهداف Future FITness</a:t>
            </a:r>
            <a:endParaRPr/>
          </a:p>
        </p:txBody>
      </p:sp>
      <p:sp>
        <p:nvSpPr>
          <p:cNvPr id="238" name="Google Shape;238;p16"/>
          <p:cNvSpPr txBox="1"/>
          <p:nvPr>
            <p:ph idx="1" type="body"/>
          </p:nvPr>
        </p:nvSpPr>
        <p:spPr>
          <a:xfrm>
            <a:off x="2832652" y="2622736"/>
            <a:ext cx="8911637" cy="1768176"/>
          </a:xfrm>
          <a:prstGeom prst="rect">
            <a:avLst/>
          </a:prstGeom>
          <a:noFill/>
          <a:ln>
            <a:noFill/>
          </a:ln>
        </p:spPr>
        <p:txBody>
          <a:bodyPr anchorCtr="0" anchor="ctr" bIns="45700" lIns="91425" spcFirstLastPara="1" rIns="91425" wrap="square" tIns="45700">
            <a:spAutoFit/>
          </a:bodyPr>
          <a:lstStyle/>
          <a:p>
            <a:pPr indent="-182880" lvl="0" marL="182880" rtl="1" algn="r">
              <a:lnSpc>
                <a:spcPct val="120000"/>
              </a:lnSpc>
              <a:spcBef>
                <a:spcPts val="0"/>
              </a:spcBef>
              <a:spcAft>
                <a:spcPts val="0"/>
              </a:spcAft>
              <a:buSzPts val="1800"/>
              <a:buFont typeface="Arial"/>
              <a:buChar char="•"/>
            </a:pPr>
            <a:r>
              <a:rPr b="1" lang="fa-IR" sz="1800"/>
              <a:t>شکل‌دهی آینده‌های مطلوب:</a:t>
            </a:r>
            <a:r>
              <a:rPr lang="fa-IR" sz="1800"/>
              <a:t> توانایی سازمان برای تأثیرگذاری بر روندها و ایجاد فرصت‌ها.</a:t>
            </a:r>
            <a:endParaRPr/>
          </a:p>
          <a:p>
            <a:pPr indent="-182880" lvl="0" marL="182880" rtl="1" algn="r">
              <a:lnSpc>
                <a:spcPct val="120000"/>
              </a:lnSpc>
              <a:spcBef>
                <a:spcPts val="900"/>
              </a:spcBef>
              <a:spcAft>
                <a:spcPts val="0"/>
              </a:spcAft>
              <a:buSzPts val="1800"/>
              <a:buFont typeface="Arial"/>
              <a:buChar char="•"/>
            </a:pPr>
            <a:r>
              <a:rPr b="1" lang="fa-IR" sz="1800"/>
              <a:t>مدیریت پیچیدگی‌ها و عدم‌قطعیت‌ها:</a:t>
            </a:r>
            <a:r>
              <a:rPr lang="fa-IR" sz="1800"/>
              <a:t> توانایی حفظ عملکرد بهینه در محیط‌های نامطمئن.</a:t>
            </a:r>
            <a:endParaRPr/>
          </a:p>
          <a:p>
            <a:pPr indent="-182880" lvl="0" marL="182880" rtl="1" algn="r">
              <a:lnSpc>
                <a:spcPct val="120000"/>
              </a:lnSpc>
              <a:spcBef>
                <a:spcPts val="900"/>
              </a:spcBef>
              <a:spcAft>
                <a:spcPts val="0"/>
              </a:spcAft>
              <a:buSzPts val="1800"/>
              <a:buFont typeface="Arial"/>
              <a:buChar char="•"/>
            </a:pPr>
            <a:r>
              <a:rPr b="1" lang="fa-IR" sz="1800"/>
              <a:t>ایجاد ارزش پایدار:</a:t>
            </a:r>
            <a:r>
              <a:rPr lang="fa-IR" sz="1800"/>
              <a:t> تضمین موفقیت بلندمدت از طریق پایداری و نوآوری.</a:t>
            </a:r>
            <a:endParaRPr/>
          </a:p>
          <a:p>
            <a:pPr indent="-182880" lvl="0" marL="182880" rtl="1" algn="r">
              <a:lnSpc>
                <a:spcPct val="120000"/>
              </a:lnSpc>
              <a:spcBef>
                <a:spcPts val="900"/>
              </a:spcBef>
              <a:spcAft>
                <a:spcPts val="0"/>
              </a:spcAft>
              <a:buSzPts val="1800"/>
              <a:buFont typeface="Arial"/>
              <a:buChar char="•"/>
            </a:pPr>
            <a:r>
              <a:rPr b="1" lang="fa-IR" sz="1800"/>
              <a:t>حفظ مزیت رقابتی:</a:t>
            </a:r>
            <a:r>
              <a:rPr lang="fa-IR" sz="1800"/>
              <a:t> تطبیق سریع و بهره‌برداری از تغییرات برای پیشی گرفتن از رقبا.</a:t>
            </a:r>
            <a:endParaRPr/>
          </a:p>
        </p:txBody>
      </p:sp>
      <p:pic>
        <p:nvPicPr>
          <p:cNvPr descr="How to Mitigate Biases When Utilizing the Futures Cone" id="239" name="Google Shape;239;p16"/>
          <p:cNvPicPr preferRelativeResize="0"/>
          <p:nvPr/>
        </p:nvPicPr>
        <p:blipFill rotWithShape="1">
          <a:blip r:embed="rId3">
            <a:alphaModFix/>
          </a:blip>
          <a:srcRect b="16130" l="22742" r="22619" t="16671"/>
          <a:stretch/>
        </p:blipFill>
        <p:spPr>
          <a:xfrm>
            <a:off x="626164" y="2134692"/>
            <a:ext cx="3916019" cy="270911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7"/>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مراحل دستیابی به Future FITness</a:t>
            </a:r>
            <a:endParaRPr/>
          </a:p>
        </p:txBody>
      </p:sp>
      <p:sp>
        <p:nvSpPr>
          <p:cNvPr id="246" name="Google Shape;246;p17"/>
          <p:cNvSpPr txBox="1"/>
          <p:nvPr>
            <p:ph idx="1" type="body"/>
          </p:nvPr>
        </p:nvSpPr>
        <p:spPr>
          <a:xfrm>
            <a:off x="550717" y="2405753"/>
            <a:ext cx="11193571" cy="2202141"/>
          </a:xfrm>
          <a:prstGeom prst="rect">
            <a:avLst/>
          </a:prstGeom>
          <a:noFill/>
          <a:ln>
            <a:noFill/>
          </a:ln>
        </p:spPr>
        <p:txBody>
          <a:bodyPr anchorCtr="0" anchor="ctr" bIns="45700" lIns="91425" spcFirstLastPara="1" rIns="91425" wrap="square" tIns="45700">
            <a:spAutoFit/>
          </a:bodyPr>
          <a:lstStyle/>
          <a:p>
            <a:pPr indent="-182880" lvl="0" marL="182880" rtl="1" algn="r">
              <a:lnSpc>
                <a:spcPct val="120000"/>
              </a:lnSpc>
              <a:spcBef>
                <a:spcPts val="0"/>
              </a:spcBef>
              <a:spcAft>
                <a:spcPts val="0"/>
              </a:spcAft>
              <a:buSzPts val="1800"/>
              <a:buFont typeface="Arial"/>
              <a:buChar char="•"/>
            </a:pPr>
            <a:r>
              <a:rPr b="1" lang="fa-IR" sz="1800"/>
              <a:t>مرحله 1: ارزیابی وضعیت فعلی (Assess Current State): </a:t>
            </a:r>
            <a:r>
              <a:rPr lang="fa-IR" sz="1800"/>
              <a:t>شناسایی نقاط قوت، ضعف، فرصت‌ها و تهدیدها.</a:t>
            </a:r>
            <a:endParaRPr/>
          </a:p>
          <a:p>
            <a:pPr indent="-182880" lvl="0" marL="182880" rtl="1" algn="r">
              <a:lnSpc>
                <a:spcPct val="120000"/>
              </a:lnSpc>
              <a:spcBef>
                <a:spcPts val="900"/>
              </a:spcBef>
              <a:spcAft>
                <a:spcPts val="0"/>
              </a:spcAft>
              <a:buSzPts val="1800"/>
              <a:buFont typeface="Arial"/>
              <a:buChar char="•"/>
            </a:pPr>
            <a:r>
              <a:rPr b="1" lang="fa-IR" sz="1800"/>
              <a:t>مرحله 2: تعریف چشم‌انداز آینده (Define Desired Futures): </a:t>
            </a:r>
            <a:r>
              <a:rPr lang="fa-IR" sz="1800"/>
              <a:t>تعیین اهداف و جهت‌گیری‌های استراتژیک.</a:t>
            </a:r>
            <a:endParaRPr/>
          </a:p>
          <a:p>
            <a:pPr indent="-182880" lvl="0" marL="182880" rtl="1" algn="r">
              <a:lnSpc>
                <a:spcPct val="120000"/>
              </a:lnSpc>
              <a:spcBef>
                <a:spcPts val="900"/>
              </a:spcBef>
              <a:spcAft>
                <a:spcPts val="0"/>
              </a:spcAft>
              <a:buSzPts val="1800"/>
              <a:buFont typeface="Arial"/>
              <a:buChar char="•"/>
            </a:pPr>
            <a:r>
              <a:rPr b="1" lang="fa-IR" sz="1800"/>
              <a:t>مرحله 3: توسعه قابلیت‌ها (Develop Capabilities): </a:t>
            </a:r>
            <a:r>
              <a:rPr lang="fa-IR" sz="1800"/>
              <a:t>ایجاد توانمندی‌ها در حوزه‌های کلیدی مانند نوآوری، چابکی و همکاری.</a:t>
            </a:r>
            <a:endParaRPr/>
          </a:p>
          <a:p>
            <a:pPr indent="-182880" lvl="0" marL="182880" rtl="1" algn="r">
              <a:lnSpc>
                <a:spcPct val="120000"/>
              </a:lnSpc>
              <a:spcBef>
                <a:spcPts val="900"/>
              </a:spcBef>
              <a:spcAft>
                <a:spcPts val="0"/>
              </a:spcAft>
              <a:buSzPts val="1800"/>
              <a:buFont typeface="Arial"/>
              <a:buChar char="•"/>
            </a:pPr>
            <a:r>
              <a:rPr b="1" lang="fa-IR" sz="1800"/>
              <a:t>مرحله 4: پیاده‌سازی و آزمایش (Implement and Experiment): </a:t>
            </a:r>
            <a:r>
              <a:rPr lang="fa-IR" sz="1800"/>
              <a:t> اجرای استراتژی‌ها با رویکردی انطباقی و آزمایش مداوم.</a:t>
            </a:r>
            <a:endParaRPr/>
          </a:p>
          <a:p>
            <a:pPr indent="-182880" lvl="0" marL="182880" rtl="1" algn="r">
              <a:lnSpc>
                <a:spcPct val="120000"/>
              </a:lnSpc>
              <a:spcBef>
                <a:spcPts val="900"/>
              </a:spcBef>
              <a:spcAft>
                <a:spcPts val="0"/>
              </a:spcAft>
              <a:buSzPts val="1800"/>
              <a:buFont typeface="Arial"/>
              <a:buChar char="•"/>
            </a:pPr>
            <a:r>
              <a:rPr b="1" lang="fa-IR" sz="1800"/>
              <a:t>مرحله 5: پایش و بهبود مداوم (Monitor and Continuously Improve): </a:t>
            </a:r>
            <a:r>
              <a:rPr lang="fa-IR" sz="1800"/>
              <a:t>ارزیابی نتایج و بهبود فرآیندها بر اساس بازخورد.</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8"/>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شاخص‌های کلیدی ارزیابی Future FITness</a:t>
            </a:r>
            <a:endParaRPr/>
          </a:p>
        </p:txBody>
      </p:sp>
      <p:sp>
        <p:nvSpPr>
          <p:cNvPr id="253" name="Google Shape;253;p18"/>
          <p:cNvSpPr txBox="1"/>
          <p:nvPr>
            <p:ph idx="1" type="body"/>
          </p:nvPr>
        </p:nvSpPr>
        <p:spPr>
          <a:xfrm>
            <a:off x="550717" y="2291202"/>
            <a:ext cx="11193571" cy="2431243"/>
          </a:xfrm>
          <a:prstGeom prst="rect">
            <a:avLst/>
          </a:prstGeom>
          <a:noFill/>
          <a:ln>
            <a:noFill/>
          </a:ln>
        </p:spPr>
        <p:txBody>
          <a:bodyPr anchorCtr="0" anchor="ctr" bIns="45700" lIns="91425" spcFirstLastPara="1" rIns="91425" wrap="square" tIns="45700">
            <a:spAutoFit/>
          </a:bodyPr>
          <a:lstStyle/>
          <a:p>
            <a:pPr indent="-342900" lvl="0" marL="342900" rtl="1" algn="r">
              <a:lnSpc>
                <a:spcPct val="107000"/>
              </a:lnSpc>
              <a:spcBef>
                <a:spcPts val="0"/>
              </a:spcBef>
              <a:spcAft>
                <a:spcPts val="0"/>
              </a:spcAft>
              <a:buSzPts val="1800"/>
              <a:buFont typeface="Arial"/>
              <a:buChar char="•"/>
            </a:pPr>
            <a:r>
              <a:rPr b="1" lang="fa-IR" sz="1800">
                <a:latin typeface="Calibri"/>
                <a:ea typeface="Calibri"/>
                <a:cs typeface="Calibri"/>
                <a:sym typeface="Calibri"/>
              </a:rPr>
              <a:t>شاخص 1: توانایی تطبیق سریع (Agility Index): </a:t>
            </a:r>
            <a:r>
              <a:rPr lang="fa-IR" sz="1800">
                <a:latin typeface="Calibri"/>
                <a:ea typeface="Calibri"/>
                <a:cs typeface="Calibri"/>
                <a:sym typeface="Calibri"/>
              </a:rPr>
              <a:t>سرعت و اثربخشی در واکنش به تغییرات.</a:t>
            </a:r>
            <a:endParaRPr sz="1800">
              <a:latin typeface="Calibri"/>
              <a:ea typeface="Calibri"/>
              <a:cs typeface="Calibri"/>
              <a:sym typeface="Calibri"/>
            </a:endParaRPr>
          </a:p>
          <a:p>
            <a:pPr indent="-342900" lvl="0" marL="342900" rtl="1" algn="r">
              <a:lnSpc>
                <a:spcPct val="107000"/>
              </a:lnSpc>
              <a:spcBef>
                <a:spcPts val="1700"/>
              </a:spcBef>
              <a:spcAft>
                <a:spcPts val="0"/>
              </a:spcAft>
              <a:buSzPts val="1800"/>
              <a:buFont typeface="Arial"/>
              <a:buChar char="•"/>
            </a:pPr>
            <a:r>
              <a:rPr b="1" lang="fa-IR" sz="1800">
                <a:latin typeface="Calibri"/>
                <a:ea typeface="Calibri"/>
                <a:cs typeface="Calibri"/>
                <a:sym typeface="Calibri"/>
              </a:rPr>
              <a:t>شاخص 2: میزان نوآوری (Innovation Rate): </a:t>
            </a:r>
            <a:r>
              <a:rPr lang="fa-IR" sz="1800">
                <a:latin typeface="Calibri"/>
                <a:ea typeface="Calibri"/>
                <a:cs typeface="Calibri"/>
                <a:sym typeface="Calibri"/>
              </a:rPr>
              <a:t>تعداد و کیفیت نوآوری‌ها در سازمان.</a:t>
            </a:r>
            <a:endParaRPr sz="1800">
              <a:latin typeface="Calibri"/>
              <a:ea typeface="Calibri"/>
              <a:cs typeface="Calibri"/>
              <a:sym typeface="Calibri"/>
            </a:endParaRPr>
          </a:p>
          <a:p>
            <a:pPr indent="-342900" lvl="0" marL="342900" rtl="1" algn="r">
              <a:lnSpc>
                <a:spcPct val="107000"/>
              </a:lnSpc>
              <a:spcBef>
                <a:spcPts val="1700"/>
              </a:spcBef>
              <a:spcAft>
                <a:spcPts val="0"/>
              </a:spcAft>
              <a:buSzPts val="1800"/>
              <a:buFont typeface="Arial"/>
              <a:buChar char="•"/>
            </a:pPr>
            <a:r>
              <a:rPr b="1" lang="fa-IR" sz="1800">
                <a:latin typeface="Calibri"/>
                <a:ea typeface="Calibri"/>
                <a:cs typeface="Calibri"/>
                <a:sym typeface="Calibri"/>
              </a:rPr>
              <a:t>شاخص 3: انعطاف‌پذیری سازمانی (Organizational Resilience): </a:t>
            </a:r>
            <a:r>
              <a:rPr lang="fa-IR" sz="1800">
                <a:latin typeface="Calibri"/>
                <a:ea typeface="Calibri"/>
                <a:cs typeface="Calibri"/>
                <a:sym typeface="Calibri"/>
              </a:rPr>
              <a:t>توانایی بازیابی از بحران‌ها و اختلالات.</a:t>
            </a:r>
            <a:endParaRPr sz="1800">
              <a:latin typeface="Calibri"/>
              <a:ea typeface="Calibri"/>
              <a:cs typeface="Calibri"/>
              <a:sym typeface="Calibri"/>
            </a:endParaRPr>
          </a:p>
          <a:p>
            <a:pPr indent="-342900" lvl="0" marL="342900" rtl="1" algn="r">
              <a:lnSpc>
                <a:spcPct val="107000"/>
              </a:lnSpc>
              <a:spcBef>
                <a:spcPts val="1700"/>
              </a:spcBef>
              <a:spcAft>
                <a:spcPts val="0"/>
              </a:spcAft>
              <a:buSzPts val="1800"/>
              <a:buFont typeface="Arial"/>
              <a:buChar char="•"/>
            </a:pPr>
            <a:r>
              <a:rPr b="1" lang="fa-IR" sz="1800">
                <a:latin typeface="Calibri"/>
                <a:ea typeface="Calibri"/>
                <a:cs typeface="Calibri"/>
                <a:sym typeface="Calibri"/>
              </a:rPr>
              <a:t>شاخص 4: تعامل در اکوسیستم‌ها (Ecosystem Collaboration Score): </a:t>
            </a:r>
            <a:r>
              <a:rPr lang="fa-IR" sz="1800">
                <a:latin typeface="Calibri"/>
                <a:ea typeface="Calibri"/>
                <a:cs typeface="Calibri"/>
                <a:sym typeface="Calibri"/>
              </a:rPr>
              <a:t>سطح همکاری و ارزش‌آفرینی مشترک با شرکا و ذی‌نفعان.</a:t>
            </a:r>
            <a:endParaRPr sz="1800">
              <a:latin typeface="Calibri"/>
              <a:ea typeface="Calibri"/>
              <a:cs typeface="Calibri"/>
              <a:sym typeface="Calibri"/>
            </a:endParaRPr>
          </a:p>
          <a:p>
            <a:pPr indent="-342900" lvl="0" marL="342900" rtl="1" algn="r">
              <a:lnSpc>
                <a:spcPct val="107000"/>
              </a:lnSpc>
              <a:spcBef>
                <a:spcPts val="1700"/>
              </a:spcBef>
              <a:spcAft>
                <a:spcPts val="0"/>
              </a:spcAft>
              <a:buSzPts val="1800"/>
              <a:buFont typeface="Arial"/>
              <a:buChar char="•"/>
            </a:pPr>
            <a:r>
              <a:rPr b="1" lang="fa-IR" sz="1800">
                <a:latin typeface="Calibri"/>
                <a:ea typeface="Calibri"/>
                <a:cs typeface="Calibri"/>
                <a:sym typeface="Calibri"/>
              </a:rPr>
              <a:t>شاخص 5: یادگیری مداوم (Learning and Development Metrics): </a:t>
            </a:r>
            <a:r>
              <a:rPr lang="fa-IR" sz="1800">
                <a:latin typeface="Calibri"/>
                <a:ea typeface="Calibri"/>
                <a:cs typeface="Calibri"/>
                <a:sym typeface="Calibri"/>
              </a:rPr>
              <a:t>میزان ارتقای مهارت‌ها و آموزش کارکنان.</a:t>
            </a:r>
            <a:endParaRPr sz="1800">
              <a:latin typeface="Calibri"/>
              <a:ea typeface="Calibri"/>
              <a:cs typeface="Calibri"/>
              <a:sym typeface="Calibri"/>
            </a:endParaRPr>
          </a:p>
        </p:txBody>
      </p:sp>
      <p:pic>
        <p:nvPicPr>
          <p:cNvPr descr="Three Steps to Building a Learning Culture That Delivers Innovation" id="254" name="Google Shape;254;p18"/>
          <p:cNvPicPr preferRelativeResize="0"/>
          <p:nvPr/>
        </p:nvPicPr>
        <p:blipFill rotWithShape="1">
          <a:blip r:embed="rId3">
            <a:alphaModFix/>
          </a:blip>
          <a:srcRect b="2705" l="30923" r="31425" t="3360"/>
          <a:stretch/>
        </p:blipFill>
        <p:spPr>
          <a:xfrm>
            <a:off x="447712" y="2209087"/>
            <a:ext cx="1560444" cy="259547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9"/>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مطالعه موردی: دویچه تلکام و نهادینه‌سازی آینده‌نگاری</a:t>
            </a:r>
            <a:endParaRPr/>
          </a:p>
        </p:txBody>
      </p:sp>
      <p:sp>
        <p:nvSpPr>
          <p:cNvPr id="261" name="Google Shape;261;p19"/>
          <p:cNvSpPr txBox="1"/>
          <p:nvPr>
            <p:ph idx="1" type="body"/>
          </p:nvPr>
        </p:nvSpPr>
        <p:spPr>
          <a:xfrm>
            <a:off x="550717" y="2194926"/>
            <a:ext cx="11193571" cy="2623795"/>
          </a:xfrm>
          <a:prstGeom prst="rect">
            <a:avLst/>
          </a:prstGeom>
          <a:noFill/>
          <a:ln>
            <a:noFill/>
          </a:ln>
        </p:spPr>
        <p:txBody>
          <a:bodyPr anchorCtr="0" anchor="ctr" bIns="45700" lIns="91425" spcFirstLastPara="1" rIns="91425" wrap="square" tIns="45700">
            <a:spAutoFit/>
          </a:bodyPr>
          <a:lstStyle/>
          <a:p>
            <a:pPr indent="-342900" lvl="0" marL="342900" rtl="1" algn="r">
              <a:lnSpc>
                <a:spcPct val="107000"/>
              </a:lnSpc>
              <a:spcBef>
                <a:spcPts val="0"/>
              </a:spcBef>
              <a:spcAft>
                <a:spcPts val="0"/>
              </a:spcAft>
              <a:buSzPts val="1800"/>
              <a:buFont typeface="Arial"/>
              <a:buChar char="•"/>
            </a:pPr>
            <a:r>
              <a:rPr b="1" lang="fa-IR" sz="1800">
                <a:latin typeface="Calibri"/>
                <a:ea typeface="Calibri"/>
                <a:cs typeface="Calibri"/>
                <a:sym typeface="Calibri"/>
              </a:rPr>
              <a:t>هدف: </a:t>
            </a:r>
            <a:r>
              <a:rPr lang="fa-IR" sz="1800">
                <a:latin typeface="Calibri"/>
                <a:ea typeface="Calibri"/>
                <a:cs typeface="Calibri"/>
                <a:sym typeface="Calibri"/>
              </a:rPr>
              <a:t>تبدیل آینده‌نگاری از یک فعالیت پراکنده به یک قابلیت سازمانی یکپارچه برای حمایت از استراتژی و نوآوری.</a:t>
            </a:r>
            <a:endParaRPr/>
          </a:p>
          <a:p>
            <a:pPr indent="-342900" lvl="0" marL="342900" rtl="1" algn="r">
              <a:lnSpc>
                <a:spcPct val="107000"/>
              </a:lnSpc>
              <a:spcBef>
                <a:spcPts val="1700"/>
              </a:spcBef>
              <a:spcAft>
                <a:spcPts val="0"/>
              </a:spcAft>
              <a:buSzPts val="1800"/>
              <a:buFont typeface="Arial"/>
              <a:buChar char="•"/>
            </a:pPr>
            <a:r>
              <a:rPr b="1" lang="fa-IR" sz="1800">
                <a:latin typeface="Calibri"/>
                <a:ea typeface="Calibri"/>
                <a:cs typeface="Calibri"/>
                <a:sym typeface="Calibri"/>
              </a:rPr>
              <a:t>ابزارهای کلیدی ایجاد شده:</a:t>
            </a:r>
            <a:endParaRPr/>
          </a:p>
          <a:p>
            <a:pPr indent="-342899" lvl="1" marL="617220" rtl="1" algn="r">
              <a:lnSpc>
                <a:spcPct val="107000"/>
              </a:lnSpc>
              <a:spcBef>
                <a:spcPts val="1300"/>
              </a:spcBef>
              <a:spcAft>
                <a:spcPts val="0"/>
              </a:spcAft>
              <a:buSzPts val="1600"/>
              <a:buFont typeface="Arial"/>
              <a:buChar char="•"/>
            </a:pPr>
            <a:r>
              <a:rPr b="1" lang="fa-IR" sz="1600">
                <a:latin typeface="Calibri"/>
                <a:ea typeface="Calibri"/>
                <a:cs typeface="Calibri"/>
                <a:sym typeface="Calibri"/>
              </a:rPr>
              <a:t>رادار فناوری (Technology Radar): </a:t>
            </a:r>
            <a:r>
              <a:rPr lang="fa-IR" sz="1600">
                <a:latin typeface="Calibri"/>
                <a:ea typeface="Calibri"/>
                <a:cs typeface="Calibri"/>
                <a:sym typeface="Calibri"/>
              </a:rPr>
              <a:t>برای پایش مستمر فناوری‌های نوظهور و ارزیابی تأثیر آن‌ها.</a:t>
            </a:r>
            <a:endParaRPr/>
          </a:p>
          <a:p>
            <a:pPr indent="-342899" lvl="1" marL="617220" rtl="1" algn="r">
              <a:lnSpc>
                <a:spcPct val="107000"/>
              </a:lnSpc>
              <a:spcBef>
                <a:spcPts val="1300"/>
              </a:spcBef>
              <a:spcAft>
                <a:spcPts val="0"/>
              </a:spcAft>
              <a:buSzPts val="1600"/>
              <a:buFont typeface="Arial"/>
              <a:buChar char="•"/>
            </a:pPr>
            <a:r>
              <a:rPr b="1" lang="fa-IR" sz="1600">
                <a:latin typeface="Calibri"/>
                <a:ea typeface="Calibri"/>
                <a:cs typeface="Calibri"/>
                <a:sym typeface="Calibri"/>
              </a:rPr>
              <a:t>رادار محصول و خدمات (Product &amp; Service Radar): </a:t>
            </a:r>
            <a:r>
              <a:rPr lang="fa-IR" sz="1600">
                <a:latin typeface="Calibri"/>
                <a:ea typeface="Calibri"/>
                <a:cs typeface="Calibri"/>
                <a:sym typeface="Calibri"/>
              </a:rPr>
              <a:t>برای رصد اقدامات رقبا و شناسایی مفاهیم جدید در بازار.</a:t>
            </a:r>
            <a:endParaRPr/>
          </a:p>
          <a:p>
            <a:pPr indent="-342900" lvl="1" marL="342900" rtl="1" algn="r">
              <a:lnSpc>
                <a:spcPct val="107000"/>
              </a:lnSpc>
              <a:spcBef>
                <a:spcPts val="1300"/>
              </a:spcBef>
              <a:spcAft>
                <a:spcPts val="0"/>
              </a:spcAft>
              <a:buSzPts val="1600"/>
              <a:buFont typeface="Arial"/>
              <a:buChar char="•"/>
            </a:pPr>
            <a:r>
              <a:rPr b="1" lang="fa-IR" sz="1600">
                <a:latin typeface="Calibri"/>
                <a:ea typeface="Calibri"/>
                <a:cs typeface="Calibri"/>
                <a:sym typeface="Calibri"/>
              </a:rPr>
              <a:t>رویکرد اصلی: </a:t>
            </a:r>
            <a:r>
              <a:rPr lang="fa-IR" sz="1600">
                <a:latin typeface="Calibri"/>
                <a:ea typeface="Calibri"/>
                <a:cs typeface="Calibri"/>
                <a:sym typeface="Calibri"/>
              </a:rPr>
              <a:t>ایجاد یک زبان مشترک در مورد آینده و اتصال مستقیم خروجی‌های آینده‌نگری به فرآیندهای تصمیم‌گیری استراتژیک.</a:t>
            </a:r>
            <a:endParaRPr/>
          </a:p>
          <a:p>
            <a:pPr indent="-342900" lvl="1" marL="342900" rtl="1" algn="r">
              <a:lnSpc>
                <a:spcPct val="107000"/>
              </a:lnSpc>
              <a:spcBef>
                <a:spcPts val="1300"/>
              </a:spcBef>
              <a:spcAft>
                <a:spcPts val="0"/>
              </a:spcAft>
              <a:buSzPts val="1600"/>
              <a:buFont typeface="Arial"/>
              <a:buChar char="•"/>
            </a:pPr>
            <a:r>
              <a:rPr b="1" lang="fa-IR" sz="1600">
                <a:latin typeface="Calibri"/>
                <a:ea typeface="Calibri"/>
                <a:cs typeface="Calibri"/>
                <a:sym typeface="Calibri"/>
              </a:rPr>
              <a:t>نتیجه: </a:t>
            </a:r>
            <a:r>
              <a:rPr lang="fa-IR" sz="1600">
                <a:latin typeface="Calibri"/>
                <a:ea typeface="Calibri"/>
                <a:cs typeface="Calibri"/>
                <a:sym typeface="Calibri"/>
              </a:rPr>
              <a:t>افزایش توانایی شرکت در شناسایی فرصت‌های جدید، کاهش ریسک‌های غیرمنتظره و جهت‌دهی دقیق‌تر به سرمایه‌گذاری‌های بلندمدت.</a:t>
            </a:r>
            <a:endParaRPr sz="1600">
              <a:latin typeface="Calibri"/>
              <a:ea typeface="Calibri"/>
              <a:cs typeface="Calibri"/>
              <a:sym typeface="Calibri"/>
            </a:endParaRPr>
          </a:p>
        </p:txBody>
      </p:sp>
      <p:pic>
        <p:nvPicPr>
          <p:cNvPr descr="Corporate strategy - Free business icons" id="262" name="Google Shape;262;p19"/>
          <p:cNvPicPr preferRelativeResize="0"/>
          <p:nvPr/>
        </p:nvPicPr>
        <p:blipFill rotWithShape="1">
          <a:blip r:embed="rId3">
            <a:alphaModFix/>
          </a:blip>
          <a:srcRect b="0" l="0" r="0" t="0"/>
          <a:stretch/>
        </p:blipFill>
        <p:spPr>
          <a:xfrm>
            <a:off x="645459" y="2468350"/>
            <a:ext cx="2070847" cy="207084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چالش‌ها و راه‌حل‌های Future FITness</a:t>
            </a:r>
            <a:endParaRPr/>
          </a:p>
        </p:txBody>
      </p:sp>
      <p:sp>
        <p:nvSpPr>
          <p:cNvPr id="269" name="Google Shape;269;p20"/>
          <p:cNvSpPr txBox="1"/>
          <p:nvPr>
            <p:ph idx="1" type="body"/>
          </p:nvPr>
        </p:nvSpPr>
        <p:spPr>
          <a:xfrm>
            <a:off x="4621696" y="2140444"/>
            <a:ext cx="7122592" cy="3249608"/>
          </a:xfrm>
          <a:prstGeom prst="rect">
            <a:avLst/>
          </a:prstGeom>
          <a:noFill/>
          <a:ln>
            <a:noFill/>
          </a:ln>
        </p:spPr>
        <p:txBody>
          <a:bodyPr anchorCtr="0" anchor="ctr" bIns="45700" lIns="91425" spcFirstLastPara="1" rIns="91425" wrap="square" tIns="45700">
            <a:spAutoFit/>
          </a:bodyPr>
          <a:lstStyle/>
          <a:p>
            <a:pPr indent="-182880" lvl="0" marL="182880" rtl="1" algn="r">
              <a:lnSpc>
                <a:spcPct val="120000"/>
              </a:lnSpc>
              <a:spcBef>
                <a:spcPts val="0"/>
              </a:spcBef>
              <a:spcAft>
                <a:spcPts val="0"/>
              </a:spcAft>
              <a:buSzPts val="2000"/>
              <a:buFont typeface="Arial"/>
              <a:buChar char="•"/>
            </a:pPr>
            <a:r>
              <a:rPr b="1" lang="fa-IR" sz="2000"/>
              <a:t>چالش 1: مقاومت در برابر تغییر</a:t>
            </a:r>
            <a:endParaRPr sz="2000"/>
          </a:p>
          <a:p>
            <a:pPr indent="-285750" lvl="1" marL="742950" rtl="1" algn="r">
              <a:lnSpc>
                <a:spcPct val="100000"/>
              </a:lnSpc>
              <a:spcBef>
                <a:spcPts val="500"/>
              </a:spcBef>
              <a:spcAft>
                <a:spcPts val="0"/>
              </a:spcAft>
              <a:buSzPts val="1800"/>
              <a:buFont typeface="Arial"/>
              <a:buChar char="•"/>
            </a:pPr>
            <a:r>
              <a:rPr b="1" lang="fa-IR" sz="1800"/>
              <a:t>راه‌حل:</a:t>
            </a:r>
            <a:r>
              <a:rPr lang="fa-IR" sz="1800"/>
              <a:t> ایجاد فرهنگ پذیرش تغییر و ارتقاء تفکر انعطاف‌پذیر در سازمان‌ها.</a:t>
            </a:r>
            <a:endParaRPr/>
          </a:p>
          <a:p>
            <a:pPr indent="-182880" lvl="0" marL="182880" rtl="1" algn="r">
              <a:lnSpc>
                <a:spcPct val="120000"/>
              </a:lnSpc>
              <a:spcBef>
                <a:spcPts val="900"/>
              </a:spcBef>
              <a:spcAft>
                <a:spcPts val="0"/>
              </a:spcAft>
              <a:buSzPts val="2000"/>
              <a:buFont typeface="Arial"/>
              <a:buChar char="•"/>
            </a:pPr>
            <a:r>
              <a:rPr b="1" lang="fa-IR" sz="2000"/>
              <a:t>چالش 2: شکاف مهارتی در نیروی کار</a:t>
            </a:r>
            <a:endParaRPr sz="2000"/>
          </a:p>
          <a:p>
            <a:pPr indent="-285750" lvl="1" marL="742950" rtl="1" algn="r">
              <a:lnSpc>
                <a:spcPct val="100000"/>
              </a:lnSpc>
              <a:spcBef>
                <a:spcPts val="500"/>
              </a:spcBef>
              <a:spcAft>
                <a:spcPts val="0"/>
              </a:spcAft>
              <a:buSzPts val="1800"/>
              <a:buFont typeface="Arial"/>
              <a:buChar char="•"/>
            </a:pPr>
            <a:r>
              <a:rPr b="1" lang="fa-IR" sz="1800"/>
              <a:t>راه‌حل:</a:t>
            </a:r>
            <a:r>
              <a:rPr lang="fa-IR" sz="1800"/>
              <a:t> سرمایه‌گذاری در برنامه‌های آموزشی و بازآموزی برای پر کردن این شکاف.</a:t>
            </a:r>
            <a:endParaRPr/>
          </a:p>
          <a:p>
            <a:pPr indent="-182880" lvl="0" marL="182880" rtl="1" algn="r">
              <a:lnSpc>
                <a:spcPct val="120000"/>
              </a:lnSpc>
              <a:spcBef>
                <a:spcPts val="900"/>
              </a:spcBef>
              <a:spcAft>
                <a:spcPts val="0"/>
              </a:spcAft>
              <a:buSzPts val="2000"/>
              <a:buFont typeface="Arial"/>
              <a:buChar char="•"/>
            </a:pPr>
            <a:r>
              <a:rPr b="1" lang="fa-IR" sz="2000"/>
              <a:t>چالش 3: پیچیدگی در مدیریت اکوسیستم‌های تعاملی</a:t>
            </a:r>
            <a:endParaRPr sz="2000"/>
          </a:p>
          <a:p>
            <a:pPr indent="-285750" lvl="1" marL="742950" rtl="1" algn="r">
              <a:lnSpc>
                <a:spcPct val="100000"/>
              </a:lnSpc>
              <a:spcBef>
                <a:spcPts val="500"/>
              </a:spcBef>
              <a:spcAft>
                <a:spcPts val="0"/>
              </a:spcAft>
              <a:buSzPts val="1800"/>
              <a:buFont typeface="Arial"/>
              <a:buChar char="•"/>
            </a:pPr>
            <a:r>
              <a:rPr b="1" lang="fa-IR" sz="1800"/>
              <a:t>راه‌حل:</a:t>
            </a:r>
            <a:r>
              <a:rPr lang="fa-IR" sz="1800"/>
              <a:t> بهبود همکاری و هماهنگی با ذی‌نفعان از طریق فناوری و استراتژی‌های باز.</a:t>
            </a:r>
            <a:endParaRPr/>
          </a:p>
          <a:p>
            <a:pPr indent="-182880" lvl="0" marL="182880" rtl="1" algn="r">
              <a:lnSpc>
                <a:spcPct val="120000"/>
              </a:lnSpc>
              <a:spcBef>
                <a:spcPts val="900"/>
              </a:spcBef>
              <a:spcAft>
                <a:spcPts val="0"/>
              </a:spcAft>
              <a:buSzPts val="2000"/>
              <a:buFont typeface="Arial"/>
              <a:buChar char="•"/>
            </a:pPr>
            <a:r>
              <a:rPr b="1" lang="fa-IR" sz="2000"/>
              <a:t>چالش 4: تعارض اهداف کوتاه‌مدت و بلندمدت</a:t>
            </a:r>
            <a:endParaRPr sz="2000"/>
          </a:p>
          <a:p>
            <a:pPr indent="-285750" lvl="1" marL="742950" rtl="1" algn="r">
              <a:lnSpc>
                <a:spcPct val="100000"/>
              </a:lnSpc>
              <a:spcBef>
                <a:spcPts val="500"/>
              </a:spcBef>
              <a:spcAft>
                <a:spcPts val="0"/>
              </a:spcAft>
              <a:buSzPts val="1800"/>
              <a:buFont typeface="Arial"/>
              <a:buChar char="•"/>
            </a:pPr>
            <a:r>
              <a:rPr b="1" lang="fa-IR" sz="1800"/>
              <a:t>راه‌حل:</a:t>
            </a:r>
            <a:r>
              <a:rPr lang="fa-IR" sz="1800"/>
              <a:t> تعادل در تخصیص منابع و تنظیم استراتژی‌های پایدار.</a:t>
            </a:r>
            <a:endParaRPr/>
          </a:p>
        </p:txBody>
      </p:sp>
      <p:pic>
        <p:nvPicPr>
          <p:cNvPr descr="UNDERSTANDING, RECOGNIZING, AND OVERCOMING RESISTANCE TO CHANGE - DAI  Solutions" id="270" name="Google Shape;270;p20"/>
          <p:cNvPicPr preferRelativeResize="0"/>
          <p:nvPr/>
        </p:nvPicPr>
        <p:blipFill rotWithShape="1">
          <a:blip r:embed="rId3">
            <a:alphaModFix/>
          </a:blip>
          <a:srcRect b="0" l="0" r="0" t="0"/>
          <a:stretch/>
        </p:blipFill>
        <p:spPr>
          <a:xfrm>
            <a:off x="527397" y="2832653"/>
            <a:ext cx="4402976" cy="225349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1"/>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جمع بندی</a:t>
            </a:r>
            <a:endParaRPr/>
          </a:p>
        </p:txBody>
      </p:sp>
      <p:sp>
        <p:nvSpPr>
          <p:cNvPr id="277" name="Google Shape;277;p21"/>
          <p:cNvSpPr txBox="1"/>
          <p:nvPr>
            <p:ph idx="1" type="body"/>
          </p:nvPr>
        </p:nvSpPr>
        <p:spPr>
          <a:xfrm>
            <a:off x="3399183" y="2862693"/>
            <a:ext cx="8345105" cy="1805110"/>
          </a:xfrm>
          <a:prstGeom prst="rect">
            <a:avLst/>
          </a:prstGeom>
          <a:noFill/>
          <a:ln>
            <a:noFill/>
          </a:ln>
        </p:spPr>
        <p:txBody>
          <a:bodyPr anchorCtr="0" anchor="ctr" bIns="45700" lIns="91425" spcFirstLastPara="1" rIns="91425" wrap="square" tIns="45700">
            <a:spAutoFit/>
          </a:bodyPr>
          <a:lstStyle/>
          <a:p>
            <a:pPr indent="0" lvl="0" marL="0" rtl="1" algn="r">
              <a:lnSpc>
                <a:spcPct val="120000"/>
              </a:lnSpc>
              <a:spcBef>
                <a:spcPts val="0"/>
              </a:spcBef>
              <a:spcAft>
                <a:spcPts val="0"/>
              </a:spcAft>
              <a:buSzPts val="2000"/>
              <a:buNone/>
            </a:pPr>
            <a:r>
              <a:rPr b="1" lang="fa-IR" sz="2000"/>
              <a:t>تعریف: </a:t>
            </a:r>
            <a:r>
              <a:rPr lang="fa-IR" sz="1800"/>
              <a:t>توانایی سازمان‌ها برای بقا، انطباق و رشد در شرایط نامطمئن.</a:t>
            </a:r>
            <a:endParaRPr/>
          </a:p>
          <a:p>
            <a:pPr indent="0" lvl="0" marL="0" rtl="1" algn="r">
              <a:lnSpc>
                <a:spcPct val="120000"/>
              </a:lnSpc>
              <a:spcBef>
                <a:spcPts val="900"/>
              </a:spcBef>
              <a:spcAft>
                <a:spcPts val="0"/>
              </a:spcAft>
              <a:buSzPts val="1800"/>
              <a:buNone/>
            </a:pPr>
            <a:r>
              <a:rPr b="1" lang="fa-IR" sz="1800"/>
              <a:t>اجزای کلیدی: </a:t>
            </a:r>
            <a:r>
              <a:rPr lang="fa-IR" sz="1800"/>
              <a:t>قابلیت‌های پویا، تفکر آینده‌نگر، اجرای انطباقی، اکوسیستم‌های تعاملی.</a:t>
            </a:r>
            <a:endParaRPr/>
          </a:p>
          <a:p>
            <a:pPr indent="0" lvl="0" marL="0" rtl="1" algn="r">
              <a:lnSpc>
                <a:spcPct val="120000"/>
              </a:lnSpc>
              <a:spcBef>
                <a:spcPts val="900"/>
              </a:spcBef>
              <a:spcAft>
                <a:spcPts val="0"/>
              </a:spcAft>
              <a:buSzPts val="1800"/>
              <a:buNone/>
            </a:pPr>
            <a:r>
              <a:rPr b="1" lang="fa-IR" sz="1800"/>
              <a:t>مزایای دستیابی: </a:t>
            </a:r>
            <a:r>
              <a:rPr lang="fa-IR" sz="1800"/>
              <a:t>شکل‌دهی آینده مطلوب، مدیریت تغییرات، نوآوری پایدار، و حفظ مزیت رقابتی.</a:t>
            </a:r>
            <a:endParaRPr/>
          </a:p>
          <a:p>
            <a:pPr indent="0" lvl="0" marL="0" rtl="1" algn="r">
              <a:lnSpc>
                <a:spcPct val="120000"/>
              </a:lnSpc>
              <a:spcBef>
                <a:spcPts val="900"/>
              </a:spcBef>
              <a:spcAft>
                <a:spcPts val="0"/>
              </a:spcAft>
              <a:buSzPts val="1800"/>
              <a:buNone/>
            </a:pPr>
            <a:r>
              <a:rPr b="1" lang="fa-IR" sz="1800"/>
              <a:t>گام‌های عملی:</a:t>
            </a:r>
            <a:r>
              <a:rPr lang="fa-IR" sz="1800"/>
              <a:t>تحلیل وضعیت فعلی، تقویت مهارت‌ها، سرمایه‌گذاری در نوآوری، و پذیرش فرهنگ تغییر.</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2"/>
          <p:cNvSpPr txBox="1"/>
          <p:nvPr>
            <p:ph type="title"/>
          </p:nvPr>
        </p:nvSpPr>
        <p:spPr>
          <a:xfrm>
            <a:off x="1066800" y="642594"/>
            <a:ext cx="10058400" cy="1371600"/>
          </a:xfrm>
          <a:prstGeom prst="rect">
            <a:avLst/>
          </a:prstGeom>
          <a:noFill/>
          <a:ln>
            <a:noFill/>
          </a:ln>
        </p:spPr>
        <p:txBody>
          <a:bodyPr anchorCtr="0" anchor="ctr" bIns="45700" lIns="91425" spcFirstLastPara="1" rIns="91425" wrap="square" tIns="45700">
            <a:normAutofit/>
          </a:bodyPr>
          <a:lstStyle/>
          <a:p>
            <a:pPr indent="0" lvl="0" marL="0" rtl="1" algn="ctr">
              <a:lnSpc>
                <a:spcPct val="90000"/>
              </a:lnSpc>
              <a:spcBef>
                <a:spcPts val="0"/>
              </a:spcBef>
              <a:spcAft>
                <a:spcPts val="0"/>
              </a:spcAft>
              <a:buClr>
                <a:srgbClr val="262626"/>
              </a:buClr>
              <a:buSzPts val="3600"/>
              <a:buFont typeface="Arial"/>
              <a:buNone/>
            </a:pPr>
            <a:r>
              <a:rPr lang="fa-IR"/>
              <a:t>مقایسه Future FITness  و Future Readiness</a:t>
            </a:r>
            <a:endParaRPr/>
          </a:p>
        </p:txBody>
      </p:sp>
      <p:graphicFrame>
        <p:nvGraphicFramePr>
          <p:cNvPr id="284" name="Google Shape;284;p22"/>
          <p:cNvGraphicFramePr/>
          <p:nvPr/>
        </p:nvGraphicFramePr>
        <p:xfrm>
          <a:off x="1252331" y="2117034"/>
          <a:ext cx="3000000" cy="3000000"/>
        </p:xfrm>
        <a:graphic>
          <a:graphicData uri="http://schemas.openxmlformats.org/drawingml/2006/table">
            <a:tbl>
              <a:tblPr>
                <a:noFill/>
                <a:tableStyleId>{63642641-C170-4FCA-AD3C-C170F8097469}</a:tableStyleId>
              </a:tblPr>
              <a:tblGrid>
                <a:gridCol w="2120350"/>
                <a:gridCol w="3496175"/>
                <a:gridCol w="3968125"/>
              </a:tblGrid>
              <a:tr h="423650">
                <a:tc>
                  <a:txBody>
                    <a:bodyPr/>
                    <a:lstStyle/>
                    <a:p>
                      <a:pPr indent="0" lvl="0" marL="0" marR="0" rtl="1" algn="ctr">
                        <a:spcBef>
                          <a:spcPts val="0"/>
                        </a:spcBef>
                        <a:spcAft>
                          <a:spcPts val="0"/>
                        </a:spcAft>
                        <a:buNone/>
                      </a:pPr>
                      <a:r>
                        <a:rPr b="1" lang="fa-IR" sz="1400" u="none" cap="none" strike="noStrike">
                          <a:latin typeface="Arial"/>
                          <a:ea typeface="Arial"/>
                          <a:cs typeface="Arial"/>
                          <a:sym typeface="Arial"/>
                        </a:rPr>
                        <a:t>ویژگی</a:t>
                      </a:r>
                      <a:endParaRPr b="1"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0" algn="ctr">
                        <a:spcBef>
                          <a:spcPts val="0"/>
                        </a:spcBef>
                        <a:spcAft>
                          <a:spcPts val="0"/>
                        </a:spcAft>
                        <a:buNone/>
                      </a:pPr>
                      <a:r>
                        <a:rPr b="1" lang="fa-IR" sz="1400" u="none" cap="none" strike="noStrike"/>
                        <a:t>Future Readiness</a:t>
                      </a:r>
                      <a:endParaRPr b="1"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0" algn="ctr">
                        <a:spcBef>
                          <a:spcPts val="0"/>
                        </a:spcBef>
                        <a:spcAft>
                          <a:spcPts val="0"/>
                        </a:spcAft>
                        <a:buNone/>
                      </a:pPr>
                      <a:r>
                        <a:rPr b="1" lang="fa-IR" sz="1400" u="none" cap="none" strike="noStrike"/>
                        <a:t>Future FITness</a:t>
                      </a:r>
                      <a:endParaRPr b="1" i="0" sz="1400" u="none" cap="none" strike="noStrike">
                        <a:solidFill>
                          <a:srgbClr val="000000"/>
                        </a:solidFill>
                        <a:latin typeface="Arial"/>
                        <a:ea typeface="Arial"/>
                        <a:cs typeface="Arial"/>
                        <a:sym typeface="Arial"/>
                      </a:endParaRPr>
                    </a:p>
                  </a:txBody>
                  <a:tcPr marT="7625" marB="0" marR="7625" marL="7625" anchor="ctr"/>
                </a:tc>
              </a:tr>
              <a:tr h="423650">
                <a:tc>
                  <a:txBody>
                    <a:bodyPr/>
                    <a:lstStyle/>
                    <a:p>
                      <a:pPr indent="0" lvl="0" marL="0" marR="0" rtl="1" algn="ctr">
                        <a:spcBef>
                          <a:spcPts val="0"/>
                        </a:spcBef>
                        <a:spcAft>
                          <a:spcPts val="0"/>
                        </a:spcAft>
                        <a:buNone/>
                      </a:pPr>
                      <a:r>
                        <a:rPr b="1" lang="fa-IR" sz="1400" u="none" cap="none" strike="noStrike"/>
                        <a:t>تمرکز اصلی</a:t>
                      </a:r>
                      <a:endParaRPr b="1"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1" algn="ctr">
                        <a:spcBef>
                          <a:spcPts val="0"/>
                        </a:spcBef>
                        <a:spcAft>
                          <a:spcPts val="0"/>
                        </a:spcAft>
                        <a:buNone/>
                      </a:pPr>
                      <a:r>
                        <a:rPr lang="fa-IR" sz="1400" u="none" cap="none" strike="noStrike"/>
                        <a:t>پیش‌بینی و برنامه‌ریزی</a:t>
                      </a:r>
                      <a:endParaRPr b="0"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1" algn="ctr">
                        <a:spcBef>
                          <a:spcPts val="0"/>
                        </a:spcBef>
                        <a:spcAft>
                          <a:spcPts val="0"/>
                        </a:spcAft>
                        <a:buNone/>
                      </a:pPr>
                      <a:r>
                        <a:rPr lang="fa-IR" sz="1400" u="none" cap="none" strike="noStrike"/>
                        <a:t>سازگاری، نوآوری و رشد مداوم</a:t>
                      </a:r>
                      <a:endParaRPr b="0" i="0" sz="1400" u="none" cap="none" strike="noStrike">
                        <a:solidFill>
                          <a:srgbClr val="000000"/>
                        </a:solidFill>
                        <a:latin typeface="Arial"/>
                        <a:ea typeface="Arial"/>
                        <a:cs typeface="Arial"/>
                        <a:sym typeface="Arial"/>
                      </a:endParaRPr>
                    </a:p>
                  </a:txBody>
                  <a:tcPr marT="7625" marB="0" marR="7625" marL="7625" anchor="ctr"/>
                </a:tc>
              </a:tr>
              <a:tr h="423650">
                <a:tc>
                  <a:txBody>
                    <a:bodyPr/>
                    <a:lstStyle/>
                    <a:p>
                      <a:pPr indent="0" lvl="0" marL="0" marR="0" rtl="1" algn="ctr">
                        <a:spcBef>
                          <a:spcPts val="0"/>
                        </a:spcBef>
                        <a:spcAft>
                          <a:spcPts val="0"/>
                        </a:spcAft>
                        <a:buNone/>
                      </a:pPr>
                      <a:r>
                        <a:rPr b="1" lang="fa-IR" sz="1400" u="none" cap="none" strike="noStrike">
                          <a:latin typeface="Arial"/>
                          <a:ea typeface="Arial"/>
                          <a:cs typeface="Arial"/>
                          <a:sym typeface="Arial"/>
                        </a:rPr>
                        <a:t>هدف</a:t>
                      </a:r>
                      <a:endParaRPr b="1"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1" algn="ctr">
                        <a:spcBef>
                          <a:spcPts val="0"/>
                        </a:spcBef>
                        <a:spcAft>
                          <a:spcPts val="0"/>
                        </a:spcAft>
                        <a:buNone/>
                      </a:pPr>
                      <a:r>
                        <a:rPr lang="fa-IR" sz="1400" u="none" cap="none" strike="noStrike"/>
                        <a:t>آمادگی برای تغییرات</a:t>
                      </a:r>
                      <a:endParaRPr b="0"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1" algn="ctr">
                        <a:spcBef>
                          <a:spcPts val="0"/>
                        </a:spcBef>
                        <a:spcAft>
                          <a:spcPts val="0"/>
                        </a:spcAft>
                        <a:buNone/>
                      </a:pPr>
                      <a:r>
                        <a:rPr lang="fa-IR" sz="1400" u="none" cap="none" strike="noStrike"/>
                        <a:t>شکل‌دهی و ایجاد آینده‌های مطلوب</a:t>
                      </a:r>
                      <a:endParaRPr b="0" i="0" sz="1400" u="none" cap="none" strike="noStrike">
                        <a:solidFill>
                          <a:srgbClr val="000000"/>
                        </a:solidFill>
                        <a:latin typeface="Arial"/>
                        <a:ea typeface="Arial"/>
                        <a:cs typeface="Arial"/>
                        <a:sym typeface="Arial"/>
                      </a:endParaRPr>
                    </a:p>
                  </a:txBody>
                  <a:tcPr marT="7625" marB="0" marR="7625" marL="7625" anchor="ctr"/>
                </a:tc>
              </a:tr>
              <a:tr h="423650">
                <a:tc>
                  <a:txBody>
                    <a:bodyPr/>
                    <a:lstStyle/>
                    <a:p>
                      <a:pPr indent="0" lvl="0" marL="0" marR="0" rtl="1" algn="ctr">
                        <a:spcBef>
                          <a:spcPts val="0"/>
                        </a:spcBef>
                        <a:spcAft>
                          <a:spcPts val="0"/>
                        </a:spcAft>
                        <a:buNone/>
                      </a:pPr>
                      <a:r>
                        <a:rPr b="1" lang="fa-IR" sz="1400" u="none" cap="none" strike="noStrike">
                          <a:latin typeface="Arial"/>
                          <a:ea typeface="Arial"/>
                          <a:cs typeface="Arial"/>
                          <a:sym typeface="Arial"/>
                        </a:rPr>
                        <a:t>رویکرد</a:t>
                      </a:r>
                      <a:endParaRPr b="1"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1" algn="ctr">
                        <a:spcBef>
                          <a:spcPts val="0"/>
                        </a:spcBef>
                        <a:spcAft>
                          <a:spcPts val="0"/>
                        </a:spcAft>
                        <a:buNone/>
                      </a:pPr>
                      <a:r>
                        <a:rPr lang="fa-IR" sz="1400" u="none" cap="none" strike="noStrike"/>
                        <a:t>پیشگیرانه و واکنشی</a:t>
                      </a:r>
                      <a:endParaRPr b="0"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1" algn="ctr">
                        <a:spcBef>
                          <a:spcPts val="0"/>
                        </a:spcBef>
                        <a:spcAft>
                          <a:spcPts val="0"/>
                        </a:spcAft>
                        <a:buNone/>
                      </a:pPr>
                      <a:r>
                        <a:rPr lang="fa-IR" sz="1400" u="none" cap="none" strike="noStrike"/>
                        <a:t>پویا و انطباق‌پذیر</a:t>
                      </a:r>
                      <a:endParaRPr b="0" i="0" sz="1400" u="none" cap="none" strike="noStrike">
                        <a:solidFill>
                          <a:srgbClr val="000000"/>
                        </a:solidFill>
                        <a:latin typeface="Arial"/>
                        <a:ea typeface="Arial"/>
                        <a:cs typeface="Arial"/>
                        <a:sym typeface="Arial"/>
                      </a:endParaRPr>
                    </a:p>
                  </a:txBody>
                  <a:tcPr marT="7625" marB="0" marR="7625" marL="7625" anchor="ctr"/>
                </a:tc>
              </a:tr>
              <a:tr h="614975">
                <a:tc>
                  <a:txBody>
                    <a:bodyPr/>
                    <a:lstStyle/>
                    <a:p>
                      <a:pPr indent="0" lvl="0" marL="0" marR="0" rtl="1" algn="ctr">
                        <a:spcBef>
                          <a:spcPts val="0"/>
                        </a:spcBef>
                        <a:spcAft>
                          <a:spcPts val="0"/>
                        </a:spcAft>
                        <a:buNone/>
                      </a:pPr>
                      <a:r>
                        <a:rPr b="1" lang="fa-IR" sz="1400" u="none" cap="none" strike="noStrike"/>
                        <a:t>مؤلفه‌های کلیدی</a:t>
                      </a:r>
                      <a:endParaRPr b="1"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1" algn="ctr">
                        <a:spcBef>
                          <a:spcPts val="0"/>
                        </a:spcBef>
                        <a:spcAft>
                          <a:spcPts val="0"/>
                        </a:spcAft>
                        <a:buNone/>
                      </a:pPr>
                      <a:r>
                        <a:rPr lang="fa-IR" sz="1400" u="none" cap="none" strike="noStrike"/>
                        <a:t>تحلیل روندها، پیش‌بینی، استراتژی‌های کوتاه‌مدت</a:t>
                      </a:r>
                      <a:endParaRPr b="0"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1" algn="ctr">
                        <a:spcBef>
                          <a:spcPts val="0"/>
                        </a:spcBef>
                        <a:spcAft>
                          <a:spcPts val="0"/>
                        </a:spcAft>
                        <a:buNone/>
                      </a:pPr>
                      <a:r>
                        <a:rPr lang="fa-IR" sz="1400" u="none" cap="none" strike="noStrike"/>
                        <a:t>قابلیت‌های پویا، تفکر آینده‌نگر، همکاری</a:t>
                      </a:r>
                      <a:endParaRPr b="0" i="0" sz="1400" u="none" cap="none" strike="noStrike">
                        <a:solidFill>
                          <a:srgbClr val="000000"/>
                        </a:solidFill>
                        <a:latin typeface="Arial"/>
                        <a:ea typeface="Arial"/>
                        <a:cs typeface="Arial"/>
                        <a:sym typeface="Arial"/>
                      </a:endParaRPr>
                    </a:p>
                  </a:txBody>
                  <a:tcPr marT="7625" marB="0" marR="7625" marL="7625" anchor="ctr"/>
                </a:tc>
              </a:tr>
              <a:tr h="423650">
                <a:tc>
                  <a:txBody>
                    <a:bodyPr/>
                    <a:lstStyle/>
                    <a:p>
                      <a:pPr indent="0" lvl="0" marL="0" marR="0" rtl="1" algn="ctr">
                        <a:spcBef>
                          <a:spcPts val="0"/>
                        </a:spcBef>
                        <a:spcAft>
                          <a:spcPts val="0"/>
                        </a:spcAft>
                        <a:buNone/>
                      </a:pPr>
                      <a:r>
                        <a:rPr b="1" lang="fa-IR" sz="1400" u="none" cap="none" strike="noStrike"/>
                        <a:t>دوره زمانی</a:t>
                      </a:r>
                      <a:endParaRPr b="1"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1" algn="ctr">
                        <a:spcBef>
                          <a:spcPts val="0"/>
                        </a:spcBef>
                        <a:spcAft>
                          <a:spcPts val="0"/>
                        </a:spcAft>
                        <a:buNone/>
                      </a:pPr>
                      <a:r>
                        <a:rPr lang="fa-IR" sz="1400" u="none" cap="none" strike="noStrike"/>
                        <a:t>کوتاه‌مدت تا میان‌مدت</a:t>
                      </a:r>
                      <a:endParaRPr b="0"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1" algn="ctr">
                        <a:spcBef>
                          <a:spcPts val="0"/>
                        </a:spcBef>
                        <a:spcAft>
                          <a:spcPts val="0"/>
                        </a:spcAft>
                        <a:buNone/>
                      </a:pPr>
                      <a:r>
                        <a:rPr lang="fa-IR" sz="1400" u="none" cap="none" strike="noStrike"/>
                        <a:t>بلندمدت و مداوم</a:t>
                      </a:r>
                      <a:endParaRPr b="0" i="0" sz="1400" u="none" cap="none" strike="noStrike">
                        <a:solidFill>
                          <a:srgbClr val="000000"/>
                        </a:solidFill>
                        <a:latin typeface="Arial"/>
                        <a:ea typeface="Arial"/>
                        <a:cs typeface="Arial"/>
                        <a:sym typeface="Arial"/>
                      </a:endParaRPr>
                    </a:p>
                  </a:txBody>
                  <a:tcPr marT="7625" marB="0" marR="7625" marL="7625" anchor="ctr"/>
                </a:tc>
              </a:tr>
              <a:tr h="765325">
                <a:tc>
                  <a:txBody>
                    <a:bodyPr/>
                    <a:lstStyle/>
                    <a:p>
                      <a:pPr indent="0" lvl="0" marL="0" marR="0" rtl="1" algn="ctr">
                        <a:spcBef>
                          <a:spcPts val="0"/>
                        </a:spcBef>
                        <a:spcAft>
                          <a:spcPts val="0"/>
                        </a:spcAft>
                        <a:buNone/>
                      </a:pPr>
                      <a:r>
                        <a:rPr b="1" lang="fa-IR" sz="1400" u="none" cap="none" strike="noStrike">
                          <a:latin typeface="Arial"/>
                          <a:ea typeface="Arial"/>
                          <a:cs typeface="Arial"/>
                          <a:sym typeface="Arial"/>
                        </a:rPr>
                        <a:t>نمونه‌ها</a:t>
                      </a:r>
                      <a:endParaRPr b="1"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1" algn="ctr">
                        <a:spcBef>
                          <a:spcPts val="0"/>
                        </a:spcBef>
                        <a:spcAft>
                          <a:spcPts val="0"/>
                        </a:spcAft>
                        <a:buNone/>
                      </a:pPr>
                      <a:r>
                        <a:rPr lang="fa-IR" sz="1400" u="none" cap="none" strike="noStrike"/>
                        <a:t>شرکت‌هایی که فناوری‌های آماده‌سازی را پیاده می‌کنند</a:t>
                      </a:r>
                      <a:endParaRPr b="0" i="0" sz="1400" u="none" cap="none" strike="noStrike">
                        <a:solidFill>
                          <a:srgbClr val="000000"/>
                        </a:solidFill>
                        <a:latin typeface="Arial"/>
                        <a:ea typeface="Arial"/>
                        <a:cs typeface="Arial"/>
                        <a:sym typeface="Arial"/>
                      </a:endParaRPr>
                    </a:p>
                  </a:txBody>
                  <a:tcPr marT="7625" marB="0" marR="7625" marL="7625" anchor="ctr"/>
                </a:tc>
                <a:tc>
                  <a:txBody>
                    <a:bodyPr/>
                    <a:lstStyle/>
                    <a:p>
                      <a:pPr indent="0" lvl="0" marL="0" marR="0" rtl="1" algn="ctr">
                        <a:spcBef>
                          <a:spcPts val="0"/>
                        </a:spcBef>
                        <a:spcAft>
                          <a:spcPts val="0"/>
                        </a:spcAft>
                        <a:buNone/>
                      </a:pPr>
                      <a:r>
                        <a:rPr lang="fa-IR" sz="1400" u="none" cap="none" strike="noStrike"/>
                        <a:t>شرکت‌هایی که به‌طور مداوم مدل‌های خود را تغییر می‌دهند</a:t>
                      </a:r>
                      <a:endParaRPr b="0" i="0" sz="1400" u="none" cap="none" strike="noStrike">
                        <a:solidFill>
                          <a:srgbClr val="000000"/>
                        </a:solidFill>
                        <a:latin typeface="Arial"/>
                        <a:ea typeface="Arial"/>
                        <a:cs typeface="Arial"/>
                        <a:sym typeface="Arial"/>
                      </a:endParaRPr>
                    </a:p>
                  </a:txBody>
                  <a:tcPr marT="7625" marB="0" marR="7625" marL="7625" anchor="ct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3"/>
          <p:cNvSpPr txBox="1"/>
          <p:nvPr>
            <p:ph idx="1" type="body"/>
          </p:nvPr>
        </p:nvSpPr>
        <p:spPr>
          <a:xfrm>
            <a:off x="1066800" y="1327867"/>
            <a:ext cx="10058400" cy="3849624"/>
          </a:xfrm>
          <a:prstGeom prst="rect">
            <a:avLst/>
          </a:prstGeom>
          <a:noFill/>
          <a:ln>
            <a:noFill/>
          </a:ln>
        </p:spPr>
        <p:txBody>
          <a:bodyPr anchorCtr="0" anchor="t" bIns="45700" lIns="91425" spcFirstLastPara="1" rIns="91425" wrap="square" tIns="45700">
            <a:normAutofit/>
          </a:bodyPr>
          <a:lstStyle/>
          <a:p>
            <a:pPr indent="0" lvl="0" marL="0" rtl="0" algn="ctr">
              <a:lnSpc>
                <a:spcPct val="120000"/>
              </a:lnSpc>
              <a:spcBef>
                <a:spcPts val="0"/>
              </a:spcBef>
              <a:spcAft>
                <a:spcPts val="0"/>
              </a:spcAft>
              <a:buSzPts val="3200"/>
              <a:buNone/>
            </a:pPr>
            <a:r>
              <a:rPr lang="fa-IR" sz="3200"/>
              <a:t>به امید دیدار مجدد</a:t>
            </a:r>
            <a:endParaRPr/>
          </a:p>
          <a:p>
            <a:pPr indent="0" lvl="0" marL="0" rtl="0" algn="ctr">
              <a:lnSpc>
                <a:spcPct val="120000"/>
              </a:lnSpc>
              <a:spcBef>
                <a:spcPts val="900"/>
              </a:spcBef>
              <a:spcAft>
                <a:spcPts val="0"/>
              </a:spcAft>
              <a:buSzPts val="3200"/>
              <a:buNone/>
            </a:pPr>
            <a:r>
              <a:t/>
            </a:r>
            <a:endParaRPr sz="3200"/>
          </a:p>
          <a:p>
            <a:pPr indent="0" lvl="0" marL="0" rtl="0" algn="ctr">
              <a:lnSpc>
                <a:spcPct val="120000"/>
              </a:lnSpc>
              <a:spcBef>
                <a:spcPts val="900"/>
              </a:spcBef>
              <a:spcAft>
                <a:spcPts val="0"/>
              </a:spcAft>
              <a:buSzPts val="3200"/>
              <a:buNone/>
            </a:pPr>
            <a:r>
              <a:rPr lang="fa-IR" sz="3200"/>
              <a:t>علی منصوری</a:t>
            </a:r>
            <a:endParaRPr/>
          </a:p>
          <a:p>
            <a:pPr indent="0" lvl="0" marL="0" rtl="0" algn="ctr">
              <a:lnSpc>
                <a:spcPct val="120000"/>
              </a:lnSpc>
              <a:spcBef>
                <a:spcPts val="900"/>
              </a:spcBef>
              <a:spcAft>
                <a:spcPts val="0"/>
              </a:spcAft>
              <a:buSzPts val="3200"/>
              <a:buNone/>
            </a:pPr>
            <a:r>
              <a:rPr lang="fa-IR" sz="3200"/>
              <a:t>دانشجوی دکترای آینده پژوهی دانشگاه تهران</a:t>
            </a:r>
            <a:endParaRPr/>
          </a:p>
          <a:p>
            <a:pPr indent="0" lvl="0" marL="0" rtl="0" algn="ctr">
              <a:lnSpc>
                <a:spcPct val="120000"/>
              </a:lnSpc>
              <a:spcBef>
                <a:spcPts val="900"/>
              </a:spcBef>
              <a:spcAft>
                <a:spcPts val="0"/>
              </a:spcAft>
              <a:buSzPts val="3200"/>
              <a:buNone/>
            </a:pPr>
            <a:r>
              <a:rPr lang="fa-IR" sz="3200" u="sng">
                <a:solidFill>
                  <a:schemeClr val="hlink"/>
                </a:solidFill>
                <a:hlinkClick r:id="rId3"/>
              </a:rPr>
              <a:t>https://ali-m07.github.io/resume/</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name="SavonVTI">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avonVTI">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2024-12-29T00:47:04Z</dcterms:created>
  <dc:creator>ali mansouri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